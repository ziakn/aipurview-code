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Welcome attendees. Today's session runs 1 hour: 20 minutes of slides (theory + VerifyWise demo), then a hands-on lab and Q&amp;A. Confirm everyone has access to VerifyWise. Ask: how many have run an eval before?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Keep the pace brisk — the deck is intentionally lean. All deeper discussion moves to the lab or Q&amp;A. Ask attendees to hold questions until after each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Emphasise "probabilistic" — models don't give the same answer twice. This is what makes gut-feel insufficient and why we need a systematic process. Probe the room: "How do you currently know if your LLM is giving good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compliance row lands well with this audience. Article 9 of the EU AI Act requires high-risk AI systems to have a quality management system including performance monitoring — evals are that system. Ask: "Who here has had a model update break something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This is the key bridge slide for this audience. Ask: "Which of these frameworks applies to your organisation?" Most will say EU AI Act. Emphasise: Article 9 says you must have a quality management system — evals are the measurable component of that system. Without stored, auditable eval results, your QMS is a policy document with no supporting evidence. VerifyWise stores every experiment result with timestamps, org isolation, and links to use cases.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Draw the forward-pass on a whiteboard if possible — input tokens → embedding → N transformer layers → logits → softmax → sample. The key point: there is no lookup table of facts, no database check. The model's "knowledge" is entirely in its weights, compressed from the training corpus. This explains why the same model can be confidently wrong and why temperature &gt; 0 produces different answers each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"confidence miscalibration" row is the hardest to explain. Contrast with a search engine: Google returns "no results" when unsure. GPT-4o returns a confident sentence regardless. The model was trained to always complete the text — silence was penalised during RLHF. Point to TruthfulQA as the standard benchmark for measuring hallucination rate. VerifyWise tracks hallucination as a first-class metric in every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Ask the room: "Where do you think bias is hardest to detect?" The deployment context row is the right answer — you don't see it until you slice your eval results by demographic. VerifyWise supports bias audits via the Bias Audit module (csv upload + protected attribute config). Mention that the EU AI Act specifically lists employment decisions, credit scoring, and education as high-risk use cases where bias must be documented and mitigated.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Walk the table row by row. The "unit vs end-to-end" row trips people up — unit evals catch prompt bugs, E2E evals catch integration bugs. You need both. Benchmark scores (MMLU, TruthfulQA) tell you about the model; production slices tell you about *your*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VerifyWise supports correctness, completeness, hallucination, and answerRelevancy out of the box (plus custom scorers). Point out that the "right" set depends on the task — a summarisation system cares more about completeness; a medical Q&amp;A system cares more about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VerifyWise uses LLM-as-judge for all quality metrics. The judge model is configurable — default is GPT-4o. Mention the known biases: position bias (judge prefers the first answer), verbosity bias (longer answers score higher). VerifyWise mitigates by forcing structured rubrics and separate reasoning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BLEU example is the most concrete demonstration of why formulas fail for open-ended tasks. Draw this on a whiteboard if possible. Then transition: "So what does the judge actually do instead?"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Show the actual judge prompt if possible — it's in VerifyWise under Scorers. The chain-of-thought step is key: forcing the judge to reason before scoring significantly reduces verbosity and position bias. Mention cost: each judge call is one LLM API call. For a 50-row dataset with 4 metrics, that's 200 judge calls — VerifyWise tracks this spend via the AI Gateway.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"5" makes it memorable. Step 1 is where most teams fail — vague tasks ("be helpful") produce meaningless scores. Emphasise step 5: if evals don't gate deployment, they're documentation, not quality control. VerifyWise covers steps 3–5 entirely.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This section is a live walkthrough — attendees follow along on their own screens. Each slide maps to one step in the VerifyWise UI. The hands-on lab immediately after repeats the same steps so attendees cement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Point out the provider dropdown — VerifyWise supports OpenAI, Anthropic, Google, Mistral, and any OpenAI-compatible endpoint via the AI Gateway. The API key is stored encrypted in the database and only used at experiment runtime. Attendees who don't have their own API key can use the shared demo key pre-loaded in the workshop instance.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`expected_output` field is optional — if provided, it enables reference-based scoring (exact match, ROUGE) in addition to LLM-as-judge scoring. For open-ended tasks where no single correct answer exists, omit it and rely entirely on the judge. Recommended minimum: 20 rows for a demo, 100+ for a production eval.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Emphasise the judge model selection — you can use a different (stronger) model as judge than the one being evaluated. Common pattern: evaluate GPT-4o-mini but use GPT-4o as judge. The threshold is per-metric: if any metric's average falls below 70%, the experiment is marked FAILED. Custom scorers can also be added here — these are your own rubric prompts for domain-specific criteria.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Walk through the progress indicator in the UI. For a 20-row dataset with 4 metrics, that's 20 model calls + 80 judge calls = 100 LLM API calls total. This is why cost tracking via the AI Gateway matters — VerifyWise logs every call and its token usage. Typical runtime for a 20-row experiment: 2–4 minutes depending on model and judge latency.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per-row breakdown is the most valuable part for improvement — it tells you whether failures cluster around a topic, a question type, or a specific phrasing. That clustering is your next prompt engineering or fine-tuning target. The judge reasoning column shows the actual text the judge produced before giving its score — this is auditable evidence of how the score was determined.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Arena is the answer to "which model should we use?" It removes the gut-feel guessing and gives a reproducible, auditable answer. The judge model scores each contestant's answer on the same rubric — results are stored and can be attached to a compliance evidence file.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This is the "eval pipeline step 5" from Part 1 made concrete. Point out the three environment variables — these go in GitHub Actions secrets or your CI system's secret store. The `run_and_wait` method polls until the experiment completes, then returns a structured result object. Every run is stored in VerifyWise for audit.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Read through the table quickly. The compliance row is the bridge back to the governance platform — eval results aren't just engineering metrics; they're evidence artefacts that satisfy Article 9 and ISO 42001 clause 9.1.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The "this week" task is concrete and completable today — don't let attendees leave without at least starting it. The quarterly review ties evals to the governance lifecycle, not just a one-off engineering activity.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Leave 10 minutes for Q&amp;A. Common questions: "What if I don't have ground-truth labels?" (Use LLM-as-judge with a rubric), "Can I use my own judge model?" (Yes — configure AI Gateway to point to any provider), "How many examples do I need?" (Aim for 100+ per task slice for statistical reliability; 50 is the practical minimum).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F5A47"/>
            </a:gs>
            <a:gs pos="100000">
              <a:srgbClr val="13715B"/>
            </a:gs>
          </a:gsLst>
          <a:lin ang="2700000" scaled="1"/>
        </a:gradFill>
        <a:effectLst/>
      </p:bgPr>
    </p:bg>
    <p:spTree>
      <p:nvGrpSpPr>
        <p:cNvPr id="1" name=""/>
        <p:cNvGrpSpPr/>
        <p:nvPr/>
      </p:nvGrpSpPr>
      <p:grpSpPr/>
      <p:sp>
        <p:nvSpPr>
          <p:cNvPr id="2" name="Rectangle 1"/>
          <p:cNvSpPr/>
          <p:nvPr/>
        </p:nvSpPr>
        <p:spPr>
          <a:xfrm>
            <a:off x="0" y="0"/>
            <a:ext cx="12191695" cy="73152"/>
          </a:xfrm>
          <a:prstGeom prst="rect">
            <a:avLst/>
          </a:prstGeom>
          <a:solidFill>
            <a:srgbClr val="0A4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4495647" y="822960"/>
            <a:ext cx="3200400" cy="602742"/>
          </a:xfrm>
          <a:noFill/>
          <a:prstGeom prst="rect">
            <a:avLst/>
          </a:prstGeom>
        </p:spPr>
      </p:pic>
      <p:sp>
        <p:nvSpPr>
          <p:cNvPr id="4" name="TextBox 3"/>
          <p:cNvSpPr txBox="1"/>
          <p:nvPr/>
        </p:nvSpPr>
        <p:spPr>
          <a:xfrm>
            <a:off x="548640" y="1745742"/>
            <a:ext cx="11094415" cy="1097280"/>
          </a:xfrm>
          <a:prstGeom prst="rect">
            <a:avLst/>
          </a:prstGeom>
          <a:noFill/>
        </p:spPr>
        <p:txBody>
          <a:bodyPr wrap="square" lIns="45720" rIns="45720" tIns="18288" bIns="18288" anchor="t">
            <a:spAutoFit/>
          </a:bodyPr>
          <a:lstStyle/>
          <a:p>
            <a:pPr algn="ctr"/>
            <a:r>
              <a:rPr b="1" sz="6000">
                <a:solidFill>
                  <a:srgbClr val="FFFFFF"/>
                </a:solidFill>
                <a:latin typeface="Inter"/>
              </a:rPr>
              <a:t>VerifyWise</a:t>
            </a:r>
          </a:p>
        </p:txBody>
      </p:sp>
      <p:sp>
        <p:nvSpPr>
          <p:cNvPr id="5" name="TextBox 4"/>
          <p:cNvSpPr txBox="1"/>
          <p:nvPr/>
        </p:nvSpPr>
        <p:spPr>
          <a:xfrm>
            <a:off x="548640" y="2888742"/>
            <a:ext cx="11094415" cy="640080"/>
          </a:xfrm>
          <a:prstGeom prst="rect">
            <a:avLst/>
          </a:prstGeom>
          <a:noFill/>
        </p:spPr>
        <p:txBody>
          <a:bodyPr wrap="square" lIns="45720" rIns="45720" tIns="18288" bIns="18288" anchor="t">
            <a:spAutoFit/>
          </a:bodyPr>
          <a:lstStyle/>
          <a:p>
            <a:pPr algn="ctr"/>
            <a:r>
              <a:rPr sz="2600">
                <a:solidFill>
                  <a:srgbClr val="FFFFFF"/>
                </a:solidFill>
                <a:latin typeface="Inter"/>
              </a:rPr>
              <a:t>LLM Evaluations</a:t>
            </a:r>
          </a:p>
        </p:txBody>
      </p:sp>
      <p:sp>
        <p:nvSpPr>
          <p:cNvPr id="6" name="Rectangle 5"/>
          <p:cNvSpPr/>
          <p:nvPr/>
        </p:nvSpPr>
        <p:spPr>
          <a:xfrm>
            <a:off x="3657600" y="3711702"/>
            <a:ext cx="4876495" cy="228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912870"/>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1-Hour Training Session</a:t>
            </a:r>
          </a:p>
        </p:txBody>
      </p:sp>
      <p:sp>
        <p:nvSpPr>
          <p:cNvPr id="8" name="TextBox 7"/>
          <p:cNvSpPr txBox="1"/>
          <p:nvPr/>
        </p:nvSpPr>
        <p:spPr>
          <a:xfrm>
            <a:off x="548640" y="4296918"/>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For Compliance &amp; AI Governance Professionals</a:t>
            </a:r>
          </a:p>
        </p:txBody>
      </p:sp>
      <p:sp>
        <p:nvSpPr>
          <p:cNvPr id="9" name="TextBox 8"/>
          <p:cNvSpPr txBox="1"/>
          <p:nvPr/>
        </p:nvSpPr>
        <p:spPr>
          <a:xfrm>
            <a:off x="548640" y="4680966"/>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Efe Acar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Session overview</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1645919"/>
          </a:xfrm>
          <a:prstGeom prst="rect">
            <a:avLst/>
          </a:prstGeom>
          <a:noFill/>
        </p:spPr>
        <p:txBody>
          <a:bodyPr wrap="square" lIns="45720" tIns="18288">
            <a:spAutoFit/>
          </a:bodyPr>
          <a:lstStyle/>
          <a:p>
            <a:pPr>
              <a:spcAft>
                <a:spcPts val="400"/>
              </a:spcAft>
            </a:pPr>
            <a:r>
              <a:rPr sz="1800">
                <a:solidFill>
                  <a:srgbClr val="1C2130"/>
                </a:solidFill>
                <a:latin typeface="Inter"/>
              </a:rPr>
              <a:t>•  </a:t>
            </a:r>
            <a:r>
              <a:rPr b="1" sz="1800">
                <a:solidFill>
                  <a:srgbClr val="1C2130"/>
                </a:solidFill>
                <a:latin typeface="Inter"/>
              </a:rPr>
              <a:t>Duration:</a:t>
            </a:r>
            <a:r>
              <a:rPr sz="1800">
                <a:solidFill>
                  <a:srgbClr val="1C2130"/>
                </a:solidFill>
                <a:latin typeface="Inter"/>
              </a:rPr>
              <a:t> 60 minutes total</a:t>
            </a:r>
          </a:p>
          <a:p>
            <a:pPr>
              <a:spcAft>
                <a:spcPts val="400"/>
              </a:spcAft>
            </a:pPr>
            <a:r>
              <a:rPr sz="1800">
                <a:solidFill>
                  <a:srgbClr val="1C2130"/>
                </a:solidFill>
                <a:latin typeface="Inter"/>
              </a:rPr>
              <a:t>•  </a:t>
            </a:r>
            <a:r>
              <a:rPr b="1" sz="1800">
                <a:solidFill>
                  <a:srgbClr val="1C2130"/>
                </a:solidFill>
                <a:latin typeface="Inter"/>
              </a:rPr>
              <a:t>Presentation:</a:t>
            </a:r>
            <a:r>
              <a:rPr sz="1800">
                <a:solidFill>
                  <a:srgbClr val="1C2130"/>
                </a:solidFill>
                <a:latin typeface="Inter"/>
              </a:rPr>
              <a:t> 20 minutes (this deck)</a:t>
            </a:r>
          </a:p>
          <a:p>
            <a:pPr>
              <a:spcAft>
                <a:spcPts val="400"/>
              </a:spcAft>
            </a:pPr>
            <a:r>
              <a:rPr sz="1800">
                <a:solidFill>
                  <a:srgbClr val="1C2130"/>
                </a:solidFill>
                <a:latin typeface="Inter"/>
              </a:rPr>
              <a:t>•  </a:t>
            </a:r>
            <a:r>
              <a:rPr b="1" sz="1800">
                <a:solidFill>
                  <a:srgbClr val="1C2130"/>
                </a:solidFill>
                <a:latin typeface="Inter"/>
              </a:rPr>
              <a:t>Hands-on lab:</a:t>
            </a:r>
            <a:r>
              <a:rPr sz="1800">
                <a:solidFill>
                  <a:srgbClr val="1C2130"/>
                </a:solidFill>
                <a:latin typeface="Inter"/>
              </a:rPr>
              <a:t> 30 minutes (live in VerifyWise)</a:t>
            </a:r>
          </a:p>
          <a:p>
            <a:pPr>
              <a:spcAft>
                <a:spcPts val="400"/>
              </a:spcAft>
            </a:pPr>
            <a:r>
              <a:rPr sz="1800">
                <a:solidFill>
                  <a:srgbClr val="1C2130"/>
                </a:solidFill>
                <a:latin typeface="Inter"/>
              </a:rPr>
              <a:t>•  </a:t>
            </a:r>
            <a:r>
              <a:rPr b="1" sz="1800">
                <a:solidFill>
                  <a:srgbClr val="1C2130"/>
                </a:solidFill>
                <a:latin typeface="Inter"/>
              </a:rPr>
              <a:t>Q&amp;A:</a:t>
            </a:r>
            <a:r>
              <a:rPr sz="1800">
                <a:solidFill>
                  <a:srgbClr val="1C2130"/>
                </a:solidFill>
                <a:latin typeface="Inter"/>
              </a:rPr>
              <a:t> 10 minutes</a:t>
            </a:r>
          </a:p>
        </p:txBody>
      </p:sp>
      <p:sp>
        <p:nvSpPr>
          <p:cNvPr id="7" name="TextBox 6"/>
          <p:cNvSpPr txBox="1"/>
          <p:nvPr/>
        </p:nvSpPr>
        <p:spPr>
          <a:xfrm>
            <a:off x="548640" y="2724911"/>
            <a:ext cx="11094415" cy="1719072"/>
          </a:xfrm>
          <a:prstGeom prst="rect">
            <a:avLst/>
          </a:prstGeom>
          <a:noFill/>
        </p:spPr>
        <p:txBody>
          <a:bodyPr wrap="square" lIns="45720" rIns="45720" tIns="18288" bIns="18288" anchor="t">
            <a:spAutoFit/>
          </a:bodyPr>
          <a:lstStyle/>
          <a:p>
            <a:pPr algn="l"/>
            <a:r>
              <a:rPr b="1" sz="1800">
                <a:solidFill>
                  <a:srgbClr val="1C2130"/>
                </a:solidFill>
                <a:latin typeface="Inter"/>
              </a:rPr>
              <a:t>What you'll leave with:</a:t>
            </a:r>
            <a:r>
              <a:rPr sz="1800">
                <a:solidFill>
                  <a:srgbClr val="1C2130"/>
                </a:solidFill>
                <a:latin typeface="Inter"/>
              </a:rPr>
              <a:t>
- A clear mental model of LLM evaluations
- Understanding of every VerifyWise eval screen
- A completed experiment you ran yourself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715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A4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0180015" y="274320"/>
            <a:ext cx="1645920" cy="309981"/>
          </a:xfrm>
          <a:noFill/>
          <a:prstGeom prst="rect">
            <a:avLst/>
          </a:prstGeom>
        </p:spPr>
      </p:pic>
      <p:sp>
        <p:nvSpPr>
          <p:cNvPr id="4" name="TextBox 3"/>
          <p:cNvSpPr txBox="1"/>
          <p:nvPr/>
        </p:nvSpPr>
        <p:spPr>
          <a:xfrm>
            <a:off x="548640" y="2103120"/>
            <a:ext cx="11094415" cy="1097280"/>
          </a:xfrm>
          <a:prstGeom prst="rect">
            <a:avLst/>
          </a:prstGeom>
          <a:noFill/>
        </p:spPr>
        <p:txBody>
          <a:bodyPr wrap="square" lIns="45720" rIns="45720" tIns="18288" bIns="18288" anchor="t">
            <a:spAutoFit/>
          </a:bodyPr>
          <a:lstStyle/>
          <a:p>
            <a:pPr algn="ctr"/>
            <a:r>
              <a:rPr b="1" sz="6800">
                <a:solidFill>
                  <a:srgbClr val="FFFFFF"/>
                </a:solidFill>
                <a:latin typeface="Inter"/>
              </a:rPr>
              <a:t>Part 1</a:t>
            </a:r>
          </a:p>
        </p:txBody>
      </p:sp>
      <p:sp>
        <p:nvSpPr>
          <p:cNvPr id="5" name="TextBox 4"/>
          <p:cNvSpPr txBox="1"/>
          <p:nvPr/>
        </p:nvSpPr>
        <p:spPr>
          <a:xfrm>
            <a:off x="548640" y="3337560"/>
            <a:ext cx="11094415" cy="548640"/>
          </a:xfrm>
          <a:prstGeom prst="rect">
            <a:avLst/>
          </a:prstGeom>
          <a:noFill/>
        </p:spPr>
        <p:txBody>
          <a:bodyPr wrap="square" lIns="45720" rIns="45720" tIns="18288" bIns="18288" anchor="t">
            <a:spAutoFit/>
          </a:bodyPr>
          <a:lstStyle/>
          <a:p>
            <a:pPr algn="ctr"/>
            <a:r>
              <a:rPr sz="2600">
                <a:solidFill>
                  <a:srgbClr val="D1F0E8"/>
                </a:solidFill>
                <a:latin typeface="Inter"/>
              </a:rPr>
              <a:t>LLM Evaluation — Theory &amp; Concepts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Learning objectives — Part 1</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sz="1800">
                <a:solidFill>
                  <a:srgbClr val="1C2130"/>
                </a:solidFill>
                <a:latin typeface="Inter"/>
              </a:rPr>
              <a:t>By the end of this section you will be able to:</a:t>
            </a:r>
          </a:p>
        </p:txBody>
      </p:sp>
      <p:sp>
        <p:nvSpPr>
          <p:cNvPr id="7" name="TextBox 6"/>
          <p:cNvSpPr txBox="1"/>
          <p:nvPr/>
        </p:nvSpPr>
        <p:spPr>
          <a:xfrm>
            <a:off x="548640" y="1453896"/>
            <a:ext cx="11094415" cy="2029968"/>
          </a:xfrm>
          <a:prstGeom prst="rect">
            <a:avLst/>
          </a:prstGeom>
          <a:noFill/>
        </p:spPr>
        <p:txBody>
          <a:bodyPr wrap="square" lIns="45720" tIns="18288">
            <a:spAutoFit/>
          </a:bodyPr>
          <a:lstStyle/>
          <a:p>
            <a:pPr>
              <a:spcAft>
                <a:spcPts val="400"/>
              </a:spcAft>
            </a:pPr>
            <a:r>
              <a:rPr sz="1800">
                <a:solidFill>
                  <a:srgbClr val="1C2130"/>
                </a:solidFill>
                <a:latin typeface="Inter"/>
              </a:rPr>
              <a:t>•  </a:t>
            </a:r>
            <a:r>
              <a:rPr b="1" sz="1800">
                <a:solidFill>
                  <a:srgbClr val="1C2130"/>
                </a:solidFill>
                <a:latin typeface="Inter"/>
              </a:rPr>
              <a:t>Explain</a:t>
            </a:r>
            <a:r>
              <a:rPr sz="1800">
                <a:solidFill>
                  <a:srgbClr val="1C2130"/>
                </a:solidFill>
                <a:latin typeface="Inter"/>
              </a:rPr>
              <a:t> why probabilistic model outputs require structured evaluation</a:t>
            </a:r>
          </a:p>
          <a:p>
            <a:pPr>
              <a:spcAft>
                <a:spcPts val="400"/>
              </a:spcAft>
            </a:pPr>
            <a:r>
              <a:rPr sz="1800">
                <a:solidFill>
                  <a:srgbClr val="1C2130"/>
                </a:solidFill>
                <a:latin typeface="Inter"/>
              </a:rPr>
              <a:t>•  </a:t>
            </a:r>
            <a:r>
              <a:rPr b="1" sz="1800">
                <a:solidFill>
                  <a:srgbClr val="1C2130"/>
                </a:solidFill>
                <a:latin typeface="Inter"/>
              </a:rPr>
              <a:t>Connect</a:t>
            </a:r>
            <a:r>
              <a:rPr sz="1800">
                <a:solidFill>
                  <a:srgbClr val="1C2130"/>
                </a:solidFill>
                <a:latin typeface="Inter"/>
              </a:rPr>
              <a:t> LLM evaluations to EU AI Act, ISO 42001, and NIST AI RMF requirements</a:t>
            </a:r>
          </a:p>
          <a:p>
            <a:pPr>
              <a:spcAft>
                <a:spcPts val="400"/>
              </a:spcAft>
            </a:pPr>
            <a:r>
              <a:rPr sz="1800">
                <a:solidFill>
                  <a:srgbClr val="1C2130"/>
                </a:solidFill>
                <a:latin typeface="Inter"/>
              </a:rPr>
              <a:t>•  </a:t>
            </a:r>
            <a:r>
              <a:rPr b="1" sz="1800">
                <a:solidFill>
                  <a:srgbClr val="1C2130"/>
                </a:solidFill>
                <a:latin typeface="Inter"/>
              </a:rPr>
              <a:t>Contrast</a:t>
            </a:r>
            <a:r>
              <a:rPr sz="1800">
                <a:solidFill>
                  <a:srgbClr val="1C2130"/>
                </a:solidFill>
                <a:latin typeface="Inter"/>
              </a:rPr>
              <a:t> LLM-as-judge scoring against formula-based metrics (BLEU, ROUGE, fairlearn)</a:t>
            </a:r>
          </a:p>
          <a:p>
            <a:pPr>
              <a:spcAft>
                <a:spcPts val="400"/>
              </a:spcAft>
            </a:pPr>
            <a:r>
              <a:rPr sz="1800">
                <a:solidFill>
                  <a:srgbClr val="1C2130"/>
                </a:solidFill>
                <a:latin typeface="Inter"/>
              </a:rPr>
              <a:t>•  </a:t>
            </a:r>
            <a:r>
              <a:rPr b="1" sz="1800">
                <a:solidFill>
                  <a:srgbClr val="1C2130"/>
                </a:solidFill>
                <a:latin typeface="Inter"/>
              </a:rPr>
              <a:t>Select</a:t>
            </a:r>
            <a:r>
              <a:rPr sz="1800">
                <a:solidFill>
                  <a:srgbClr val="1C2130"/>
                </a:solidFill>
                <a:latin typeface="Inter"/>
              </a:rPr>
              <a:t> the right metric for a given task type (Q&amp;A, summarisation, code generation)</a:t>
            </a:r>
          </a:p>
          <a:p>
            <a:pPr>
              <a:spcAft>
                <a:spcPts val="400"/>
              </a:spcAft>
            </a:pPr>
            <a:r>
              <a:rPr sz="1800">
                <a:solidFill>
                  <a:srgbClr val="1C2130"/>
                </a:solidFill>
                <a:latin typeface="Inter"/>
              </a:rPr>
              <a:t>•  </a:t>
            </a:r>
            <a:r>
              <a:rPr b="1" sz="1800">
                <a:solidFill>
                  <a:srgbClr val="1C2130"/>
                </a:solidFill>
                <a:latin typeface="Inter"/>
              </a:rPr>
              <a:t>Describe</a:t>
            </a:r>
            <a:r>
              <a:rPr sz="1800">
                <a:solidFill>
                  <a:srgbClr val="1C2130"/>
                </a:solidFill>
                <a:latin typeface="Inter"/>
              </a:rPr>
              <a:t> the five-step eval pipeline used in production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Why LLMs need structured evaluation</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sz="1800">
                <a:solidFill>
                  <a:srgbClr val="1C2130"/>
                </a:solidFill>
                <a:latin typeface="Inter"/>
              </a:rPr>
              <a:t>LLMs are probabilistic — the same prompt can return different outputs on each call.</a:t>
            </a:r>
          </a:p>
        </p:txBody>
      </p:sp>
      <p:graphicFrame>
        <p:nvGraphicFramePr>
          <p:cNvPr id="7" name="Table 6"/>
          <p:cNvGraphicFramePr>
            <a:graphicFrameLocks noGrp="1"/>
          </p:cNvGraphicFramePr>
          <p:nvPr/>
        </p:nvGraphicFramePr>
        <p:xfrm>
          <a:off x="548640" y="1453896"/>
          <a:ext cx="11094415" cy="1956815"/>
        </p:xfrm>
        <a:graphic>
          <a:graphicData uri="http://schemas.openxmlformats.org/drawingml/2006/table">
            <a:tbl>
              <a:tblPr firstRow="1" bandRow="1">
                <a:tableStyleId>{5C22544A-7EE6-4342-B048-85BDC9FD1C3A}</a:tableStyleId>
              </a:tblPr>
              <a:tblGrid>
                <a:gridCol w="3550212"/>
                <a:gridCol w="7544203"/>
              </a:tblGrid>
              <a:tr h="391363">
                <a:tc>
                  <a:txBody>
                    <a:bodyPr/>
                    <a:lstStyle/>
                    <a:p>
                      <a:r>
                        <a:rPr b="1" sz="1600">
                          <a:solidFill>
                            <a:srgbClr val="FFFFFF"/>
                          </a:solidFill>
                          <a:latin typeface="Inter"/>
                        </a:rPr>
                        <a:t>Risk if you skip evals</a:t>
                      </a:r>
                    </a:p>
                  </a:txBody>
                  <a:tcPr marL="91440" marR="91440" marT="54864" marB="54864" anchor="ctr">
                    <a:solidFill>
                      <a:srgbClr val="13715B"/>
                    </a:solidFill>
                  </a:tcPr>
                </a:tc>
                <a:tc>
                  <a:txBody>
                    <a:bodyPr/>
                    <a:lstStyle/>
                    <a:p>
                      <a:r>
                        <a:rPr b="1" sz="1600">
                          <a:solidFill>
                            <a:srgbClr val="FFFFFF"/>
                          </a:solidFill>
                          <a:latin typeface="Inter"/>
                        </a:rPr>
                        <a:t>Example</a:t>
                      </a:r>
                    </a:p>
                  </a:txBody>
                  <a:tcPr marL="91440" marR="91440" marT="54864" marB="54864" anchor="ctr">
                    <a:solidFill>
                      <a:srgbClr val="13715B"/>
                    </a:solidFill>
                  </a:tcPr>
                </a:tc>
              </a:tr>
              <a:tr h="391363">
                <a:tc>
                  <a:txBody>
                    <a:bodyPr/>
                    <a:lstStyle/>
                    <a:p>
                      <a:r>
                        <a:rPr sz="1600">
                          <a:solidFill>
                            <a:srgbClr val="1C2130"/>
                          </a:solidFill>
                          <a:latin typeface="Inter"/>
                        </a:rPr>
                        <a:t>Silent regressions</a:t>
                      </a:r>
                    </a:p>
                  </a:txBody>
                  <a:tcPr marL="91440" marR="91440" marT="54864" marB="54864" anchor="ctr">
                    <a:solidFill>
                      <a:srgbClr val="FFFFFF"/>
                    </a:solidFill>
                  </a:tcPr>
                </a:tc>
                <a:tc>
                  <a:txBody>
                    <a:bodyPr/>
                    <a:lstStyle/>
                    <a:p>
                      <a:r>
                        <a:rPr sz="1600">
                          <a:solidFill>
                            <a:srgbClr val="1C2130"/>
                          </a:solidFill>
                          <a:latin typeface="Inter"/>
                        </a:rPr>
                        <a:t>A prompt tweak fixes one case, breaks 20 others</a:t>
                      </a:r>
                    </a:p>
                  </a:txBody>
                  <a:tcPr marL="91440" marR="91440" marT="54864" marB="54864" anchor="ctr">
                    <a:solidFill>
                      <a:srgbClr val="FFFFFF"/>
                    </a:solidFill>
                  </a:tcPr>
                </a:tc>
              </a:tr>
              <a:tr h="391363">
                <a:tc>
                  <a:txBody>
                    <a:bodyPr/>
                    <a:lstStyle/>
                    <a:p>
                      <a:r>
                        <a:rPr sz="1600">
                          <a:solidFill>
                            <a:srgbClr val="1C2130"/>
                          </a:solidFill>
                          <a:latin typeface="Inter"/>
                        </a:rPr>
                        <a:t>Model selection bias</a:t>
                      </a:r>
                    </a:p>
                  </a:txBody>
                  <a:tcPr marL="91440" marR="91440" marT="54864" marB="54864" anchor="ctr">
                    <a:solidFill>
                      <a:srgbClr val="FFFFFF"/>
                    </a:solidFill>
                  </a:tcPr>
                </a:tc>
                <a:tc>
                  <a:txBody>
                    <a:bodyPr/>
                    <a:lstStyle/>
                    <a:p>
                      <a:r>
                        <a:rPr sz="1600">
                          <a:solidFill>
                            <a:srgbClr val="1C2130"/>
                          </a:solidFill>
                          <a:latin typeface="Inter"/>
                        </a:rPr>
                        <a:t>Chose GPT-4o over Gemini based on one demo, not data</a:t>
                      </a:r>
                    </a:p>
                  </a:txBody>
                  <a:tcPr marL="91440" marR="91440" marT="54864" marB="54864" anchor="ctr">
                    <a:solidFill>
                      <a:srgbClr val="FFFFFF"/>
                    </a:solidFill>
                  </a:tcPr>
                </a:tc>
              </a:tr>
              <a:tr h="391363">
                <a:tc>
                  <a:txBody>
                    <a:bodyPr/>
                    <a:lstStyle/>
                    <a:p>
                      <a:r>
                        <a:rPr sz="1600">
                          <a:solidFill>
                            <a:srgbClr val="1C2130"/>
                          </a:solidFill>
                          <a:latin typeface="Inter"/>
                        </a:rPr>
                        <a:t>Compliance gaps</a:t>
                      </a:r>
                    </a:p>
                  </a:txBody>
                  <a:tcPr marL="91440" marR="91440" marT="54864" marB="54864" anchor="ctr">
                    <a:solidFill>
                      <a:srgbClr val="FFFFFF"/>
                    </a:solidFill>
                  </a:tcPr>
                </a:tc>
                <a:tc>
                  <a:txBody>
                    <a:bodyPr/>
                    <a:lstStyle/>
                    <a:p>
                      <a:r>
                        <a:rPr sz="1600">
                          <a:solidFill>
                            <a:srgbClr val="1C2130"/>
                          </a:solidFill>
                          <a:latin typeface="Inter"/>
                        </a:rPr>
                        <a:t>EU AI Act Art. 9 requires documented performance evidence</a:t>
                      </a:r>
                    </a:p>
                  </a:txBody>
                  <a:tcPr marL="91440" marR="91440" marT="54864" marB="54864" anchor="ctr">
                    <a:solidFill>
                      <a:srgbClr val="FFFFFF"/>
                    </a:solidFill>
                  </a:tcPr>
                </a:tc>
              </a:tr>
              <a:tr h="391363">
                <a:tc>
                  <a:txBody>
                    <a:bodyPr/>
                    <a:lstStyle/>
                    <a:p>
                      <a:r>
                        <a:rPr sz="1600">
                          <a:solidFill>
                            <a:srgbClr val="1C2130"/>
                          </a:solidFill>
                          <a:latin typeface="Inter"/>
                        </a:rPr>
                        <a:t>Production drift</a:t>
                      </a:r>
                    </a:p>
                  </a:txBody>
                  <a:tcPr marL="91440" marR="91440" marT="54864" marB="54864" anchor="ctr">
                    <a:solidFill>
                      <a:srgbClr val="FFFFFF"/>
                    </a:solidFill>
                  </a:tcPr>
                </a:tc>
                <a:tc>
                  <a:txBody>
                    <a:bodyPr/>
                    <a:lstStyle/>
                    <a:p>
                      <a:r>
                        <a:rPr sz="1600">
                          <a:solidFill>
                            <a:srgbClr val="1C2130"/>
                          </a:solidFill>
                          <a:latin typeface="Inter"/>
                        </a:rPr>
                        <a:t>Model behaviour shifts as provider updates base weights</a:t>
                      </a:r>
                    </a:p>
                  </a:txBody>
                  <a:tcPr marL="91440" marR="91440" marT="54864" marB="54864" anchor="ctr">
                    <a:solidFill>
                      <a:srgbClr val="FFFFFF"/>
                    </a:solidFill>
                  </a:tcPr>
                </a:tc>
              </a:tr>
            </a:tbl>
          </a:graphicData>
        </a:graphic>
      </p:graphicFrame>
      <p:sp>
        <p:nvSpPr>
          <p:cNvPr id="8" name="Rounded Rectangle 7"/>
          <p:cNvSpPr/>
          <p:nvPr/>
        </p:nvSpPr>
        <p:spPr>
          <a:xfrm>
            <a:off x="548640" y="3502151"/>
            <a:ext cx="11094415" cy="585216"/>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611879"/>
            <a:ext cx="10637215" cy="365760"/>
          </a:xfrm>
          <a:prstGeom prst="rect">
            <a:avLst/>
          </a:prstGeom>
          <a:noFill/>
        </p:spPr>
        <p:txBody>
          <a:bodyPr wrap="square" lIns="45720" rIns="45720" tIns="18288" bIns="18288" anchor="t">
            <a:spAutoFit/>
          </a:bodyPr>
          <a:lstStyle/>
          <a:p>
            <a:pPr algn="l"/>
            <a:r>
              <a:rPr sz="1600">
                <a:solidFill>
                  <a:srgbClr val="1C2130"/>
                </a:solidFill>
                <a:latin typeface="Inter"/>
              </a:rPr>
              <a:t>Without evals, you are shipping guesses, not governed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Evals are the engine of AI governance</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Governance frameworks don't just recommend evals — they require documented evidence of them.</a:t>
            </a:r>
          </a:p>
        </p:txBody>
      </p:sp>
      <p:graphicFrame>
        <p:nvGraphicFramePr>
          <p:cNvPr id="7" name="Table 6"/>
          <p:cNvGraphicFramePr>
            <a:graphicFrameLocks noGrp="1"/>
          </p:cNvGraphicFramePr>
          <p:nvPr/>
        </p:nvGraphicFramePr>
        <p:xfrm>
          <a:off x="548640" y="1783079"/>
          <a:ext cx="11094414" cy="1956815"/>
        </p:xfrm>
        <a:graphic>
          <a:graphicData uri="http://schemas.openxmlformats.org/drawingml/2006/table">
            <a:tbl>
              <a:tblPr firstRow="1" bandRow="1">
                <a:tableStyleId>{5C22544A-7EE6-4342-B048-85BDC9FD1C3A}</a:tableStyleId>
              </a:tblPr>
              <a:tblGrid>
                <a:gridCol w="3550212"/>
                <a:gridCol w="3772101"/>
                <a:gridCol w="3772101"/>
              </a:tblGrid>
              <a:tr h="391363">
                <a:tc>
                  <a:txBody>
                    <a:bodyPr/>
                    <a:lstStyle/>
                    <a:p>
                      <a:r>
                        <a:rPr b="1" sz="1600">
                          <a:solidFill>
                            <a:srgbClr val="FFFFFF"/>
                          </a:solidFill>
                          <a:latin typeface="Inter"/>
                        </a:rPr>
                        <a:t>Framework</a:t>
                      </a:r>
                    </a:p>
                  </a:txBody>
                  <a:tcPr marL="91440" marR="91440" marT="54864" marB="54864" anchor="ctr">
                    <a:solidFill>
                      <a:srgbClr val="13715B"/>
                    </a:solidFill>
                  </a:tcPr>
                </a:tc>
                <a:tc>
                  <a:txBody>
                    <a:bodyPr/>
                    <a:lstStyle/>
                    <a:p>
                      <a:r>
                        <a:rPr b="1" sz="1600">
                          <a:solidFill>
                            <a:srgbClr val="FFFFFF"/>
                          </a:solidFill>
                          <a:latin typeface="Inter"/>
                        </a:rPr>
                        <a:t>What it requires</a:t>
                      </a:r>
                    </a:p>
                  </a:txBody>
                  <a:tcPr marL="91440" marR="91440" marT="54864" marB="54864" anchor="ctr">
                    <a:solidFill>
                      <a:srgbClr val="13715B"/>
                    </a:solidFill>
                  </a:tcPr>
                </a:tc>
                <a:tc>
                  <a:txBody>
                    <a:bodyPr/>
                    <a:lstStyle/>
                    <a:p>
                      <a:r>
                        <a:rPr b="1" sz="1600">
                          <a:solidFill>
                            <a:srgbClr val="FFFFFF"/>
                          </a:solidFill>
                          <a:latin typeface="Inter"/>
                        </a:rPr>
                        <a:t>How evals satisfy it</a:t>
                      </a:r>
                    </a:p>
                  </a:txBody>
                  <a:tcPr marL="91440" marR="91440" marT="54864" marB="54864" anchor="ctr">
                    <a:solidFill>
                      <a:srgbClr val="13715B"/>
                    </a:solidFill>
                  </a:tcPr>
                </a:tc>
              </a:tr>
              <a:tr h="391363">
                <a:tc>
                  <a:txBody>
                    <a:bodyPr/>
                    <a:lstStyle/>
                    <a:p>
                      <a:r>
                        <a:rPr sz="1600">
                          <a:solidFill>
                            <a:srgbClr val="1C2130"/>
                          </a:solidFill>
                          <a:latin typeface="Inter"/>
                        </a:rPr>
                        <a:t>EU AI Act — Art. 9</a:t>
                      </a:r>
                    </a:p>
                  </a:txBody>
                  <a:tcPr marL="91440" marR="91440" marT="54864" marB="54864" anchor="ctr">
                    <a:solidFill>
                      <a:srgbClr val="FFFFFF"/>
                    </a:solidFill>
                  </a:tcPr>
                </a:tc>
                <a:tc>
                  <a:txBody>
                    <a:bodyPr/>
                    <a:lstStyle/>
                    <a:p>
                      <a:r>
                        <a:rPr sz="1600">
                          <a:solidFill>
                            <a:srgbClr val="1C2130"/>
                          </a:solidFill>
                          <a:latin typeface="Inter"/>
                        </a:rPr>
                        <a:t>Quality management system with testing &amp; monitoring</a:t>
                      </a:r>
                    </a:p>
                  </a:txBody>
                  <a:tcPr marL="91440" marR="91440" marT="54864" marB="54864" anchor="ctr">
                    <a:solidFill>
                      <a:srgbClr val="FFFFFF"/>
                    </a:solidFill>
                  </a:tcPr>
                </a:tc>
                <a:tc>
                  <a:txBody>
                    <a:bodyPr/>
                    <a:lstStyle/>
                    <a:p>
                      <a:r>
                        <a:rPr sz="1600">
                          <a:solidFill>
                            <a:srgbClr val="1C2130"/>
                          </a:solidFill>
                          <a:latin typeface="Inter"/>
                        </a:rPr>
                        <a:t>Stored eval results are the documented testing record</a:t>
                      </a:r>
                    </a:p>
                  </a:txBody>
                  <a:tcPr marL="91440" marR="91440" marT="54864" marB="54864" anchor="ctr">
                    <a:solidFill>
                      <a:srgbClr val="FFFFFF"/>
                    </a:solidFill>
                  </a:tcPr>
                </a:tc>
              </a:tr>
              <a:tr h="391363">
                <a:tc>
                  <a:txBody>
                    <a:bodyPr/>
                    <a:lstStyle/>
                    <a:p>
                      <a:r>
                        <a:rPr sz="1600">
                          <a:solidFill>
                            <a:srgbClr val="1C2130"/>
                          </a:solidFill>
                          <a:latin typeface="Inter"/>
                        </a:rPr>
                        <a:t>EU AI Act — Art. 72</a:t>
                      </a:r>
                    </a:p>
                  </a:txBody>
                  <a:tcPr marL="91440" marR="91440" marT="54864" marB="54864" anchor="ctr">
                    <a:solidFill>
                      <a:srgbClr val="FFFFFF"/>
                    </a:solidFill>
                  </a:tcPr>
                </a:tc>
                <a:tc>
                  <a:txBody>
                    <a:bodyPr/>
                    <a:lstStyle/>
                    <a:p>
                      <a:r>
                        <a:rPr sz="1600">
                          <a:solidFill>
                            <a:srgbClr val="1C2130"/>
                          </a:solidFill>
                          <a:latin typeface="Inter"/>
                        </a:rPr>
                        <a:t>Post-market monitoring of high-risk AI</a:t>
                      </a:r>
                    </a:p>
                  </a:txBody>
                  <a:tcPr marL="91440" marR="91440" marT="54864" marB="54864" anchor="ctr">
                    <a:solidFill>
                      <a:srgbClr val="FFFFFF"/>
                    </a:solidFill>
                  </a:tcPr>
                </a:tc>
                <a:tc>
                  <a:txBody>
                    <a:bodyPr/>
                    <a:lstStyle/>
                    <a:p>
                      <a:r>
                        <a:rPr sz="1600">
                          <a:solidFill>
                            <a:srgbClr val="1C2130"/>
                          </a:solidFill>
                          <a:latin typeface="Inter"/>
                        </a:rPr>
                        <a:t>Scheduled evals detect model drift after deployment</a:t>
                      </a:r>
                    </a:p>
                  </a:txBody>
                  <a:tcPr marL="91440" marR="91440" marT="54864" marB="54864" anchor="ctr">
                    <a:solidFill>
                      <a:srgbClr val="FFFFFF"/>
                    </a:solidFill>
                  </a:tcPr>
                </a:tc>
              </a:tr>
              <a:tr h="391363">
                <a:tc>
                  <a:txBody>
                    <a:bodyPr/>
                    <a:lstStyle/>
                    <a:p>
                      <a:r>
                        <a:rPr sz="1600">
                          <a:solidFill>
                            <a:srgbClr val="1C2130"/>
                          </a:solidFill>
                          <a:latin typeface="Inter"/>
                        </a:rPr>
                        <a:t>ISO 42001 — Cl. 9.1</a:t>
                      </a:r>
                    </a:p>
                  </a:txBody>
                  <a:tcPr marL="91440" marR="91440" marT="54864" marB="54864" anchor="ctr">
                    <a:solidFill>
                      <a:srgbClr val="FFFFFF"/>
                    </a:solidFill>
                  </a:tcPr>
                </a:tc>
                <a:tc>
                  <a:txBody>
                    <a:bodyPr/>
                    <a:lstStyle/>
                    <a:p>
                      <a:r>
                        <a:rPr sz="1600">
                          <a:solidFill>
                            <a:srgbClr val="1C2130"/>
                          </a:solidFill>
                          <a:latin typeface="Inter"/>
                        </a:rPr>
                        <a:t>Performance evaluation of the AI management system</a:t>
                      </a:r>
                    </a:p>
                  </a:txBody>
                  <a:tcPr marL="91440" marR="91440" marT="54864" marB="54864" anchor="ctr">
                    <a:solidFill>
                      <a:srgbClr val="FFFFFF"/>
                    </a:solidFill>
                  </a:tcPr>
                </a:tc>
                <a:tc>
                  <a:txBody>
                    <a:bodyPr/>
                    <a:lstStyle/>
                    <a:p>
                      <a:r>
                        <a:rPr sz="1600">
                          <a:solidFill>
                            <a:srgbClr val="1C2130"/>
                          </a:solidFill>
                          <a:latin typeface="Inter"/>
                        </a:rPr>
                        <a:t>Eval metrics feed the periodic management review</a:t>
                      </a:r>
                    </a:p>
                  </a:txBody>
                  <a:tcPr marL="91440" marR="91440" marT="54864" marB="54864" anchor="ctr">
                    <a:solidFill>
                      <a:srgbClr val="FFFFFF"/>
                    </a:solidFill>
                  </a:tcPr>
                </a:tc>
              </a:tr>
              <a:tr h="391363">
                <a:tc>
                  <a:txBody>
                    <a:bodyPr/>
                    <a:lstStyle/>
                    <a:p>
                      <a:r>
                        <a:rPr sz="1600">
                          <a:solidFill>
                            <a:srgbClr val="1C2130"/>
                          </a:solidFill>
                          <a:latin typeface="Inter"/>
                        </a:rPr>
                        <a:t>NIST AI RMF — MEASURE</a:t>
                      </a:r>
                    </a:p>
                  </a:txBody>
                  <a:tcPr marL="91440" marR="91440" marT="54864" marB="54864" anchor="ctr">
                    <a:solidFill>
                      <a:srgbClr val="FFFFFF"/>
                    </a:solidFill>
                  </a:tcPr>
                </a:tc>
                <a:tc>
                  <a:txBody>
                    <a:bodyPr/>
                    <a:lstStyle/>
                    <a:p>
                      <a:r>
                        <a:rPr sz="1600">
                          <a:solidFill>
                            <a:srgbClr val="1C2130"/>
                          </a:solidFill>
                          <a:latin typeface="Inter"/>
                        </a:rPr>
                        <a:t>Quantify and monitor AI risks</a:t>
                      </a:r>
                    </a:p>
                  </a:txBody>
                  <a:tcPr marL="91440" marR="91440" marT="54864" marB="54864" anchor="ctr">
                    <a:solidFill>
                      <a:srgbClr val="FFFFFF"/>
                    </a:solidFill>
                  </a:tcPr>
                </a:tc>
                <a:tc>
                  <a:txBody>
                    <a:bodyPr/>
                    <a:lstStyle/>
                    <a:p>
                      <a:r>
                        <a:rPr sz="1600">
                          <a:solidFill>
                            <a:srgbClr val="1C2130"/>
                          </a:solidFill>
                          <a:latin typeface="Inter"/>
                        </a:rPr>
                        <a:t>Evals operationalise the MEASURE function</a:t>
                      </a:r>
                    </a:p>
                  </a:txBody>
                  <a:tcPr marL="91440" marR="91440" marT="54864" marB="54864" anchor="ctr">
                    <a:solidFill>
                      <a:srgbClr val="FFFFFF"/>
                    </a:solidFill>
                  </a:tcPr>
                </a:tc>
              </a:tr>
            </a:tbl>
          </a:graphicData>
        </a:graphic>
      </p:graphicFrame>
      <p:sp>
        <p:nvSpPr>
          <p:cNvPr id="8" name="Rounded Rectangle 7"/>
          <p:cNvSpPr/>
          <p:nvPr/>
        </p:nvSpPr>
        <p:spPr>
          <a:xfrm>
            <a:off x="548640" y="3831334"/>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941062"/>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An eval result in VerifyWise is not just an engineering metric — it is a compliance evidence artefact.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How large language models work</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LLMs are </a:t>
            </a:r>
            <a:r>
              <a:rPr b="1" sz="1800">
                <a:solidFill>
                  <a:srgbClr val="1C2130"/>
                </a:solidFill>
                <a:latin typeface="Inter"/>
              </a:rPr>
              <a:t>next-token predictors</a:t>
            </a:r>
            <a:r>
              <a:rPr sz="1800">
                <a:solidFill>
                  <a:srgbClr val="1C2130"/>
                </a:solidFill>
                <a:latin typeface="Inter"/>
              </a:rPr>
              <a:t>: given a sequence of tokens, the model outputs a probability distribution over the next token and samples from it.</a:t>
            </a:r>
          </a:p>
        </p:txBody>
      </p:sp>
      <p:graphicFrame>
        <p:nvGraphicFramePr>
          <p:cNvPr id="7" name="Table 6"/>
          <p:cNvGraphicFramePr>
            <a:graphicFrameLocks noGrp="1"/>
          </p:cNvGraphicFramePr>
          <p:nvPr/>
        </p:nvGraphicFramePr>
        <p:xfrm>
          <a:off x="548640" y="1783079"/>
          <a:ext cx="11094415" cy="2348178"/>
        </p:xfrm>
        <a:graphic>
          <a:graphicData uri="http://schemas.openxmlformats.org/drawingml/2006/table">
            <a:tbl>
              <a:tblPr firstRow="1" bandRow="1">
                <a:tableStyleId>{5C22544A-7EE6-4342-B048-85BDC9FD1C3A}</a:tableStyleId>
              </a:tblPr>
              <a:tblGrid>
                <a:gridCol w="3550212"/>
                <a:gridCol w="7544203"/>
              </a:tblGrid>
              <a:tr h="391363">
                <a:tc>
                  <a:txBody>
                    <a:bodyPr/>
                    <a:lstStyle/>
                    <a:p>
                      <a:r>
                        <a:rPr b="1" sz="1600">
                          <a:solidFill>
                            <a:srgbClr val="FFFFFF"/>
                          </a:solidFill>
                          <a:latin typeface="Inter"/>
                        </a:rPr>
                        <a:t>Layer</a:t>
                      </a:r>
                    </a:p>
                  </a:txBody>
                  <a:tcPr marL="91440" marR="91440" marT="54864" marB="54864" anchor="ctr">
                    <a:solidFill>
                      <a:srgbClr val="13715B"/>
                    </a:solidFill>
                  </a:tcPr>
                </a:tc>
                <a:tc>
                  <a:txBody>
                    <a:bodyPr/>
                    <a:lstStyle/>
                    <a:p>
                      <a:r>
                        <a:rPr b="1" sz="1600">
                          <a:solidFill>
                            <a:srgbClr val="FFFFFF"/>
                          </a:solidFill>
                          <a:latin typeface="Inter"/>
                        </a:rPr>
                        <a:t>What happens</a:t>
                      </a:r>
                    </a:p>
                  </a:txBody>
                  <a:tcPr marL="91440" marR="91440" marT="54864" marB="54864" anchor="ctr">
                    <a:solidFill>
                      <a:srgbClr val="13715B"/>
                    </a:solidFill>
                  </a:tcPr>
                </a:tc>
              </a:tr>
              <a:tr h="391363">
                <a:tc>
                  <a:txBody>
                    <a:bodyPr/>
                    <a:lstStyle/>
                    <a:p>
                      <a:r>
                        <a:rPr sz="1600">
                          <a:solidFill>
                            <a:srgbClr val="1C2130"/>
                          </a:solidFill>
                          <a:latin typeface="Inter"/>
                        </a:rPr>
                        <a:t>Tokenisation</a:t>
                      </a:r>
                    </a:p>
                  </a:txBody>
                  <a:tcPr marL="91440" marR="91440" marT="54864" marB="54864" anchor="ctr">
                    <a:solidFill>
                      <a:srgbClr val="FFFFFF"/>
                    </a:solidFill>
                  </a:tcPr>
                </a:tc>
                <a:tc>
                  <a:txBody>
                    <a:bodyPr/>
                    <a:lstStyle/>
                    <a:p>
                      <a:r>
                        <a:rPr sz="1600">
                          <a:solidFill>
                            <a:srgbClr val="1C2130"/>
                          </a:solidFill>
                          <a:latin typeface="Inter"/>
                        </a:rPr>
                        <a:t>Text → integer tokens (words, sub-words, characters)</a:t>
                      </a:r>
                    </a:p>
                  </a:txBody>
                  <a:tcPr marL="91440" marR="91440" marT="54864" marB="54864" anchor="ctr">
                    <a:solidFill>
                      <a:srgbClr val="FFFFFF"/>
                    </a:solidFill>
                  </a:tcPr>
                </a:tc>
              </a:tr>
              <a:tr h="391363">
                <a:tc>
                  <a:txBody>
                    <a:bodyPr/>
                    <a:lstStyle/>
                    <a:p>
                      <a:r>
                        <a:rPr sz="1600">
                          <a:solidFill>
                            <a:srgbClr val="1C2130"/>
                          </a:solidFill>
                          <a:latin typeface="Inter"/>
                        </a:rPr>
                        <a:t>Embedding</a:t>
                      </a:r>
                    </a:p>
                  </a:txBody>
                  <a:tcPr marL="91440" marR="91440" marT="54864" marB="54864" anchor="ctr">
                    <a:solidFill>
                      <a:srgbClr val="FFFFFF"/>
                    </a:solidFill>
                  </a:tcPr>
                </a:tc>
                <a:tc>
                  <a:txBody>
                    <a:bodyPr/>
                    <a:lstStyle/>
                    <a:p>
                      <a:r>
                        <a:rPr sz="1600">
                          <a:solidFill>
                            <a:srgbClr val="1C2130"/>
                          </a:solidFill>
                          <a:latin typeface="Inter"/>
                        </a:rPr>
                        <a:t>Tokens → high-dimensional vectors</a:t>
                      </a:r>
                    </a:p>
                  </a:txBody>
                  <a:tcPr marL="91440" marR="91440" marT="54864" marB="54864" anchor="ctr">
                    <a:solidFill>
                      <a:srgbClr val="FFFFFF"/>
                    </a:solidFill>
                  </a:tcPr>
                </a:tc>
              </a:tr>
              <a:tr h="391363">
                <a:tc>
                  <a:txBody>
                    <a:bodyPr/>
                    <a:lstStyle/>
                    <a:p>
                      <a:r>
                        <a:rPr sz="1600">
                          <a:solidFill>
                            <a:srgbClr val="1C2130"/>
                          </a:solidFill>
                          <a:latin typeface="Inter"/>
                        </a:rPr>
                        <a:t>Transformer blocks</a:t>
                      </a:r>
                    </a:p>
                  </a:txBody>
                  <a:tcPr marL="91440" marR="91440" marT="54864" marB="54864" anchor="ctr">
                    <a:solidFill>
                      <a:srgbClr val="FFFFFF"/>
                    </a:solidFill>
                  </a:tcPr>
                </a:tc>
                <a:tc>
                  <a:txBody>
                    <a:bodyPr/>
                    <a:lstStyle/>
                    <a:p>
                      <a:r>
                        <a:rPr sz="1600">
                          <a:solidFill>
                            <a:srgbClr val="1C2130"/>
                          </a:solidFill>
                          <a:latin typeface="Inter"/>
                        </a:rPr>
                        <a:t>Self-attention builds context across all prior tokens</a:t>
                      </a:r>
                    </a:p>
                  </a:txBody>
                  <a:tcPr marL="91440" marR="91440" marT="54864" marB="54864" anchor="ctr">
                    <a:solidFill>
                      <a:srgbClr val="FFFFFF"/>
                    </a:solidFill>
                  </a:tcPr>
                </a:tc>
              </a:tr>
              <a:tr h="391363">
                <a:tc>
                  <a:txBody>
                    <a:bodyPr/>
                    <a:lstStyle/>
                    <a:p>
                      <a:r>
                        <a:rPr sz="1600">
                          <a:solidFill>
                            <a:srgbClr val="1C2130"/>
                          </a:solidFill>
                          <a:latin typeface="Inter"/>
                        </a:rPr>
                        <a:t>Output head</a:t>
                      </a:r>
                    </a:p>
                  </a:txBody>
                  <a:tcPr marL="91440" marR="91440" marT="54864" marB="54864" anchor="ctr">
                    <a:solidFill>
                      <a:srgbClr val="FFFFFF"/>
                    </a:solidFill>
                  </a:tcPr>
                </a:tc>
                <a:tc>
                  <a:txBody>
                    <a:bodyPr/>
                    <a:lstStyle/>
                    <a:p>
                      <a:r>
                        <a:rPr sz="1600">
                          <a:solidFill>
                            <a:srgbClr val="1C2130"/>
                          </a:solidFill>
                          <a:latin typeface="Inter"/>
                        </a:rPr>
                        <a:t>Softmax over vocabulary → probability distribution</a:t>
                      </a:r>
                    </a:p>
                  </a:txBody>
                  <a:tcPr marL="91440" marR="91440" marT="54864" marB="54864" anchor="ctr">
                    <a:solidFill>
                      <a:srgbClr val="FFFFFF"/>
                    </a:solidFill>
                  </a:tcPr>
                </a:tc>
              </a:tr>
              <a:tr h="391363">
                <a:tc>
                  <a:txBody>
                    <a:bodyPr/>
                    <a:lstStyle/>
                    <a:p>
                      <a:r>
                        <a:rPr sz="1600">
                          <a:solidFill>
                            <a:srgbClr val="1C2130"/>
                          </a:solidFill>
                          <a:latin typeface="Inter"/>
                        </a:rPr>
                        <a:t>Sampling</a:t>
                      </a:r>
                    </a:p>
                  </a:txBody>
                  <a:tcPr marL="91440" marR="91440" marT="54864" marB="54864" anchor="ctr">
                    <a:solidFill>
                      <a:srgbClr val="FFFFFF"/>
                    </a:solidFill>
                  </a:tcPr>
                </a:tc>
                <a:tc>
                  <a:txBody>
                    <a:bodyPr/>
                    <a:lstStyle/>
                    <a:p>
                      <a:r>
                        <a:rPr sz="1600">
                          <a:solidFill>
                            <a:srgbClr val="1C2130"/>
                          </a:solidFill>
                          <a:latin typeface="Inter"/>
                        </a:rPr>
                        <a:t>Token drawn from distribution (temperature, top-p control randomness)</a:t>
                      </a:r>
                    </a:p>
                  </a:txBody>
                  <a:tcPr marL="91440" marR="91440" marT="54864" marB="54864" anchor="ctr">
                    <a:solidFill>
                      <a:srgbClr val="FFFFFF"/>
                    </a:solidFill>
                  </a:tcPr>
                </a:tc>
              </a:tr>
            </a:tbl>
          </a:graphicData>
        </a:graphic>
      </p:graphicFrame>
      <p:sp>
        <p:nvSpPr>
          <p:cNvPr id="8" name="Rounded Rectangle 7"/>
          <p:cNvSpPr/>
          <p:nvPr/>
        </p:nvSpPr>
        <p:spPr>
          <a:xfrm>
            <a:off x="548640" y="4222697"/>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332425"/>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Models don't "know" facts — they predict what text statistically follows a given context. This is the root cause of hallucination.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Why models hallucinate and make errors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Hallucination is not a bug — it is a structural property of next-token prediction without a ground-truth retrieval step.</a:t>
            </a:r>
          </a:p>
        </p:txBody>
      </p:sp>
      <p:graphicFrame>
        <p:nvGraphicFramePr>
          <p:cNvPr id="7" name="Table 6"/>
          <p:cNvGraphicFramePr>
            <a:graphicFrameLocks noGrp="1"/>
          </p:cNvGraphicFramePr>
          <p:nvPr/>
        </p:nvGraphicFramePr>
        <p:xfrm>
          <a:off x="548640" y="1783079"/>
          <a:ext cx="11094415" cy="2348178"/>
        </p:xfrm>
        <a:graphic>
          <a:graphicData uri="http://schemas.openxmlformats.org/drawingml/2006/table">
            <a:tbl>
              <a:tblPr firstRow="1" bandRow="1">
                <a:tableStyleId>{5C22544A-7EE6-4342-B048-85BDC9FD1C3A}</a:tableStyleId>
              </a:tblPr>
              <a:tblGrid>
                <a:gridCol w="3550212"/>
                <a:gridCol w="7544203"/>
              </a:tblGrid>
              <a:tr h="391363">
                <a:tc>
                  <a:txBody>
                    <a:bodyPr/>
                    <a:lstStyle/>
                    <a:p>
                      <a:r>
                        <a:rPr b="1" sz="1600">
                          <a:solidFill>
                            <a:srgbClr val="FFFFFF"/>
                          </a:solidFill>
                          <a:latin typeface="Inter"/>
                        </a:rPr>
                        <a:t>Root cause</a:t>
                      </a:r>
                    </a:p>
                  </a:txBody>
                  <a:tcPr marL="91440" marR="91440" marT="54864" marB="54864" anchor="ctr">
                    <a:solidFill>
                      <a:srgbClr val="13715B"/>
                    </a:solidFill>
                  </a:tcPr>
                </a:tc>
                <a:tc>
                  <a:txBody>
                    <a:bodyPr/>
                    <a:lstStyle/>
                    <a:p>
                      <a:r>
                        <a:rPr b="1" sz="1600">
                          <a:solidFill>
                            <a:srgbClr val="FFFFFF"/>
                          </a:solidFill>
                          <a:latin typeface="Inter"/>
                        </a:rPr>
                        <a:t>What it looks like in practice</a:t>
                      </a:r>
                    </a:p>
                  </a:txBody>
                  <a:tcPr marL="91440" marR="91440" marT="54864" marB="54864" anchor="ctr">
                    <a:solidFill>
                      <a:srgbClr val="13715B"/>
                    </a:solidFill>
                  </a:tcPr>
                </a:tc>
              </a:tr>
              <a:tr h="391363">
                <a:tc>
                  <a:txBody>
                    <a:bodyPr/>
                    <a:lstStyle/>
                    <a:p>
                      <a:r>
                        <a:rPr sz="1600">
                          <a:solidFill>
                            <a:srgbClr val="1C2130"/>
                          </a:solidFill>
                          <a:latin typeface="Inter"/>
                        </a:rPr>
                        <a:t>No grounding</a:t>
                      </a:r>
                    </a:p>
                  </a:txBody>
                  <a:tcPr marL="91440" marR="91440" marT="54864" marB="54864" anchor="ctr">
                    <a:solidFill>
                      <a:srgbClr val="FFFFFF"/>
                    </a:solidFill>
                  </a:tcPr>
                </a:tc>
                <a:tc>
                  <a:txBody>
                    <a:bodyPr/>
                    <a:lstStyle/>
                    <a:p>
                      <a:r>
                        <a:rPr sz="1600">
                          <a:solidFill>
                            <a:srgbClr val="1C2130"/>
                          </a:solidFill>
                          <a:latin typeface="Inter"/>
                        </a:rPr>
                        <a:t>Generates plausible-sounding citations, names, dates that don't exist</a:t>
                      </a:r>
                    </a:p>
                  </a:txBody>
                  <a:tcPr marL="91440" marR="91440" marT="54864" marB="54864" anchor="ctr">
                    <a:solidFill>
                      <a:srgbClr val="FFFFFF"/>
                    </a:solidFill>
                  </a:tcPr>
                </a:tc>
              </a:tr>
              <a:tr h="391363">
                <a:tc>
                  <a:txBody>
                    <a:bodyPr/>
                    <a:lstStyle/>
                    <a:p>
                      <a:r>
                        <a:rPr sz="1600">
                          <a:solidFill>
                            <a:srgbClr val="1C2130"/>
                          </a:solidFill>
                          <a:latin typeface="Inter"/>
                        </a:rPr>
                        <a:t>Distributional gap</a:t>
                      </a:r>
                    </a:p>
                  </a:txBody>
                  <a:tcPr marL="91440" marR="91440" marT="54864" marB="54864" anchor="ctr">
                    <a:solidFill>
                      <a:srgbClr val="FFFFFF"/>
                    </a:solidFill>
                  </a:tcPr>
                </a:tc>
                <a:tc>
                  <a:txBody>
                    <a:bodyPr/>
                    <a:lstStyle/>
                    <a:p>
                      <a:r>
                        <a:rPr sz="1600">
                          <a:solidFill>
                            <a:srgbClr val="1C2130"/>
                          </a:solidFill>
                          <a:latin typeface="Inter"/>
                        </a:rPr>
                        <a:t>Training data underrepresents a topic → model interpolates wrongly</a:t>
                      </a:r>
                    </a:p>
                  </a:txBody>
                  <a:tcPr marL="91440" marR="91440" marT="54864" marB="54864" anchor="ctr">
                    <a:solidFill>
                      <a:srgbClr val="FFFFFF"/>
                    </a:solidFill>
                  </a:tcPr>
                </a:tc>
              </a:tr>
              <a:tr h="391363">
                <a:tc>
                  <a:txBody>
                    <a:bodyPr/>
                    <a:lstStyle/>
                    <a:p>
                      <a:r>
                        <a:rPr sz="1600">
                          <a:solidFill>
                            <a:srgbClr val="1C2130"/>
                          </a:solidFill>
                          <a:latin typeface="Inter"/>
                        </a:rPr>
                        <a:t>Confidence miscalibration</a:t>
                      </a:r>
                    </a:p>
                  </a:txBody>
                  <a:tcPr marL="91440" marR="91440" marT="54864" marB="54864" anchor="ctr">
                    <a:solidFill>
                      <a:srgbClr val="FFFFFF"/>
                    </a:solidFill>
                  </a:tcPr>
                </a:tc>
                <a:tc>
                  <a:txBody>
                    <a:bodyPr/>
                    <a:lstStyle/>
                    <a:p>
                      <a:r>
                        <a:rPr sz="1600">
                          <a:solidFill>
                            <a:srgbClr val="1C2130"/>
                          </a:solidFill>
                          <a:latin typeface="Inter"/>
                        </a:rPr>
                        <a:t>High-probability token ≠ factually correct token</a:t>
                      </a:r>
                    </a:p>
                  </a:txBody>
                  <a:tcPr marL="91440" marR="91440" marT="54864" marB="54864" anchor="ctr">
                    <a:solidFill>
                      <a:srgbClr val="FFFFFF"/>
                    </a:solidFill>
                  </a:tcPr>
                </a:tc>
              </a:tr>
              <a:tr h="391363">
                <a:tc>
                  <a:txBody>
                    <a:bodyPr/>
                    <a:lstStyle/>
                    <a:p>
                      <a:r>
                        <a:rPr sz="1600">
                          <a:solidFill>
                            <a:srgbClr val="1C2130"/>
                          </a:solidFill>
                          <a:latin typeface="Inter"/>
                        </a:rPr>
                        <a:t>Context window limits</a:t>
                      </a:r>
                    </a:p>
                  </a:txBody>
                  <a:tcPr marL="91440" marR="91440" marT="54864" marB="54864" anchor="ctr">
                    <a:solidFill>
                      <a:srgbClr val="FFFFFF"/>
                    </a:solidFill>
                  </a:tcPr>
                </a:tc>
                <a:tc>
                  <a:txBody>
                    <a:bodyPr/>
                    <a:lstStyle/>
                    <a:p>
                      <a:r>
                        <a:rPr sz="1600">
                          <a:solidFill>
                            <a:srgbClr val="1C2130"/>
                          </a:solidFill>
                          <a:latin typeface="Inter"/>
                        </a:rPr>
                        <a:t>Long documents exceed the window; earlier facts are "forgotten"</a:t>
                      </a:r>
                    </a:p>
                  </a:txBody>
                  <a:tcPr marL="91440" marR="91440" marT="54864" marB="54864" anchor="ctr">
                    <a:solidFill>
                      <a:srgbClr val="FFFFFF"/>
                    </a:solidFill>
                  </a:tcPr>
                </a:tc>
              </a:tr>
              <a:tr h="391363">
                <a:tc>
                  <a:txBody>
                    <a:bodyPr/>
                    <a:lstStyle/>
                    <a:p>
                      <a:r>
                        <a:rPr sz="1600">
                          <a:solidFill>
                            <a:srgbClr val="1C2130"/>
                          </a:solidFill>
                          <a:latin typeface="Inter"/>
                        </a:rPr>
                        <a:t>Instruction–knowledge tension</a:t>
                      </a:r>
                    </a:p>
                  </a:txBody>
                  <a:tcPr marL="91440" marR="91440" marT="54864" marB="54864" anchor="ctr">
                    <a:solidFill>
                      <a:srgbClr val="FFFFFF"/>
                    </a:solidFill>
                  </a:tcPr>
                </a:tc>
                <a:tc>
                  <a:txBody>
                    <a:bodyPr/>
                    <a:lstStyle/>
                    <a:p>
                      <a:r>
                        <a:rPr sz="1600">
                          <a:solidFill>
                            <a:srgbClr val="1C2130"/>
                          </a:solidFill>
                          <a:latin typeface="Inter"/>
                        </a:rPr>
                        <a:t>Asked to answer even when it shouldn't — RLHF rewards helpfulness</a:t>
                      </a:r>
                    </a:p>
                  </a:txBody>
                  <a:tcPr marL="91440" marR="91440" marT="54864" marB="54864" anchor="ctr">
                    <a:solidFill>
                      <a:srgbClr val="FFFFFF"/>
                    </a:solidFill>
                  </a:tcPr>
                </a:tc>
              </a:tr>
            </a:tbl>
          </a:graphicData>
        </a:graphic>
      </p:graphicFrame>
      <p:sp>
        <p:nvSpPr>
          <p:cNvPr id="8" name="Rounded Rectangle 7"/>
          <p:cNvSpPr/>
          <p:nvPr/>
        </p:nvSpPr>
        <p:spPr>
          <a:xfrm>
            <a:off x="548640" y="4222697"/>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332425"/>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Mitigation strategies: retrieval-augmented generation (RAG), grounding checks, structured output constraints, and — critically — evals that catch these failures before users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Bias and fairness in LLMs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sz="1800">
                <a:solidFill>
                  <a:srgbClr val="1C2130"/>
                </a:solidFill>
                <a:latin typeface="Inter"/>
              </a:rPr>
              <a:t>Bias enters at every stage of the model lifecycle — not just training data.</a:t>
            </a:r>
          </a:p>
        </p:txBody>
      </p:sp>
      <p:graphicFrame>
        <p:nvGraphicFramePr>
          <p:cNvPr id="7" name="Table 6"/>
          <p:cNvGraphicFramePr>
            <a:graphicFrameLocks noGrp="1"/>
          </p:cNvGraphicFramePr>
          <p:nvPr/>
        </p:nvGraphicFramePr>
        <p:xfrm>
          <a:off x="548640" y="1453896"/>
          <a:ext cx="11094414" cy="1956815"/>
        </p:xfrm>
        <a:graphic>
          <a:graphicData uri="http://schemas.openxmlformats.org/drawingml/2006/table">
            <a:tbl>
              <a:tblPr firstRow="1" bandRow="1">
                <a:tableStyleId>{5C22544A-7EE6-4342-B048-85BDC9FD1C3A}</a:tableStyleId>
              </a:tblPr>
              <a:tblGrid>
                <a:gridCol w="3550212"/>
                <a:gridCol w="3772101"/>
                <a:gridCol w="3772101"/>
              </a:tblGrid>
              <a:tr h="391363">
                <a:tc>
                  <a:txBody>
                    <a:bodyPr/>
                    <a:lstStyle/>
                    <a:p>
                      <a:r>
                        <a:rPr b="1" sz="1600">
                          <a:solidFill>
                            <a:srgbClr val="FFFFFF"/>
                          </a:solidFill>
                          <a:latin typeface="Inter"/>
                        </a:rPr>
                        <a:t>Stage</a:t>
                      </a:r>
                    </a:p>
                  </a:txBody>
                  <a:tcPr marL="91440" marR="91440" marT="54864" marB="54864" anchor="ctr">
                    <a:solidFill>
                      <a:srgbClr val="13715B"/>
                    </a:solidFill>
                  </a:tcPr>
                </a:tc>
                <a:tc>
                  <a:txBody>
                    <a:bodyPr/>
                    <a:lstStyle/>
                    <a:p>
                      <a:r>
                        <a:rPr b="1" sz="1600">
                          <a:solidFill>
                            <a:srgbClr val="FFFFFF"/>
                          </a:solidFill>
                          <a:latin typeface="Inter"/>
                        </a:rPr>
                        <a:t>Bias mechanism</a:t>
                      </a:r>
                    </a:p>
                  </a:txBody>
                  <a:tcPr marL="91440" marR="91440" marT="54864" marB="54864" anchor="ctr">
                    <a:solidFill>
                      <a:srgbClr val="13715B"/>
                    </a:solidFill>
                  </a:tcPr>
                </a:tc>
                <a:tc>
                  <a:txBody>
                    <a:bodyPr/>
                    <a:lstStyle/>
                    <a:p>
                      <a:r>
                        <a:rPr b="1" sz="1600">
                          <a:solidFill>
                            <a:srgbClr val="FFFFFF"/>
                          </a:solidFill>
                          <a:latin typeface="Inter"/>
                        </a:rPr>
                        <a:t>Example</a:t>
                      </a:r>
                    </a:p>
                  </a:txBody>
                  <a:tcPr marL="91440" marR="91440" marT="54864" marB="54864" anchor="ctr">
                    <a:solidFill>
                      <a:srgbClr val="13715B"/>
                    </a:solidFill>
                  </a:tcPr>
                </a:tc>
              </a:tr>
              <a:tr h="391363">
                <a:tc>
                  <a:txBody>
                    <a:bodyPr/>
                    <a:lstStyle/>
                    <a:p>
                      <a:r>
                        <a:rPr sz="1600">
                          <a:solidFill>
                            <a:srgbClr val="1C2130"/>
                          </a:solidFill>
                          <a:latin typeface="Inter"/>
                        </a:rPr>
                        <a:t>Pre-training data</a:t>
                      </a:r>
                    </a:p>
                  </a:txBody>
                  <a:tcPr marL="91440" marR="91440" marT="54864" marB="54864" anchor="ctr">
                    <a:solidFill>
                      <a:srgbClr val="FFFFFF"/>
                    </a:solidFill>
                  </a:tcPr>
                </a:tc>
                <a:tc>
                  <a:txBody>
                    <a:bodyPr/>
                    <a:lstStyle/>
                    <a:p>
                      <a:r>
                        <a:rPr sz="1600">
                          <a:solidFill>
                            <a:srgbClr val="1C2130"/>
                          </a:solidFill>
                          <a:latin typeface="Inter"/>
                        </a:rPr>
                        <a:t>Web text reflects historical inequities</a:t>
                      </a:r>
                    </a:p>
                  </a:txBody>
                  <a:tcPr marL="91440" marR="91440" marT="54864" marB="54864" anchor="ctr">
                    <a:solidFill>
                      <a:srgbClr val="FFFFFF"/>
                    </a:solidFill>
                  </a:tcPr>
                </a:tc>
                <a:tc>
                  <a:txBody>
                    <a:bodyPr/>
                    <a:lstStyle/>
                    <a:p>
                      <a:r>
                        <a:rPr sz="1600">
                          <a:solidFill>
                            <a:srgbClr val="1C2130"/>
                          </a:solidFill>
                          <a:latin typeface="Inter"/>
                        </a:rPr>
                        <a:t>"nurse" → female, "engineer" → male</a:t>
                      </a:r>
                    </a:p>
                  </a:txBody>
                  <a:tcPr marL="91440" marR="91440" marT="54864" marB="54864" anchor="ctr">
                    <a:solidFill>
                      <a:srgbClr val="FFFFFF"/>
                    </a:solidFill>
                  </a:tcPr>
                </a:tc>
              </a:tr>
              <a:tr h="391363">
                <a:tc>
                  <a:txBody>
                    <a:bodyPr/>
                    <a:lstStyle/>
                    <a:p>
                      <a:r>
                        <a:rPr sz="1600">
                          <a:solidFill>
                            <a:srgbClr val="1C2130"/>
                          </a:solidFill>
                          <a:latin typeface="Inter"/>
                        </a:rPr>
                        <a:t>RLHF / fine-tuning</a:t>
                      </a:r>
                    </a:p>
                  </a:txBody>
                  <a:tcPr marL="91440" marR="91440" marT="54864" marB="54864" anchor="ctr">
                    <a:solidFill>
                      <a:srgbClr val="FFFFFF"/>
                    </a:solidFill>
                  </a:tcPr>
                </a:tc>
                <a:tc>
                  <a:txBody>
                    <a:bodyPr/>
                    <a:lstStyle/>
                    <a:p>
                      <a:r>
                        <a:rPr sz="1600">
                          <a:solidFill>
                            <a:srgbClr val="1C2130"/>
                          </a:solidFill>
                          <a:latin typeface="Inter"/>
                        </a:rPr>
                        <a:t>Human raters have cultural blind spots</a:t>
                      </a:r>
                    </a:p>
                  </a:txBody>
                  <a:tcPr marL="91440" marR="91440" marT="54864" marB="54864" anchor="ctr">
                    <a:solidFill>
                      <a:srgbClr val="FFFFFF"/>
                    </a:solidFill>
                  </a:tcPr>
                </a:tc>
                <a:tc>
                  <a:txBody>
                    <a:bodyPr/>
                    <a:lstStyle/>
                    <a:p>
                      <a:r>
                        <a:rPr sz="1600">
                          <a:solidFill>
                            <a:srgbClr val="1C2130"/>
                          </a:solidFill>
                          <a:latin typeface="Inter"/>
                        </a:rPr>
                        <a:t>Western communication styles rated higher</a:t>
                      </a:r>
                    </a:p>
                  </a:txBody>
                  <a:tcPr marL="91440" marR="91440" marT="54864" marB="54864" anchor="ctr">
                    <a:solidFill>
                      <a:srgbClr val="FFFFFF"/>
                    </a:solidFill>
                  </a:tcPr>
                </a:tc>
              </a:tr>
              <a:tr h="391363">
                <a:tc>
                  <a:txBody>
                    <a:bodyPr/>
                    <a:lstStyle/>
                    <a:p>
                      <a:r>
                        <a:rPr sz="1600">
                          <a:solidFill>
                            <a:srgbClr val="1C2130"/>
                          </a:solidFill>
                          <a:latin typeface="Inter"/>
                        </a:rPr>
                        <a:t>Prompt design</a:t>
                      </a:r>
                    </a:p>
                  </a:txBody>
                  <a:tcPr marL="91440" marR="91440" marT="54864" marB="54864" anchor="ctr">
                    <a:solidFill>
                      <a:srgbClr val="FFFFFF"/>
                    </a:solidFill>
                  </a:tcPr>
                </a:tc>
                <a:tc>
                  <a:txBody>
                    <a:bodyPr/>
                    <a:lstStyle/>
                    <a:p>
                      <a:r>
                        <a:rPr sz="1600">
                          <a:solidFill>
                            <a:srgbClr val="1C2130"/>
                          </a:solidFill>
                          <a:latin typeface="Inter"/>
                        </a:rPr>
                        <a:t>Framing effects shift output distributions</a:t>
                      </a:r>
                    </a:p>
                  </a:txBody>
                  <a:tcPr marL="91440" marR="91440" marT="54864" marB="54864" anchor="ctr">
                    <a:solidFill>
                      <a:srgbClr val="FFFFFF"/>
                    </a:solidFill>
                  </a:tcPr>
                </a:tc>
                <a:tc>
                  <a:txBody>
                    <a:bodyPr/>
                    <a:lstStyle/>
                    <a:p>
                      <a:r>
                        <a:rPr sz="1600">
                          <a:solidFill>
                            <a:srgbClr val="1C2130"/>
                          </a:solidFill>
                          <a:latin typeface="Inter"/>
                        </a:rPr>
                        <a:t>"Write about a doctor" → male by default</a:t>
                      </a:r>
                    </a:p>
                  </a:txBody>
                  <a:tcPr marL="91440" marR="91440" marT="54864" marB="54864" anchor="ctr">
                    <a:solidFill>
                      <a:srgbClr val="FFFFFF"/>
                    </a:solidFill>
                  </a:tcPr>
                </a:tc>
              </a:tr>
              <a:tr h="391363">
                <a:tc>
                  <a:txBody>
                    <a:bodyPr/>
                    <a:lstStyle/>
                    <a:p>
                      <a:r>
                        <a:rPr sz="1600">
                          <a:solidFill>
                            <a:srgbClr val="1C2130"/>
                          </a:solidFill>
                          <a:latin typeface="Inter"/>
                        </a:rPr>
                        <a:t>Deployment context</a:t>
                      </a:r>
                    </a:p>
                  </a:txBody>
                  <a:tcPr marL="91440" marR="91440" marT="54864" marB="54864" anchor="ctr">
                    <a:solidFill>
                      <a:srgbClr val="FFFFFF"/>
                    </a:solidFill>
                  </a:tcPr>
                </a:tc>
                <a:tc>
                  <a:txBody>
                    <a:bodyPr/>
                    <a:lstStyle/>
                    <a:p>
                      <a:r>
                        <a:rPr sz="1600">
                          <a:solidFill>
                            <a:srgbClr val="1C2130"/>
                          </a:solidFill>
                          <a:latin typeface="Inter"/>
                        </a:rPr>
                        <a:t>Unequal error rates across groups</a:t>
                      </a:r>
                    </a:p>
                  </a:txBody>
                  <a:tcPr marL="91440" marR="91440" marT="54864" marB="54864" anchor="ctr">
                    <a:solidFill>
                      <a:srgbClr val="FFFFFF"/>
                    </a:solidFill>
                  </a:tcPr>
                </a:tc>
                <a:tc>
                  <a:txBody>
                    <a:bodyPr/>
                    <a:lstStyle/>
                    <a:p>
                      <a:r>
                        <a:rPr sz="1600">
                          <a:solidFill>
                            <a:srgbClr val="1C2130"/>
                          </a:solidFill>
                          <a:latin typeface="Inter"/>
                        </a:rPr>
                        <a:t>Lower accuracy for non-native English speakers</a:t>
                      </a:r>
                    </a:p>
                  </a:txBody>
                  <a:tcPr marL="91440" marR="91440" marT="54864" marB="54864" anchor="ctr">
                    <a:solidFill>
                      <a:srgbClr val="FFFFFF"/>
                    </a:solidFill>
                  </a:tcPr>
                </a:tc>
              </a:tr>
            </a:tbl>
          </a:graphicData>
        </a:graphic>
      </p:graphicFrame>
      <p:sp>
        <p:nvSpPr>
          <p:cNvPr id="8" name="Rounded Rectangle 7"/>
          <p:cNvSpPr/>
          <p:nvPr/>
        </p:nvSpPr>
        <p:spPr>
          <a:xfrm>
            <a:off x="548640" y="3502151"/>
            <a:ext cx="11094415" cy="1207008"/>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611879"/>
            <a:ext cx="10637215" cy="987552"/>
          </a:xfrm>
          <a:prstGeom prst="rect">
            <a:avLst/>
          </a:prstGeom>
          <a:noFill/>
        </p:spPr>
        <p:txBody>
          <a:bodyPr wrap="square" lIns="45720" rIns="45720" tIns="18288" bIns="18288" anchor="t">
            <a:spAutoFit/>
          </a:bodyPr>
          <a:lstStyle/>
          <a:p>
            <a:pPr algn="l"/>
            <a:r>
              <a:rPr sz="1600">
                <a:solidFill>
                  <a:srgbClr val="1C2130"/>
                </a:solidFill>
                <a:latin typeface="Inter"/>
              </a:rPr>
              <a:t>Bias in a model's outputs can constitute discrimination under EU AI Act Annex III (employment, credit, education). This is why bias audits are a compliance requirement, not just an ethical preference.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A taxonomy of LLM evaluations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05840"/>
          <a:ext cx="11094414" cy="1956815"/>
        </p:xfrm>
        <a:graphic>
          <a:graphicData uri="http://schemas.openxmlformats.org/drawingml/2006/table">
            <a:tbl>
              <a:tblPr firstRow="1" bandRow="1">
                <a:tableStyleId>{5C22544A-7EE6-4342-B048-85BDC9FD1C3A}</a:tableStyleId>
              </a:tblPr>
              <a:tblGrid>
                <a:gridCol w="3550212"/>
                <a:gridCol w="3772101"/>
                <a:gridCol w="3772101"/>
              </a:tblGrid>
              <a:tr h="391363">
                <a:tc>
                  <a:txBody>
                    <a:bodyPr/>
                    <a:lstStyle/>
                    <a:p>
                      <a:r>
                        <a:rPr b="1" sz="1600">
                          <a:solidFill>
                            <a:srgbClr val="FFFFFF"/>
                          </a:solidFill>
                          <a:latin typeface="Inter"/>
                        </a:rPr>
                        <a:t>Axis</a:t>
                      </a:r>
                    </a:p>
                  </a:txBody>
                  <a:tcPr marL="91440" marR="91440" marT="54864" marB="54864" anchor="ctr">
                    <a:solidFill>
                      <a:srgbClr val="13715B"/>
                    </a:solidFill>
                  </a:tcPr>
                </a:tc>
                <a:tc>
                  <a:txBody>
                    <a:bodyPr/>
                    <a:lstStyle/>
                    <a:p>
                      <a:r>
                        <a:rPr b="1" sz="1600">
                          <a:solidFill>
                            <a:srgbClr val="FFFFFF"/>
                          </a:solidFill>
                          <a:latin typeface="Inter"/>
                        </a:rPr>
                        <a:t>Option A</a:t>
                      </a:r>
                    </a:p>
                  </a:txBody>
                  <a:tcPr marL="91440" marR="91440" marT="54864" marB="54864" anchor="ctr">
                    <a:solidFill>
                      <a:srgbClr val="13715B"/>
                    </a:solidFill>
                  </a:tcPr>
                </a:tc>
                <a:tc>
                  <a:txBody>
                    <a:bodyPr/>
                    <a:lstStyle/>
                    <a:p>
                      <a:r>
                        <a:rPr b="1" sz="1600">
                          <a:solidFill>
                            <a:srgbClr val="FFFFFF"/>
                          </a:solidFill>
                          <a:latin typeface="Inter"/>
                        </a:rPr>
                        <a:t>Option B</a:t>
                      </a:r>
                    </a:p>
                  </a:txBody>
                  <a:tcPr marL="91440" marR="91440" marT="54864" marB="54864" anchor="ctr">
                    <a:solidFill>
                      <a:srgbClr val="13715B"/>
                    </a:solidFill>
                  </a:tcPr>
                </a:tc>
              </a:tr>
              <a:tr h="391363">
                <a:tc>
                  <a:txBody>
                    <a:bodyPr/>
                    <a:lstStyle/>
                    <a:p>
                      <a:r>
                        <a:rPr sz="1600">
                          <a:solidFill>
                            <a:srgbClr val="1C2130"/>
                          </a:solidFill>
                          <a:latin typeface="Inter"/>
                        </a:rPr>
                        <a:t>Who scores?</a:t>
                      </a:r>
                    </a:p>
                  </a:txBody>
                  <a:tcPr marL="91440" marR="91440" marT="54864" marB="54864" anchor="ctr">
                    <a:solidFill>
                      <a:srgbClr val="FFFFFF"/>
                    </a:solidFill>
                  </a:tcPr>
                </a:tc>
                <a:tc>
                  <a:txBody>
                    <a:bodyPr/>
                    <a:lstStyle/>
                    <a:p>
                      <a:r>
                        <a:rPr b="1" sz="1600">
                          <a:solidFill>
                            <a:srgbClr val="1C2130"/>
                          </a:solidFill>
                          <a:latin typeface="Inter"/>
                        </a:rPr>
                        <a:t>Automated</a:t>
                      </a:r>
                      <a:r>
                        <a:rPr sz="1600">
                          <a:solidFill>
                            <a:srgbClr val="1C2130"/>
                          </a:solidFill>
                          <a:latin typeface="Inter"/>
                        </a:rPr>
                        <a:t> — fast, cheap, scalable</a:t>
                      </a:r>
                    </a:p>
                  </a:txBody>
                  <a:tcPr marL="91440" marR="91440" marT="54864" marB="54864" anchor="ctr">
                    <a:solidFill>
                      <a:srgbClr val="FFFFFF"/>
                    </a:solidFill>
                  </a:tcPr>
                </a:tc>
                <a:tc>
                  <a:txBody>
                    <a:bodyPr/>
                    <a:lstStyle/>
                    <a:p>
                      <a:r>
                        <a:rPr b="1" sz="1600">
                          <a:solidFill>
                            <a:srgbClr val="1C2130"/>
                          </a:solidFill>
                          <a:latin typeface="Inter"/>
                        </a:rPr>
                        <a:t>Human</a:t>
                      </a:r>
                      <a:r>
                        <a:rPr sz="1600">
                          <a:solidFill>
                            <a:srgbClr val="1C2130"/>
                          </a:solidFill>
                          <a:latin typeface="Inter"/>
                        </a:rPr>
                        <a:t> — gold standard, slow</a:t>
                      </a:r>
                    </a:p>
                  </a:txBody>
                  <a:tcPr marL="91440" marR="91440" marT="54864" marB="54864" anchor="ctr">
                    <a:solidFill>
                      <a:srgbClr val="FFFFFF"/>
                    </a:solidFill>
                  </a:tcPr>
                </a:tc>
              </a:tr>
              <a:tr h="391363">
                <a:tc>
                  <a:txBody>
                    <a:bodyPr/>
                    <a:lstStyle/>
                    <a:p>
                      <a:r>
                        <a:rPr sz="1600">
                          <a:solidFill>
                            <a:srgbClr val="1C2130"/>
                          </a:solidFill>
                          <a:latin typeface="Inter"/>
                        </a:rPr>
                        <a:t>What is scored?</a:t>
                      </a:r>
                    </a:p>
                  </a:txBody>
                  <a:tcPr marL="91440" marR="91440" marT="54864" marB="54864" anchor="ctr">
                    <a:solidFill>
                      <a:srgbClr val="FFFFFF"/>
                    </a:solidFill>
                  </a:tcPr>
                </a:tc>
                <a:tc>
                  <a:txBody>
                    <a:bodyPr/>
                    <a:lstStyle/>
                    <a:p>
                      <a:r>
                        <a:rPr b="1" sz="1600">
                          <a:solidFill>
                            <a:srgbClr val="1C2130"/>
                          </a:solidFill>
                          <a:latin typeface="Inter"/>
                        </a:rPr>
                        <a:t>Functional</a:t>
                      </a:r>
                      <a:r>
                        <a:rPr sz="1600">
                          <a:solidFill>
                            <a:srgbClr val="1C2130"/>
                          </a:solidFill>
                          <a:latin typeface="Inter"/>
                        </a:rPr>
                        <a:t> — did the task complete?</a:t>
                      </a:r>
                    </a:p>
                  </a:txBody>
                  <a:tcPr marL="91440" marR="91440" marT="54864" marB="54864" anchor="ctr">
                    <a:solidFill>
                      <a:srgbClr val="FFFFFF"/>
                    </a:solidFill>
                  </a:tcPr>
                </a:tc>
                <a:tc>
                  <a:txBody>
                    <a:bodyPr/>
                    <a:lstStyle/>
                    <a:p>
                      <a:r>
                        <a:rPr b="1" sz="1600">
                          <a:solidFill>
                            <a:srgbClr val="1C2130"/>
                          </a:solidFill>
                          <a:latin typeface="Inter"/>
                        </a:rPr>
                        <a:t>Quality</a:t>
                      </a:r>
                      <a:r>
                        <a:rPr sz="1600">
                          <a:solidFill>
                            <a:srgbClr val="1C2130"/>
                          </a:solidFill>
                          <a:latin typeface="Inter"/>
                        </a:rPr>
                        <a:t> — how well?</a:t>
                      </a:r>
                    </a:p>
                  </a:txBody>
                  <a:tcPr marL="91440" marR="91440" marT="54864" marB="54864" anchor="ctr">
                    <a:solidFill>
                      <a:srgbClr val="FFFFFF"/>
                    </a:solidFill>
                  </a:tcPr>
                </a:tc>
              </a:tr>
              <a:tr h="391363">
                <a:tc>
                  <a:txBody>
                    <a:bodyPr/>
                    <a:lstStyle/>
                    <a:p>
                      <a:r>
                        <a:rPr sz="1600">
                          <a:solidFill>
                            <a:srgbClr val="1C2130"/>
                          </a:solidFill>
                          <a:latin typeface="Inter"/>
                        </a:rPr>
                        <a:t>Scope</a:t>
                      </a:r>
                    </a:p>
                  </a:txBody>
                  <a:tcPr marL="91440" marR="91440" marT="54864" marB="54864" anchor="ctr">
                    <a:solidFill>
                      <a:srgbClr val="FFFFFF"/>
                    </a:solidFill>
                  </a:tcPr>
                </a:tc>
                <a:tc>
                  <a:txBody>
                    <a:bodyPr/>
                    <a:lstStyle/>
                    <a:p>
                      <a:r>
                        <a:rPr b="1" sz="1600">
                          <a:solidFill>
                            <a:srgbClr val="1C2130"/>
                          </a:solidFill>
                          <a:latin typeface="Inter"/>
                        </a:rPr>
                        <a:t>Unit</a:t>
                      </a:r>
                      <a:r>
                        <a:rPr sz="1600">
                          <a:solidFill>
                            <a:srgbClr val="1C2130"/>
                          </a:solidFill>
                          <a:latin typeface="Inter"/>
                        </a:rPr>
                        <a:t> — single prompt / component</a:t>
                      </a:r>
                    </a:p>
                  </a:txBody>
                  <a:tcPr marL="91440" marR="91440" marT="54864" marB="54864" anchor="ctr">
                    <a:solidFill>
                      <a:srgbClr val="FFFFFF"/>
                    </a:solidFill>
                  </a:tcPr>
                </a:tc>
                <a:tc>
                  <a:txBody>
                    <a:bodyPr/>
                    <a:lstStyle/>
                    <a:p>
                      <a:r>
                        <a:rPr b="1" sz="1600">
                          <a:solidFill>
                            <a:srgbClr val="1C2130"/>
                          </a:solidFill>
                          <a:latin typeface="Inter"/>
                        </a:rPr>
                        <a:t>End-to-end</a:t>
                      </a:r>
                      <a:r>
                        <a:rPr sz="1600">
                          <a:solidFill>
                            <a:srgbClr val="1C2130"/>
                          </a:solidFill>
                          <a:latin typeface="Inter"/>
                        </a:rPr>
                        <a:t> — full pipeline</a:t>
                      </a:r>
                    </a:p>
                  </a:txBody>
                  <a:tcPr marL="91440" marR="91440" marT="54864" marB="54864" anchor="ctr">
                    <a:solidFill>
                      <a:srgbClr val="FFFFFF"/>
                    </a:solidFill>
                  </a:tcPr>
                </a:tc>
              </a:tr>
              <a:tr h="391363">
                <a:tc>
                  <a:txBody>
                    <a:bodyPr/>
                    <a:lstStyle/>
                    <a:p>
                      <a:r>
                        <a:rPr sz="1600">
                          <a:solidFill>
                            <a:srgbClr val="1C2130"/>
                          </a:solidFill>
                          <a:latin typeface="Inter"/>
                        </a:rPr>
                        <a:t>Dataset</a:t>
                      </a:r>
                    </a:p>
                  </a:txBody>
                  <a:tcPr marL="91440" marR="91440" marT="54864" marB="54864" anchor="ctr">
                    <a:solidFill>
                      <a:srgbClr val="FFFFFF"/>
                    </a:solidFill>
                  </a:tcPr>
                </a:tc>
                <a:tc>
                  <a:txBody>
                    <a:bodyPr/>
                    <a:lstStyle/>
                    <a:p>
                      <a:r>
                        <a:rPr b="1" sz="1600">
                          <a:solidFill>
                            <a:srgbClr val="1C2130"/>
                          </a:solidFill>
                          <a:latin typeface="Inter"/>
                        </a:rPr>
                        <a:t>Benchmark</a:t>
                      </a:r>
                      <a:r>
                        <a:rPr sz="1600">
                          <a:solidFill>
                            <a:srgbClr val="1C2130"/>
                          </a:solidFill>
                          <a:latin typeface="Inter"/>
                        </a:rPr>
                        <a:t> — standard public sets</a:t>
                      </a:r>
                    </a:p>
                  </a:txBody>
                  <a:tcPr marL="91440" marR="91440" marT="54864" marB="54864" anchor="ctr">
                    <a:solidFill>
                      <a:srgbClr val="FFFFFF"/>
                    </a:solidFill>
                  </a:tcPr>
                </a:tc>
                <a:tc>
                  <a:txBody>
                    <a:bodyPr/>
                    <a:lstStyle/>
                    <a:p>
                      <a:r>
                        <a:rPr b="1" sz="1600">
                          <a:solidFill>
                            <a:srgbClr val="1C2130"/>
                          </a:solidFill>
                          <a:latin typeface="Inter"/>
                        </a:rPr>
                        <a:t>Slice</a:t>
                      </a:r>
                      <a:r>
                        <a:rPr sz="1600">
                          <a:solidFill>
                            <a:srgbClr val="1C2130"/>
                          </a:solidFill>
                          <a:latin typeface="Inter"/>
                        </a:rPr>
                        <a:t> — production data subsets</a:t>
                      </a:r>
                    </a:p>
                  </a:txBody>
                  <a:tcPr marL="91440" marR="91440" marT="54864" marB="54864" anchor="ctr">
                    <a:solidFill>
                      <a:srgbClr val="FFFFFF"/>
                    </a:solidFill>
                  </a:tcPr>
                </a:tc>
              </a:tr>
            </a:tbl>
          </a:graphicData>
        </a:graphic>
      </p:graphicFrame>
      <p:sp>
        <p:nvSpPr>
          <p:cNvPr id="7" name="TextBox 6"/>
          <p:cNvSpPr txBox="1"/>
          <p:nvPr/>
        </p:nvSpPr>
        <p:spPr>
          <a:xfrm>
            <a:off x="548640" y="3054095"/>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In practice:</a:t>
            </a:r>
            <a:r>
              <a:rPr sz="1800">
                <a:solidFill>
                  <a:srgbClr val="1C2130"/>
                </a:solidFill>
                <a:latin typeface="Inter"/>
              </a:rPr>
              <a:t> automate 90%, human-review 10% of edge cases and calibrate.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Key evaluation dimensions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05840"/>
          <a:ext cx="11094414" cy="2739541"/>
        </p:xfrm>
        <a:graphic>
          <a:graphicData uri="http://schemas.openxmlformats.org/drawingml/2006/table">
            <a:tbl>
              <a:tblPr firstRow="1" bandRow="1">
                <a:tableStyleId>{5C22544A-7EE6-4342-B048-85BDC9FD1C3A}</a:tableStyleId>
              </a:tblPr>
              <a:tblGrid>
                <a:gridCol w="3550212"/>
                <a:gridCol w="3772101"/>
                <a:gridCol w="3772101"/>
              </a:tblGrid>
              <a:tr h="391363">
                <a:tc>
                  <a:txBody>
                    <a:bodyPr/>
                    <a:lstStyle/>
                    <a:p>
                      <a:r>
                        <a:rPr b="1" sz="1600">
                          <a:solidFill>
                            <a:srgbClr val="FFFFFF"/>
                          </a:solidFill>
                          <a:latin typeface="Inter"/>
                        </a:rPr>
                        <a:t>Dimension</a:t>
                      </a:r>
                    </a:p>
                  </a:txBody>
                  <a:tcPr marL="91440" marR="91440" marT="54864" marB="54864" anchor="ctr">
                    <a:solidFill>
                      <a:srgbClr val="13715B"/>
                    </a:solidFill>
                  </a:tcPr>
                </a:tc>
                <a:tc>
                  <a:txBody>
                    <a:bodyPr/>
                    <a:lstStyle/>
                    <a:p>
                      <a:r>
                        <a:rPr b="1" sz="1600">
                          <a:solidFill>
                            <a:srgbClr val="FFFFFF"/>
                          </a:solidFill>
                          <a:latin typeface="Inter"/>
                        </a:rPr>
                        <a:t>What you measure</a:t>
                      </a:r>
                    </a:p>
                  </a:txBody>
                  <a:tcPr marL="91440" marR="91440" marT="54864" marB="54864" anchor="ctr">
                    <a:solidFill>
                      <a:srgbClr val="13715B"/>
                    </a:solidFill>
                  </a:tcPr>
                </a:tc>
                <a:tc>
                  <a:txBody>
                    <a:bodyPr/>
                    <a:lstStyle/>
                    <a:p>
                      <a:r>
                        <a:rPr b="1" sz="1600">
                          <a:solidFill>
                            <a:srgbClr val="FFFFFF"/>
                          </a:solidFill>
                          <a:latin typeface="Inter"/>
                        </a:rPr>
                        <a:t>Example metric</a:t>
                      </a:r>
                    </a:p>
                  </a:txBody>
                  <a:tcPr marL="91440" marR="91440" marT="54864" marB="54864" anchor="ctr">
                    <a:solidFill>
                      <a:srgbClr val="13715B"/>
                    </a:solidFill>
                  </a:tcPr>
                </a:tc>
              </a:tr>
              <a:tr h="391363">
                <a:tc>
                  <a:txBody>
                    <a:bodyPr/>
                    <a:lstStyle/>
                    <a:p>
                      <a:r>
                        <a:rPr sz="1600">
                          <a:solidFill>
                            <a:srgbClr val="1C2130"/>
                          </a:solidFill>
                          <a:latin typeface="Inter"/>
                        </a:rPr>
                        <a:t>Correctness</a:t>
                      </a:r>
                    </a:p>
                  </a:txBody>
                  <a:tcPr marL="91440" marR="91440" marT="54864" marB="54864" anchor="ctr">
                    <a:solidFill>
                      <a:srgbClr val="FFFFFF"/>
                    </a:solidFill>
                  </a:tcPr>
                </a:tc>
                <a:tc>
                  <a:txBody>
                    <a:bodyPr/>
                    <a:lstStyle/>
                    <a:p>
                      <a:r>
                        <a:rPr sz="1600">
                          <a:solidFill>
                            <a:srgbClr val="1C2130"/>
                          </a:solidFill>
                          <a:latin typeface="Inter"/>
                        </a:rPr>
                        <a:t>Is the answer factually right?</a:t>
                      </a:r>
                    </a:p>
                  </a:txBody>
                  <a:tcPr marL="91440" marR="91440" marT="54864" marB="54864" anchor="ctr">
                    <a:solidFill>
                      <a:srgbClr val="FFFFFF"/>
                    </a:solidFill>
                  </a:tcPr>
                </a:tc>
                <a:tc>
                  <a:txBody>
                    <a:bodyPr/>
                    <a:lstStyle/>
                    <a:p>
                      <a:r>
                        <a:rPr sz="1600">
                          <a:solidFill>
                            <a:srgbClr val="1C2130"/>
                          </a:solidFill>
                          <a:latin typeface="Inter"/>
                        </a:rPr>
                        <a:t>Exact match, F1, BERTScore</a:t>
                      </a:r>
                    </a:p>
                  </a:txBody>
                  <a:tcPr marL="91440" marR="91440" marT="54864" marB="54864" anchor="ctr">
                    <a:solidFill>
                      <a:srgbClr val="FFFFFF"/>
                    </a:solidFill>
                  </a:tcPr>
                </a:tc>
              </a:tr>
              <a:tr h="391363">
                <a:tc>
                  <a:txBody>
                    <a:bodyPr/>
                    <a:lstStyle/>
                    <a:p>
                      <a:r>
                        <a:rPr sz="1600">
                          <a:solidFill>
                            <a:srgbClr val="1C2130"/>
                          </a:solidFill>
                          <a:latin typeface="Inter"/>
                        </a:rPr>
                        <a:t>Hallucination</a:t>
                      </a:r>
                    </a:p>
                  </a:txBody>
                  <a:tcPr marL="91440" marR="91440" marT="54864" marB="54864" anchor="ctr">
                    <a:solidFill>
                      <a:srgbClr val="FFFFFF"/>
                    </a:solidFill>
                  </a:tcPr>
                </a:tc>
                <a:tc>
                  <a:txBody>
                    <a:bodyPr/>
                    <a:lstStyle/>
                    <a:p>
                      <a:r>
                        <a:rPr sz="1600">
                          <a:solidFill>
                            <a:srgbClr val="1C2130"/>
                          </a:solidFill>
                          <a:latin typeface="Inter"/>
                        </a:rPr>
                        <a:t>Does the model fabricate facts?</a:t>
                      </a:r>
                    </a:p>
                  </a:txBody>
                  <a:tcPr marL="91440" marR="91440" marT="54864" marB="54864" anchor="ctr">
                    <a:solidFill>
                      <a:srgbClr val="FFFFFF"/>
                    </a:solidFill>
                  </a:tcPr>
                </a:tc>
                <a:tc>
                  <a:txBody>
                    <a:bodyPr/>
                    <a:lstStyle/>
                    <a:p>
                      <a:r>
                        <a:rPr sz="1600">
                          <a:solidFill>
                            <a:srgbClr val="1C2130"/>
                          </a:solidFill>
                          <a:latin typeface="Inter"/>
                        </a:rPr>
                        <a:t>FActScore, citation hit rate</a:t>
                      </a:r>
                    </a:p>
                  </a:txBody>
                  <a:tcPr marL="91440" marR="91440" marT="54864" marB="54864" anchor="ctr">
                    <a:solidFill>
                      <a:srgbClr val="FFFFFF"/>
                    </a:solidFill>
                  </a:tcPr>
                </a:tc>
              </a:tr>
              <a:tr h="391363">
                <a:tc>
                  <a:txBody>
                    <a:bodyPr/>
                    <a:lstStyle/>
                    <a:p>
                      <a:r>
                        <a:rPr sz="1600">
                          <a:solidFill>
                            <a:srgbClr val="1C2130"/>
                          </a:solidFill>
                          <a:latin typeface="Inter"/>
                        </a:rPr>
                        <a:t>Completeness</a:t>
                      </a:r>
                    </a:p>
                  </a:txBody>
                  <a:tcPr marL="91440" marR="91440" marT="54864" marB="54864" anchor="ctr">
                    <a:solidFill>
                      <a:srgbClr val="FFFFFF"/>
                    </a:solidFill>
                  </a:tcPr>
                </a:tc>
                <a:tc>
                  <a:txBody>
                    <a:bodyPr/>
                    <a:lstStyle/>
                    <a:p>
                      <a:r>
                        <a:rPr sz="1600">
                          <a:solidFill>
                            <a:srgbClr val="1C2130"/>
                          </a:solidFill>
                          <a:latin typeface="Inter"/>
                        </a:rPr>
                        <a:t>Does it address the full question?</a:t>
                      </a:r>
                    </a:p>
                  </a:txBody>
                  <a:tcPr marL="91440" marR="91440" marT="54864" marB="54864" anchor="ctr">
                    <a:solidFill>
                      <a:srgbClr val="FFFFFF"/>
                    </a:solidFill>
                  </a:tcPr>
                </a:tc>
                <a:tc>
                  <a:txBody>
                    <a:bodyPr/>
                    <a:lstStyle/>
                    <a:p>
                      <a:r>
                        <a:rPr sz="1600">
                          <a:solidFill>
                            <a:srgbClr val="1C2130"/>
                          </a:solidFill>
                          <a:latin typeface="Inter"/>
                        </a:rPr>
                        <a:t>Coverage score (LLM-as-judge)</a:t>
                      </a:r>
                    </a:p>
                  </a:txBody>
                  <a:tcPr marL="91440" marR="91440" marT="54864" marB="54864" anchor="ctr">
                    <a:solidFill>
                      <a:srgbClr val="FFFFFF"/>
                    </a:solidFill>
                  </a:tcPr>
                </a:tc>
              </a:tr>
              <a:tr h="391363">
                <a:tc>
                  <a:txBody>
                    <a:bodyPr/>
                    <a:lstStyle/>
                    <a:p>
                      <a:r>
                        <a:rPr sz="1600">
                          <a:solidFill>
                            <a:srgbClr val="1C2130"/>
                          </a:solidFill>
                          <a:latin typeface="Inter"/>
                        </a:rPr>
                        <a:t>Answer relevancy</a:t>
                      </a:r>
                    </a:p>
                  </a:txBody>
                  <a:tcPr marL="91440" marR="91440" marT="54864" marB="54864" anchor="ctr">
                    <a:solidFill>
                      <a:srgbClr val="FFFFFF"/>
                    </a:solidFill>
                  </a:tcPr>
                </a:tc>
                <a:tc>
                  <a:txBody>
                    <a:bodyPr/>
                    <a:lstStyle/>
                    <a:p>
                      <a:r>
                        <a:rPr sz="1600">
                          <a:solidFill>
                            <a:srgbClr val="1C2130"/>
                          </a:solidFill>
                          <a:latin typeface="Inter"/>
                        </a:rPr>
                        <a:t>Is the response on-topic?</a:t>
                      </a:r>
                    </a:p>
                  </a:txBody>
                  <a:tcPr marL="91440" marR="91440" marT="54864" marB="54864" anchor="ctr">
                    <a:solidFill>
                      <a:srgbClr val="FFFFFF"/>
                    </a:solidFill>
                  </a:tcPr>
                </a:tc>
                <a:tc>
                  <a:txBody>
                    <a:bodyPr/>
                    <a:lstStyle/>
                    <a:p>
                      <a:r>
                        <a:rPr sz="1600">
                          <a:solidFill>
                            <a:srgbClr val="1C2130"/>
                          </a:solidFill>
                          <a:latin typeface="Inter"/>
                        </a:rPr>
                        <a:t>Cosine similarity to question</a:t>
                      </a:r>
                    </a:p>
                  </a:txBody>
                  <a:tcPr marL="91440" marR="91440" marT="54864" marB="54864" anchor="ctr">
                    <a:solidFill>
                      <a:srgbClr val="FFFFFF"/>
                    </a:solidFill>
                  </a:tcPr>
                </a:tc>
              </a:tr>
              <a:tr h="391363">
                <a:tc>
                  <a:txBody>
                    <a:bodyPr/>
                    <a:lstStyle/>
                    <a:p>
                      <a:r>
                        <a:rPr sz="1600">
                          <a:solidFill>
                            <a:srgbClr val="1C2130"/>
                          </a:solidFill>
                          <a:latin typeface="Inter"/>
                        </a:rPr>
                        <a:t>Safety / harm</a:t>
                      </a:r>
                    </a:p>
                  </a:txBody>
                  <a:tcPr marL="91440" marR="91440" marT="54864" marB="54864" anchor="ctr">
                    <a:solidFill>
                      <a:srgbClr val="FFFFFF"/>
                    </a:solidFill>
                  </a:tcPr>
                </a:tc>
                <a:tc>
                  <a:txBody>
                    <a:bodyPr/>
                    <a:lstStyle/>
                    <a:p>
                      <a:r>
                        <a:rPr sz="1600">
                          <a:solidFill>
                            <a:srgbClr val="1C2130"/>
                          </a:solidFill>
                          <a:latin typeface="Inter"/>
                        </a:rPr>
                        <a:t>Does it produce unsafe content?</a:t>
                      </a:r>
                    </a:p>
                  </a:txBody>
                  <a:tcPr marL="91440" marR="91440" marT="54864" marB="54864" anchor="ctr">
                    <a:solidFill>
                      <a:srgbClr val="FFFFFF"/>
                    </a:solidFill>
                  </a:tcPr>
                </a:tc>
                <a:tc>
                  <a:txBody>
                    <a:bodyPr/>
                    <a:lstStyle/>
                    <a:p>
                      <a:r>
                        <a:rPr sz="1600">
                          <a:solidFill>
                            <a:srgbClr val="1C2130"/>
                          </a:solidFill>
                          <a:latin typeface="Inter"/>
                        </a:rPr>
                        <a:t>Refusal rate, toxicity classifier</a:t>
                      </a:r>
                    </a:p>
                  </a:txBody>
                  <a:tcPr marL="91440" marR="91440" marT="54864" marB="54864" anchor="ctr">
                    <a:solidFill>
                      <a:srgbClr val="FFFFFF"/>
                    </a:solidFill>
                  </a:tcPr>
                </a:tc>
              </a:tr>
              <a:tr h="391363">
                <a:tc>
                  <a:txBody>
                    <a:bodyPr/>
                    <a:lstStyle/>
                    <a:p>
                      <a:r>
                        <a:rPr sz="1600">
                          <a:solidFill>
                            <a:srgbClr val="1C2130"/>
                          </a:solidFill>
                          <a:latin typeface="Inter"/>
                        </a:rPr>
                        <a:t>Instruction following</a:t>
                      </a:r>
                    </a:p>
                  </a:txBody>
                  <a:tcPr marL="91440" marR="91440" marT="54864" marB="54864" anchor="ctr">
                    <a:solidFill>
                      <a:srgbClr val="FFFFFF"/>
                    </a:solidFill>
                  </a:tcPr>
                </a:tc>
                <a:tc>
                  <a:txBody>
                    <a:bodyPr/>
                    <a:lstStyle/>
                    <a:p>
                      <a:r>
                        <a:rPr sz="1600">
                          <a:solidFill>
                            <a:srgbClr val="1C2130"/>
                          </a:solidFill>
                          <a:latin typeface="Inter"/>
                        </a:rPr>
                        <a:t>Does it comply with the prompt?</a:t>
                      </a:r>
                    </a:p>
                  </a:txBody>
                  <a:tcPr marL="91440" marR="91440" marT="54864" marB="54864" anchor="ctr">
                    <a:solidFill>
                      <a:srgbClr val="FFFFFF"/>
                    </a:solidFill>
                  </a:tcPr>
                </a:tc>
                <a:tc>
                  <a:txBody>
                    <a:bodyPr/>
                    <a:lstStyle/>
                    <a:p>
                      <a:r>
                        <a:rPr sz="1600">
                          <a:solidFill>
                            <a:srgbClr val="1C2130"/>
                          </a:solidFill>
                          <a:latin typeface="Inter"/>
                        </a:rPr>
                        <a:t>IFEval pass rate</a:t>
                      </a:r>
                    </a:p>
                  </a:txBody>
                  <a:tcPr marL="91440" marR="91440" marT="54864" marB="54864" anchor="ctr">
                    <a:solidFill>
                      <a:srgbClr val="FFFFFF"/>
                    </a:solidFill>
                  </a:tcPr>
                </a:tc>
              </a:tr>
            </a:tbl>
          </a:graphicData>
        </a:graphic>
      </p:graphicFrame>
      <p:sp>
        <p:nvSpPr>
          <p:cNvPr id="7" name="Rounded Rectangle 6"/>
          <p:cNvSpPr/>
          <p:nvPr/>
        </p:nvSpPr>
        <p:spPr>
          <a:xfrm>
            <a:off x="548640" y="3836821"/>
            <a:ext cx="11094415" cy="585216"/>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946549"/>
            <a:ext cx="10637215" cy="365760"/>
          </a:xfrm>
          <a:prstGeom prst="rect">
            <a:avLst/>
          </a:prstGeom>
          <a:noFill/>
        </p:spPr>
        <p:txBody>
          <a:bodyPr wrap="square" lIns="45720" rIns="45720" tIns="18288" bIns="18288" anchor="t">
            <a:spAutoFit/>
          </a:bodyPr>
          <a:lstStyle/>
          <a:p>
            <a:pPr algn="l"/>
            <a:r>
              <a:rPr sz="1600">
                <a:solidFill>
                  <a:srgbClr val="1C2130"/>
                </a:solidFill>
                <a:latin typeface="Inter"/>
              </a:rPr>
              <a:t>Start with the 2–3 dimensions most critical to your use case, not all six at once.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Evaluation methods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1389888"/>
          </a:xfrm>
          <a:prstGeom prst="rect">
            <a:avLst/>
          </a:prstGeom>
          <a:noFill/>
        </p:spPr>
        <p:txBody>
          <a:bodyPr wrap="square" lIns="45720" rIns="45720" tIns="18288" bIns="18288" anchor="t">
            <a:spAutoFit/>
          </a:bodyPr>
          <a:lstStyle/>
          <a:p>
            <a:pPr algn="l"/>
            <a:r>
              <a:rPr b="1" sz="1800">
                <a:solidFill>
                  <a:srgbClr val="1C2130"/>
                </a:solidFill>
                <a:latin typeface="Inter"/>
              </a:rPr>
              <a:t>Reference-based</a:t>
            </a:r>
            <a:r>
              <a:rPr sz="1800">
                <a:solidFill>
                  <a:srgbClr val="1C2130"/>
                </a:solidFill>
                <a:latin typeface="Inter"/>
              </a:rPr>
              <a:t> — compare output against a known-correct answer
</a:t>
            </a:r>
            <a:r>
              <a:rPr sz="1700">
                <a:solidFill>
                  <a:srgbClr val="0F5A47"/>
                </a:solidFill>
                <a:latin typeface="Menlo"/>
              </a:rPr>
              <a:t>Exact match · ROUGE · BLEU · BERTScore</a:t>
            </a:r>
            <a:r>
              <a:rPr sz="1800">
                <a:solidFill>
                  <a:srgbClr val="1C2130"/>
                </a:solidFill>
                <a:latin typeface="Inter"/>
              </a:rPr>
              <a:t>
Best for: Q&amp;A with ground truth, translation, structured extraction</a:t>
            </a:r>
          </a:p>
        </p:txBody>
      </p:sp>
      <p:sp>
        <p:nvSpPr>
          <p:cNvPr id="7" name="TextBox 6"/>
          <p:cNvSpPr txBox="1"/>
          <p:nvPr/>
        </p:nvSpPr>
        <p:spPr>
          <a:xfrm>
            <a:off x="548640" y="2441448"/>
            <a:ext cx="11094415" cy="1719072"/>
          </a:xfrm>
          <a:prstGeom prst="rect">
            <a:avLst/>
          </a:prstGeom>
          <a:noFill/>
        </p:spPr>
        <p:txBody>
          <a:bodyPr wrap="square" lIns="45720" rIns="45720" tIns="18288" bIns="18288" anchor="t">
            <a:spAutoFit/>
          </a:bodyPr>
          <a:lstStyle/>
          <a:p>
            <a:pPr algn="l"/>
            <a:r>
              <a:rPr b="1" sz="1800">
                <a:solidFill>
                  <a:srgbClr val="1C2130"/>
                </a:solidFill>
                <a:latin typeface="Inter"/>
              </a:rPr>
              <a:t>LLM-as-judge</a:t>
            </a:r>
            <a:r>
              <a:rPr sz="1800">
                <a:solidFill>
                  <a:srgbClr val="1C2130"/>
                </a:solidFill>
                <a:latin typeface="Inter"/>
              </a:rPr>
              <a:t> — use a stronger model to score on a rubric
</a:t>
            </a:r>
            <a:r>
              <a:rPr sz="1700">
                <a:solidFill>
                  <a:srgbClr val="0F5A47"/>
                </a:solidFill>
                <a:latin typeface="Menlo"/>
              </a:rPr>
              <a:t>GPT-4o as judge · Structured 1–5 rubric · Chain-of-thought reasoning</a:t>
            </a:r>
            <a:r>
              <a:rPr sz="1800">
                <a:solidFill>
                  <a:srgbClr val="1C2130"/>
                </a:solidFill>
                <a:latin typeface="Inter"/>
              </a:rPr>
              <a:t>
Best for: open-ended generation, helpfulness, tone — where no single correct answer exists</a:t>
            </a:r>
          </a:p>
        </p:txBody>
      </p:sp>
      <p:sp>
        <p:nvSpPr>
          <p:cNvPr id="8" name="TextBox 7"/>
          <p:cNvSpPr txBox="1"/>
          <p:nvPr/>
        </p:nvSpPr>
        <p:spPr>
          <a:xfrm>
            <a:off x="548640" y="4206240"/>
            <a:ext cx="11094415" cy="1719072"/>
          </a:xfrm>
          <a:prstGeom prst="rect">
            <a:avLst/>
          </a:prstGeom>
          <a:noFill/>
        </p:spPr>
        <p:txBody>
          <a:bodyPr wrap="square" lIns="45720" rIns="45720" tIns="18288" bIns="18288" anchor="t">
            <a:spAutoFit/>
          </a:bodyPr>
          <a:lstStyle/>
          <a:p>
            <a:pPr algn="l"/>
            <a:r>
              <a:rPr b="1" sz="1800">
                <a:solidFill>
                  <a:srgbClr val="1C2130"/>
                </a:solidFill>
                <a:latin typeface="Inter"/>
              </a:rPr>
              <a:t>Execution-based</a:t>
            </a:r>
            <a:r>
              <a:rPr sz="1800">
                <a:solidFill>
                  <a:srgbClr val="1C2130"/>
                </a:solidFill>
                <a:latin typeface="Inter"/>
              </a:rPr>
              <a:t> — run the generated code or SQL and verify correctness
</a:t>
            </a:r>
            <a:r>
              <a:rPr sz="1700">
                <a:solidFill>
                  <a:srgbClr val="0F5A47"/>
                </a:solidFill>
                <a:latin typeface="Menlo"/>
              </a:rPr>
              <a:t>HumanEval pass@k · SQL query result match</a:t>
            </a:r>
            <a:r>
              <a:rPr sz="1800">
                <a:solidFill>
                  <a:srgbClr val="1C2130"/>
                </a:solidFill>
                <a:latin typeface="Inter"/>
              </a:rPr>
              <a:t>
Best for: coding assistants, data pipelines, tool-calling agents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LLM-as-judge — formulas vs language models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Traditional metrics use </a:t>
            </a:r>
            <a:r>
              <a:rPr b="1" sz="1800">
                <a:solidFill>
                  <a:srgbClr val="1C2130"/>
                </a:solidFill>
                <a:latin typeface="Inter"/>
              </a:rPr>
              <a:t>formulas</a:t>
            </a:r>
            <a:r>
              <a:rPr sz="1800">
                <a:solidFill>
                  <a:srgbClr val="1C2130"/>
                </a:solidFill>
                <a:latin typeface="Inter"/>
              </a:rPr>
              <a:t> on text tokens. LLM-as-judge uses a </a:t>
            </a:r>
            <a:r>
              <a:rPr b="1" sz="1800">
                <a:solidFill>
                  <a:srgbClr val="1C2130"/>
                </a:solidFill>
                <a:latin typeface="Inter"/>
              </a:rPr>
              <a:t>language model</a:t>
            </a:r>
            <a:r>
              <a:rPr sz="1800">
                <a:solidFill>
                  <a:srgbClr val="1C2130"/>
                </a:solidFill>
                <a:latin typeface="Inter"/>
              </a:rPr>
              <a:t> to reason about quality the way a human reviewer would.</a:t>
            </a:r>
          </a:p>
        </p:txBody>
      </p:sp>
      <p:graphicFrame>
        <p:nvGraphicFramePr>
          <p:cNvPr id="7" name="Table 6"/>
          <p:cNvGraphicFramePr>
            <a:graphicFrameLocks noGrp="1"/>
          </p:cNvGraphicFramePr>
          <p:nvPr/>
        </p:nvGraphicFramePr>
        <p:xfrm>
          <a:off x="548640" y="1783079"/>
          <a:ext cx="11094414" cy="1697124"/>
        </p:xfrm>
        <a:graphic>
          <a:graphicData uri="http://schemas.openxmlformats.org/drawingml/2006/table">
            <a:tbl>
              <a:tblPr firstRow="1" bandRow="1">
                <a:tableStyleId>{5C22544A-7EE6-4342-B048-85BDC9FD1C3A}</a:tableStyleId>
              </a:tblPr>
              <a:tblGrid>
                <a:gridCol w="3550212"/>
                <a:gridCol w="3772101"/>
                <a:gridCol w="3772101"/>
              </a:tblGrid>
              <a:tr h="424281">
                <a:tc>
                  <a:txBody>
                    <a:bodyPr/>
                    <a:lstStyle/>
                    <a:p>
                      <a:r>
                        <a:rPr b="1" sz="1800">
                          <a:solidFill>
                            <a:srgbClr val="FFFFFF"/>
                          </a:solidFill>
                          <a:latin typeface="Inter"/>
                        </a:rPr>
                        <a:t>Approach</a:t>
                      </a:r>
                    </a:p>
                  </a:txBody>
                  <a:tcPr marL="91440" marR="91440" marT="54864" marB="54864" anchor="ctr">
                    <a:solidFill>
                      <a:srgbClr val="13715B"/>
                    </a:solidFill>
                  </a:tcPr>
                </a:tc>
                <a:tc>
                  <a:txBody>
                    <a:bodyPr/>
                    <a:lstStyle/>
                    <a:p>
                      <a:r>
                        <a:rPr b="1" sz="1800">
                          <a:solidFill>
                            <a:srgbClr val="FFFFFF"/>
                          </a:solidFill>
                          <a:latin typeface="Inter"/>
                        </a:rPr>
                        <a:t>How the score is computed</a:t>
                      </a:r>
                    </a:p>
                  </a:txBody>
                  <a:tcPr marL="91440" marR="91440" marT="54864" marB="54864" anchor="ctr">
                    <a:solidFill>
                      <a:srgbClr val="13715B"/>
                    </a:solidFill>
                  </a:tcPr>
                </a:tc>
                <a:tc>
                  <a:txBody>
                    <a:bodyPr/>
                    <a:lstStyle/>
                    <a:p>
                      <a:r>
                        <a:rPr b="1" sz="1800">
                          <a:solidFill>
                            <a:srgbClr val="FFFFFF"/>
                          </a:solidFill>
                          <a:latin typeface="Inter"/>
                        </a:rPr>
                        <a:t>Example</a:t>
                      </a:r>
                    </a:p>
                  </a:txBody>
                  <a:tcPr marL="91440" marR="91440" marT="54864" marB="54864" anchor="ctr">
                    <a:solidFill>
                      <a:srgbClr val="13715B"/>
                    </a:solidFill>
                  </a:tcPr>
                </a:tc>
              </a:tr>
              <a:tr h="424281">
                <a:tc>
                  <a:txBody>
                    <a:bodyPr/>
                    <a:lstStyle/>
                    <a:p>
                      <a:r>
                        <a:rPr sz="1800">
                          <a:solidFill>
                            <a:srgbClr val="1C2130"/>
                          </a:solidFill>
                          <a:latin typeface="Inter"/>
                        </a:rPr>
                        <a:t>Formula-based</a:t>
                      </a:r>
                    </a:p>
                  </a:txBody>
                  <a:tcPr marL="91440" marR="91440" marT="54864" marB="54864" anchor="ctr">
                    <a:solidFill>
                      <a:srgbClr val="FFFFFF"/>
                    </a:solidFill>
                  </a:tcPr>
                </a:tc>
                <a:tc>
                  <a:txBody>
                    <a:bodyPr/>
                    <a:lstStyle/>
                    <a:p>
                      <a:r>
                        <a:rPr sz="1800">
                          <a:solidFill>
                            <a:srgbClr val="1C2130"/>
                          </a:solidFill>
                          <a:latin typeface="Inter"/>
                        </a:rPr>
                        <a:t>Mathematical comparison of tokens</a:t>
                      </a:r>
                    </a:p>
                  </a:txBody>
                  <a:tcPr marL="91440" marR="91440" marT="54864" marB="54864" anchor="ctr">
                    <a:solidFill>
                      <a:srgbClr val="FFFFFF"/>
                    </a:solidFill>
                  </a:tcPr>
                </a:tc>
                <a:tc>
                  <a:txBody>
                    <a:bodyPr/>
                    <a:lstStyle/>
                    <a:p>
                      <a:r>
                        <a:rPr sz="1800">
                          <a:solidFill>
                            <a:srgbClr val="1C2130"/>
                          </a:solidFill>
                          <a:latin typeface="Inter"/>
                        </a:rPr>
                        <a:t>BLEU counts n-gram overlaps; ROUGE counts reference word recall</a:t>
                      </a:r>
                    </a:p>
                  </a:txBody>
                  <a:tcPr marL="91440" marR="91440" marT="54864" marB="54864" anchor="ctr">
                    <a:solidFill>
                      <a:srgbClr val="FFFFFF"/>
                    </a:solidFill>
                  </a:tcPr>
                </a:tc>
              </a:tr>
              <a:tr h="424281">
                <a:tc>
                  <a:txBody>
                    <a:bodyPr/>
                    <a:lstStyle/>
                    <a:p>
                      <a:r>
                        <a:rPr sz="1800">
                          <a:solidFill>
                            <a:srgbClr val="1C2130"/>
                          </a:solidFill>
                          <a:latin typeface="Inter"/>
                        </a:rPr>
                        <a:t>Statistical (fairlearn)</a:t>
                      </a:r>
                    </a:p>
                  </a:txBody>
                  <a:tcPr marL="91440" marR="91440" marT="54864" marB="54864" anchor="ctr">
                    <a:solidFill>
                      <a:srgbClr val="FFFFFF"/>
                    </a:solidFill>
                  </a:tcPr>
                </a:tc>
                <a:tc>
                  <a:txBody>
                    <a:bodyPr/>
                    <a:lstStyle/>
                    <a:p>
                      <a:r>
                        <a:rPr sz="1800">
                          <a:solidFill>
                            <a:srgbClr val="1C2130"/>
                          </a:solidFill>
                          <a:latin typeface="Inter"/>
                        </a:rPr>
                        <a:t>Disparity ratios across demographic groups</a:t>
                      </a:r>
                    </a:p>
                  </a:txBody>
                  <a:tcPr marL="91440" marR="91440" marT="54864" marB="54864" anchor="ctr">
                    <a:solidFill>
                      <a:srgbClr val="FFFFFF"/>
                    </a:solidFill>
                  </a:tcPr>
                </a:tc>
                <a:tc>
                  <a:txBody>
                    <a:bodyPr/>
                    <a:lstStyle/>
                    <a:p>
                      <a:r>
                        <a:rPr sz="1800">
                          <a:solidFill>
                            <a:srgbClr val="1C2130"/>
                          </a:solidFill>
                          <a:latin typeface="Inter"/>
                        </a:rPr>
                        <a:t>Demographic parity = P(ŷ=1\</a:t>
                      </a:r>
                    </a:p>
                  </a:txBody>
                  <a:tcPr marL="91440" marR="91440" marT="54864" marB="54864" anchor="ctr">
                    <a:solidFill>
                      <a:srgbClr val="FFFFFF"/>
                    </a:solidFill>
                  </a:tcPr>
                </a:tc>
              </a:tr>
              <a:tr h="424281">
                <a:tc>
                  <a:txBody>
                    <a:bodyPr/>
                    <a:lstStyle/>
                    <a:p>
                      <a:r>
                        <a:rPr sz="1800">
                          <a:solidFill>
                            <a:srgbClr val="1C2130"/>
                          </a:solidFill>
                          <a:latin typeface="Inter"/>
                        </a:rPr>
                        <a:t>LLM-as-judge</a:t>
                      </a:r>
                    </a:p>
                  </a:txBody>
                  <a:tcPr marL="91440" marR="91440" marT="54864" marB="54864" anchor="ctr">
                    <a:solidFill>
                      <a:srgbClr val="FFFFFF"/>
                    </a:solidFill>
                  </a:tcPr>
                </a:tc>
                <a:tc>
                  <a:txBody>
                    <a:bodyPr/>
                    <a:lstStyle/>
                    <a:p>
                      <a:r>
                        <a:rPr sz="1800">
                          <a:solidFill>
                            <a:srgbClr val="1C2130"/>
                          </a:solidFill>
                          <a:latin typeface="Inter"/>
                        </a:rPr>
                        <a:t>Judge reads question + answer + rubric → score + reasoning</a:t>
                      </a:r>
                    </a:p>
                  </a:txBody>
                  <a:tcPr marL="91440" marR="91440" marT="54864" marB="54864" anchor="ctr">
                    <a:solidFill>
                      <a:srgbClr val="FFFFFF"/>
                    </a:solidFill>
                  </a:tcPr>
                </a:tc>
                <a:tc>
                  <a:txBody>
                    <a:bodyPr/>
                    <a:lstStyle/>
                    <a:p>
                      <a:r>
                        <a:rPr sz="1800">
                          <a:solidFill>
                            <a:srgbClr val="1C2130"/>
                          </a:solidFill>
                          <a:latin typeface="Inter"/>
                        </a:rPr>
                        <a:t>"Rate 1–5: does the answer fully address the question without false information?"</a:t>
                      </a:r>
                    </a:p>
                  </a:txBody>
                  <a:tcPr marL="91440" marR="91440" marT="54864" marB="54864" anchor="ctr">
                    <a:solidFill>
                      <a:srgbClr val="FFFFFF"/>
                    </a:solidFill>
                  </a:tcPr>
                </a:tc>
              </a:tr>
            </a:tbl>
          </a:graphicData>
        </a:graphic>
      </p:graphicFrame>
      <p:sp>
        <p:nvSpPr>
          <p:cNvPr id="8" name="Rounded Rectangle 7"/>
          <p:cNvSpPr/>
          <p:nvPr/>
        </p:nvSpPr>
        <p:spPr>
          <a:xfrm>
            <a:off x="548640" y="3571643"/>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681371"/>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BLEU scores "A cat was sitting on a mat" low vs "The cat sat on the mat" — purely lexical. A judge model reads both, understands they mean the same thing, and scores them equally.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LLM-as-judge — what the judge actually does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The judge is just another LLM call. For each row in your dataset it receives a structured prompt and returns a structured score.</a:t>
            </a:r>
          </a:p>
        </p:txBody>
      </p:sp>
      <p:sp>
        <p:nvSpPr>
          <p:cNvPr id="7" name="TextBox 6"/>
          <p:cNvSpPr txBox="1"/>
          <p:nvPr/>
        </p:nvSpPr>
        <p:spPr>
          <a:xfrm>
            <a:off x="548640" y="1783079"/>
            <a:ext cx="11094415" cy="2377440"/>
          </a:xfrm>
          <a:prstGeom prst="rect">
            <a:avLst/>
          </a:prstGeom>
          <a:noFill/>
        </p:spPr>
        <p:txBody>
          <a:bodyPr wrap="square" lIns="45720" rIns="45720" tIns="18288" bIns="18288" anchor="t">
            <a:spAutoFit/>
          </a:bodyPr>
          <a:lstStyle/>
          <a:p>
            <a:pPr algn="l"/>
            <a:r>
              <a:rPr b="1" sz="1800">
                <a:solidFill>
                  <a:srgbClr val="1C2130"/>
                </a:solidFill>
                <a:latin typeface="Inter"/>
              </a:rPr>
              <a:t>Judge input (sent automatically by VerifyWise):</a:t>
            </a:r>
            <a:r>
              <a:rPr sz="1800">
                <a:solidFill>
                  <a:srgbClr val="1C2130"/>
                </a:solidFill>
                <a:latin typeface="Inter"/>
              </a:rPr>
              <a:t>
- The original question from the dataset
- The model's response
- The expected output (if provided)
- The scoring rubric for the metric (e.g. correctness, hallucination)</a:t>
            </a:r>
          </a:p>
        </p:txBody>
      </p:sp>
      <p:sp>
        <p:nvSpPr>
          <p:cNvPr id="8" name="TextBox 7"/>
          <p:cNvSpPr txBox="1"/>
          <p:nvPr/>
        </p:nvSpPr>
        <p:spPr>
          <a:xfrm>
            <a:off x="548640" y="4206239"/>
            <a:ext cx="11094415" cy="1060704"/>
          </a:xfrm>
          <a:prstGeom prst="rect">
            <a:avLst/>
          </a:prstGeom>
          <a:noFill/>
        </p:spPr>
        <p:txBody>
          <a:bodyPr wrap="square" lIns="45720" rIns="45720" tIns="18288" bIns="18288" anchor="t">
            <a:spAutoFit/>
          </a:bodyPr>
          <a:lstStyle/>
          <a:p>
            <a:pPr algn="l"/>
            <a:r>
              <a:rPr b="1" sz="1800">
                <a:solidFill>
                  <a:srgbClr val="1C2130"/>
                </a:solidFill>
                <a:latin typeface="Inter"/>
              </a:rPr>
              <a:t>Judge output:</a:t>
            </a:r>
            <a:r>
              <a:rPr sz="1800">
                <a:solidFill>
                  <a:srgbClr val="1C2130"/>
                </a:solidFill>
                <a:latin typeface="Inter"/>
              </a:rPr>
              <a:t>
</a:t>
            </a:r>
            <a:r>
              <a:rPr sz="1700">
                <a:solidFill>
                  <a:srgbClr val="0F5A47"/>
                </a:solidFill>
                <a:latin typeface="Menlo"/>
              </a:rPr>
              <a:t>{"score": 0.8, "reason": "Answer is accurate but omits the deadline requirement."}</a:t>
            </a:r>
          </a:p>
        </p:txBody>
      </p:sp>
      <p:sp>
        <p:nvSpPr>
          <p:cNvPr id="9" name="TextBox 8"/>
          <p:cNvSpPr txBox="1"/>
          <p:nvPr/>
        </p:nvSpPr>
        <p:spPr>
          <a:xfrm>
            <a:off x="548640" y="5312663"/>
            <a:ext cx="11094415" cy="1133857"/>
          </a:xfrm>
          <a:prstGeom prst="rect">
            <a:avLst/>
          </a:prstGeom>
          <a:noFill/>
        </p:spPr>
        <p:txBody>
          <a:bodyPr wrap="square" lIns="45720" rIns="45720" tIns="18288" bIns="18288" anchor="t">
            <a:spAutoFit/>
          </a:bodyPr>
          <a:lstStyle/>
          <a:p>
            <a:pPr algn="l"/>
            <a:r>
              <a:rPr b="1" sz="1800">
                <a:solidFill>
                  <a:srgbClr val="1C2130"/>
                </a:solidFill>
                <a:latin typeface="Inter"/>
              </a:rPr>
              <a:t>Why this beats formulas for quality metrics:</a:t>
            </a:r>
            <a:r>
              <a:rPr sz="1800">
                <a:solidFill>
                  <a:srgbClr val="1C2130"/>
                </a:solidFill>
                <a:latin typeface="Inter"/>
              </a:rPr>
              <a:t>
Formulas cannot tell you whether an answer is </a:t>
            </a:r>
            <a:r>
              <a:rPr i="1" sz="1800">
                <a:solidFill>
                  <a:srgbClr val="1C2130"/>
                </a:solidFill>
                <a:latin typeface="Inter"/>
              </a:rPr>
              <a:t>helpful</a:t>
            </a:r>
            <a:r>
              <a:rPr sz="1800">
                <a:solidFill>
                  <a:srgbClr val="1C2130"/>
                </a:solidFill>
                <a:latin typeface="Inter"/>
              </a:rPr>
              <a:t>, </a:t>
            </a:r>
            <a:r>
              <a:rPr i="1" sz="1800">
                <a:solidFill>
                  <a:srgbClr val="1C2130"/>
                </a:solidFill>
                <a:latin typeface="Inter"/>
              </a:rPr>
              <a:t>complete</a:t>
            </a:r>
            <a:r>
              <a:rPr sz="1800">
                <a:solidFill>
                  <a:srgbClr val="1C2130"/>
                </a:solidFill>
                <a:latin typeface="Inter"/>
              </a:rPr>
              <a:t>, or </a:t>
            </a:r>
            <a:r>
              <a:rPr i="1" sz="1800">
                <a:solidFill>
                  <a:srgbClr val="1C2130"/>
                </a:solidFill>
                <a:latin typeface="Inter"/>
              </a:rPr>
              <a:t>hallucinated</a:t>
            </a:r>
            <a:r>
              <a:rPr sz="1800">
                <a:solidFill>
                  <a:srgbClr val="1C2130"/>
                </a:solidFill>
                <a:latin typeface="Inter"/>
              </a:rPr>
              <a:t> without an exact reference string. The judge reads the answer semantically — it can spot fabricated facts even when the wording sounds confident and fluent.</a:t>
            </a:r>
          </a:p>
        </p:txBody>
      </p:sp>
      <p:sp>
        <p:nvSpPr>
          <p:cNvPr id="10" name="Rounded Rectangle 9"/>
          <p:cNvSpPr/>
          <p:nvPr/>
        </p:nvSpPr>
        <p:spPr>
          <a:xfrm>
            <a:off x="548640" y="6492240"/>
            <a:ext cx="11094415" cy="274320"/>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601968"/>
            <a:ext cx="10637215" cy="54864"/>
          </a:xfrm>
          <a:prstGeom prst="rect">
            <a:avLst/>
          </a:prstGeom>
          <a:noFill/>
        </p:spPr>
        <p:txBody>
          <a:bodyPr wrap="square" lIns="45720" rIns="45720" tIns="18288" bIns="18288" anchor="t">
            <a:spAutoFit/>
          </a:bodyPr>
          <a:lstStyle/>
          <a:p>
            <a:pPr algn="l"/>
            <a:r>
              <a:rPr sz="1600">
                <a:solidFill>
                  <a:srgbClr val="1C2130"/>
                </a:solidFill>
                <a:latin typeface="Inter"/>
              </a:rPr>
              <a:t>Known biases to watch: verbosity bias (longer answers score higher), position bias (judge favours the first option in pairwise). VerifyWise mitigates with structured JSON output and chain-of-thought before the score.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The eval pipeline — 5 steps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2029968"/>
          </a:xfrm>
          <a:prstGeom prst="rect">
            <a:avLst/>
          </a:prstGeom>
          <a:noFill/>
        </p:spPr>
        <p:txBody>
          <a:bodyPr wrap="square" lIns="45720">
            <a:spAutoFit/>
          </a:bodyPr>
          <a:lstStyle/>
          <a:p>
            <a:pPr>
              <a:spcAft>
                <a:spcPts val="400"/>
              </a:spcAft>
            </a:pPr>
            <a:r>
              <a:rPr sz="1800">
                <a:solidFill>
                  <a:srgbClr val="1C2130"/>
                </a:solidFill>
                <a:latin typeface="Inter"/>
              </a:rPr>
              <a:t>1.  </a:t>
            </a:r>
            <a:r>
              <a:rPr b="1" sz="1800">
                <a:solidFill>
                  <a:srgbClr val="1C2130"/>
                </a:solidFill>
                <a:latin typeface="Inter"/>
              </a:rPr>
              <a:t>Define tasks</a:t>
            </a:r>
            <a:r>
              <a:rPr sz="1800">
                <a:solidFill>
                  <a:srgbClr val="1C2130"/>
                </a:solidFill>
                <a:latin typeface="Inter"/>
              </a:rPr>
              <a:t> — what should the model do in specific, testable terms?</a:t>
            </a:r>
          </a:p>
          <a:p>
            <a:pPr>
              <a:spcAft>
                <a:spcPts val="400"/>
              </a:spcAft>
            </a:pPr>
            <a:r>
              <a:rPr sz="1800">
                <a:solidFill>
                  <a:srgbClr val="1C2130"/>
                </a:solidFill>
                <a:latin typeface="Inter"/>
              </a:rPr>
              <a:t>2.  </a:t>
            </a:r>
            <a:r>
              <a:rPr b="1" sz="1800">
                <a:solidFill>
                  <a:srgbClr val="1C2130"/>
                </a:solidFill>
                <a:latin typeface="Inter"/>
              </a:rPr>
              <a:t>Collect dataset</a:t>
            </a:r>
            <a:r>
              <a:rPr sz="1800">
                <a:solidFill>
                  <a:srgbClr val="1C2130"/>
                </a:solidFill>
                <a:latin typeface="Inter"/>
              </a:rPr>
              <a:t> — seed examples + production logs + synthetic pairs</a:t>
            </a:r>
          </a:p>
          <a:p>
            <a:pPr>
              <a:spcAft>
                <a:spcPts val="400"/>
              </a:spcAft>
            </a:pPr>
            <a:r>
              <a:rPr sz="1800">
                <a:solidFill>
                  <a:srgbClr val="1C2130"/>
                </a:solidFill>
                <a:latin typeface="Inter"/>
              </a:rPr>
              <a:t>3.  </a:t>
            </a:r>
            <a:r>
              <a:rPr b="1" sz="1800">
                <a:solidFill>
                  <a:srgbClr val="1C2130"/>
                </a:solidFill>
                <a:latin typeface="Inter"/>
              </a:rPr>
              <a:t>Choose metrics</a:t>
            </a:r>
            <a:r>
              <a:rPr sz="1800">
                <a:solidFill>
                  <a:srgbClr val="1C2130"/>
                </a:solidFill>
                <a:latin typeface="Inter"/>
              </a:rPr>
              <a:t> — 2–3 per task; align with business impact, not academic prestige</a:t>
            </a:r>
          </a:p>
          <a:p>
            <a:pPr>
              <a:spcAft>
                <a:spcPts val="400"/>
              </a:spcAft>
            </a:pPr>
            <a:r>
              <a:rPr sz="1800">
                <a:solidFill>
                  <a:srgbClr val="1C2130"/>
                </a:solidFill>
                <a:latin typeface="Inter"/>
              </a:rPr>
              <a:t>4.  </a:t>
            </a:r>
            <a:r>
              <a:rPr b="1" sz="1800">
                <a:solidFill>
                  <a:srgbClr val="1C2130"/>
                </a:solidFill>
                <a:latin typeface="Inter"/>
              </a:rPr>
              <a:t>Run evaluator</a:t>
            </a:r>
            <a:r>
              <a:rPr sz="1800">
                <a:solidFill>
                  <a:srgbClr val="1C2130"/>
                </a:solidFill>
                <a:latin typeface="Inter"/>
              </a:rPr>
              <a:t> — automated scoring, then sample human review of failures</a:t>
            </a:r>
          </a:p>
          <a:p>
            <a:pPr>
              <a:spcAft>
                <a:spcPts val="400"/>
              </a:spcAft>
            </a:pPr>
            <a:r>
              <a:rPr sz="1800">
                <a:solidFill>
                  <a:srgbClr val="1C2130"/>
                </a:solidFill>
                <a:latin typeface="Inter"/>
              </a:rPr>
              <a:t>5.  </a:t>
            </a:r>
            <a:r>
              <a:rPr b="1" sz="1800">
                <a:solidFill>
                  <a:srgbClr val="1C2130"/>
                </a:solidFill>
                <a:latin typeface="Inter"/>
              </a:rPr>
              <a:t>Track &amp; gate</a:t>
            </a:r>
            <a:r>
              <a:rPr sz="1800">
                <a:solidFill>
                  <a:srgbClr val="1C2130"/>
                </a:solidFill>
                <a:latin typeface="Inter"/>
              </a:rPr>
              <a:t> — CI threshold gates block regressions before deployment</a:t>
            </a:r>
          </a:p>
        </p:txBody>
      </p:sp>
      <p:sp>
        <p:nvSpPr>
          <p:cNvPr id="7" name="Rounded Rectangle 6"/>
          <p:cNvSpPr/>
          <p:nvPr/>
        </p:nvSpPr>
        <p:spPr>
          <a:xfrm>
            <a:off x="548640" y="3108960"/>
            <a:ext cx="11094415" cy="585216"/>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18688"/>
            <a:ext cx="10637215" cy="365760"/>
          </a:xfrm>
          <a:prstGeom prst="rect">
            <a:avLst/>
          </a:prstGeom>
          <a:noFill/>
        </p:spPr>
        <p:txBody>
          <a:bodyPr wrap="square" lIns="45720" rIns="45720" tIns="18288" bIns="18288" anchor="t">
            <a:spAutoFit/>
          </a:bodyPr>
          <a:lstStyle/>
          <a:p>
            <a:pPr algn="l"/>
            <a:r>
              <a:rPr sz="1600">
                <a:solidFill>
                  <a:srgbClr val="1C2130"/>
                </a:solidFill>
                <a:latin typeface="Inter"/>
              </a:rPr>
              <a:t>The pipeline only works if it runs on every change. Treat evals like unit tests.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3715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A4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0180015" y="274320"/>
            <a:ext cx="1645920" cy="309981"/>
          </a:xfrm>
          <a:noFill/>
          <a:prstGeom prst="rect">
            <a:avLst/>
          </a:prstGeom>
        </p:spPr>
      </p:pic>
      <p:sp>
        <p:nvSpPr>
          <p:cNvPr id="4" name="TextBox 3"/>
          <p:cNvSpPr txBox="1"/>
          <p:nvPr/>
        </p:nvSpPr>
        <p:spPr>
          <a:xfrm>
            <a:off x="548640" y="2103120"/>
            <a:ext cx="11094415" cy="1097280"/>
          </a:xfrm>
          <a:prstGeom prst="rect">
            <a:avLst/>
          </a:prstGeom>
          <a:noFill/>
        </p:spPr>
        <p:txBody>
          <a:bodyPr wrap="square" lIns="45720" rIns="45720" tIns="18288" bIns="18288" anchor="t">
            <a:spAutoFit/>
          </a:bodyPr>
          <a:lstStyle/>
          <a:p>
            <a:pPr algn="ctr"/>
            <a:r>
              <a:rPr b="1" sz="6800">
                <a:solidFill>
                  <a:srgbClr val="FFFFFF"/>
                </a:solidFill>
                <a:latin typeface="Inter"/>
              </a:rPr>
              <a:t>Part 2</a:t>
            </a:r>
          </a:p>
        </p:txBody>
      </p:sp>
      <p:sp>
        <p:nvSpPr>
          <p:cNvPr id="5" name="TextBox 4"/>
          <p:cNvSpPr txBox="1"/>
          <p:nvPr/>
        </p:nvSpPr>
        <p:spPr>
          <a:xfrm>
            <a:off x="548640" y="3337560"/>
            <a:ext cx="11094415" cy="548640"/>
          </a:xfrm>
          <a:prstGeom prst="rect">
            <a:avLst/>
          </a:prstGeom>
          <a:noFill/>
        </p:spPr>
        <p:txBody>
          <a:bodyPr wrap="square" lIns="45720" rIns="45720" tIns="18288" bIns="18288" anchor="t">
            <a:spAutoFit/>
          </a:bodyPr>
          <a:lstStyle/>
          <a:p>
            <a:pPr algn="ctr"/>
            <a:r>
              <a:rPr sz="2600">
                <a:solidFill>
                  <a:srgbClr val="D1F0E8"/>
                </a:solidFill>
                <a:latin typeface="Inter"/>
              </a:rPr>
              <a:t>LLM Evals in VerifyWise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Learning objectives — Part 2</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sz="1800">
                <a:solidFill>
                  <a:srgbClr val="1C2130"/>
                </a:solidFill>
                <a:latin typeface="Inter"/>
              </a:rPr>
              <a:t>By the end of this section you will be able to:</a:t>
            </a:r>
          </a:p>
        </p:txBody>
      </p:sp>
      <p:sp>
        <p:nvSpPr>
          <p:cNvPr id="7" name="TextBox 6"/>
          <p:cNvSpPr txBox="1"/>
          <p:nvPr/>
        </p:nvSpPr>
        <p:spPr>
          <a:xfrm>
            <a:off x="548640" y="1453896"/>
            <a:ext cx="11094415" cy="2029968"/>
          </a:xfrm>
          <a:prstGeom prst="rect">
            <a:avLst/>
          </a:prstGeom>
          <a:noFill/>
        </p:spPr>
        <p:txBody>
          <a:bodyPr wrap="square" lIns="45720" tIns="18288">
            <a:spAutoFit/>
          </a:bodyPr>
          <a:lstStyle/>
          <a:p>
            <a:pPr>
              <a:spcAft>
                <a:spcPts val="400"/>
              </a:spcAft>
            </a:pPr>
            <a:r>
              <a:rPr sz="1800">
                <a:solidFill>
                  <a:srgbClr val="1C2130"/>
                </a:solidFill>
                <a:latin typeface="Inter"/>
              </a:rPr>
              <a:t>•  </a:t>
            </a:r>
            <a:r>
              <a:rPr b="1" sz="1800">
                <a:solidFill>
                  <a:srgbClr val="1C2130"/>
                </a:solidFill>
                <a:latin typeface="Inter"/>
              </a:rPr>
              <a:t>Add</a:t>
            </a:r>
            <a:r>
              <a:rPr sz="1800">
                <a:solidFill>
                  <a:srgbClr val="1C2130"/>
                </a:solidFill>
                <a:latin typeface="Inter"/>
              </a:rPr>
              <a:t> a model configuration in VerifyWise (provider, model name, API key)</a:t>
            </a:r>
          </a:p>
          <a:p>
            <a:pPr>
              <a:spcAft>
                <a:spcPts val="400"/>
              </a:spcAft>
            </a:pPr>
            <a:r>
              <a:rPr sz="1800">
                <a:solidFill>
                  <a:srgbClr val="1C2130"/>
                </a:solidFill>
                <a:latin typeface="Inter"/>
              </a:rPr>
              <a:t>•  </a:t>
            </a:r>
            <a:r>
              <a:rPr b="1" sz="1800">
                <a:solidFill>
                  <a:srgbClr val="1C2130"/>
                </a:solidFill>
                <a:latin typeface="Inter"/>
              </a:rPr>
              <a:t>Upload</a:t>
            </a:r>
            <a:r>
              <a:rPr sz="1800">
                <a:solidFill>
                  <a:srgbClr val="1C2130"/>
                </a:solidFill>
                <a:latin typeface="Inter"/>
              </a:rPr>
              <a:t> a dataset of question-answer pairs for evaluation</a:t>
            </a:r>
          </a:p>
          <a:p>
            <a:pPr>
              <a:spcAft>
                <a:spcPts val="400"/>
              </a:spcAft>
            </a:pPr>
            <a:r>
              <a:rPr sz="1800">
                <a:solidFill>
                  <a:srgbClr val="1C2130"/>
                </a:solidFill>
                <a:latin typeface="Inter"/>
              </a:rPr>
              <a:t>•  </a:t>
            </a:r>
            <a:r>
              <a:rPr b="1" sz="1800">
                <a:solidFill>
                  <a:srgbClr val="1C2130"/>
                </a:solidFill>
                <a:latin typeface="Inter"/>
              </a:rPr>
              <a:t>Configure</a:t>
            </a:r>
            <a:r>
              <a:rPr sz="1800">
                <a:solidFill>
                  <a:srgbClr val="1C2130"/>
                </a:solidFill>
                <a:latin typeface="Inter"/>
              </a:rPr>
              <a:t> a judge model and select evaluation metrics</a:t>
            </a:r>
          </a:p>
          <a:p>
            <a:pPr>
              <a:spcAft>
                <a:spcPts val="400"/>
              </a:spcAft>
            </a:pPr>
            <a:r>
              <a:rPr sz="1800">
                <a:solidFill>
                  <a:srgbClr val="1C2130"/>
                </a:solidFill>
                <a:latin typeface="Inter"/>
              </a:rPr>
              <a:t>•  </a:t>
            </a:r>
            <a:r>
              <a:rPr b="1" sz="1800">
                <a:solidFill>
                  <a:srgbClr val="1C2130"/>
                </a:solidFill>
                <a:latin typeface="Inter"/>
              </a:rPr>
              <a:t>Run</a:t>
            </a:r>
            <a:r>
              <a:rPr sz="1800">
                <a:solidFill>
                  <a:srgbClr val="1C2130"/>
                </a:solidFill>
                <a:latin typeface="Inter"/>
              </a:rPr>
              <a:t> an experiment and read the per-metric results</a:t>
            </a:r>
          </a:p>
          <a:p>
            <a:pPr>
              <a:spcAft>
                <a:spcPts val="400"/>
              </a:spcAft>
            </a:pPr>
            <a:r>
              <a:rPr sz="1800">
                <a:solidFill>
                  <a:srgbClr val="1C2130"/>
                </a:solidFill>
                <a:latin typeface="Inter"/>
              </a:rPr>
              <a:t>•  </a:t>
            </a:r>
            <a:r>
              <a:rPr b="1" sz="1800">
                <a:solidFill>
                  <a:srgbClr val="1C2130"/>
                </a:solidFill>
                <a:latin typeface="Inter"/>
              </a:rPr>
              <a:t>Interpret</a:t>
            </a:r>
            <a:r>
              <a:rPr sz="1800">
                <a:solidFill>
                  <a:srgbClr val="1C2130"/>
                </a:solidFill>
                <a:latin typeface="Inter"/>
              </a:rPr>
              <a:t> pass/fail thresholds and understand what the scores mean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Demo — Step 1: Add a model</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i="1" sz="1800">
                <a:solidFill>
                  <a:srgbClr val="1C2130"/>
                </a:solidFill>
                <a:latin typeface="Inter"/>
              </a:rPr>
              <a:t>[SCREENSHOT: Models page → Add model form with provider, model name, API key fields]</a:t>
            </a:r>
          </a:p>
        </p:txBody>
      </p:sp>
      <p:sp>
        <p:nvSpPr>
          <p:cNvPr id="7" name="TextBox 6"/>
          <p:cNvSpPr txBox="1"/>
          <p:nvPr/>
        </p:nvSpPr>
        <p:spPr>
          <a:xfrm>
            <a:off x="548640" y="1453896"/>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What you're doing:</a:t>
            </a:r>
            <a:r>
              <a:rPr sz="1800">
                <a:solidFill>
                  <a:srgbClr val="1C2130"/>
                </a:solidFill>
                <a:latin typeface="Inter"/>
              </a:rPr>
              <a:t> Registering the LLM you want to evaluate against your dataset.</a:t>
            </a:r>
          </a:p>
        </p:txBody>
      </p:sp>
      <p:sp>
        <p:nvSpPr>
          <p:cNvPr id="8" name="TextBox 7"/>
          <p:cNvSpPr txBox="1"/>
          <p:nvPr/>
        </p:nvSpPr>
        <p:spPr>
          <a:xfrm>
            <a:off x="548640" y="1901952"/>
            <a:ext cx="11094415" cy="1645919"/>
          </a:xfrm>
          <a:prstGeom prst="rect">
            <a:avLst/>
          </a:prstGeom>
          <a:noFill/>
        </p:spPr>
        <p:txBody>
          <a:bodyPr wrap="square" lIns="45720" tIns="18288">
            <a:spAutoFit/>
          </a:bodyPr>
          <a:lstStyle/>
          <a:p>
            <a:pPr>
              <a:spcAft>
                <a:spcPts val="400"/>
              </a:spcAft>
            </a:pPr>
            <a:r>
              <a:rPr sz="1800">
                <a:solidFill>
                  <a:srgbClr val="1C2130"/>
                </a:solidFill>
                <a:latin typeface="Inter"/>
              </a:rPr>
              <a:t>•  Navigate to </a:t>
            </a:r>
            <a:r>
              <a:rPr b="1" sz="1800">
                <a:solidFill>
                  <a:srgbClr val="1C2130"/>
                </a:solidFill>
                <a:latin typeface="Inter"/>
              </a:rPr>
              <a:t>LLM Evals → Models</a:t>
            </a:r>
          </a:p>
          <a:p>
            <a:pPr>
              <a:spcAft>
                <a:spcPts val="400"/>
              </a:spcAft>
            </a:pPr>
            <a:r>
              <a:rPr sz="1800">
                <a:solidFill>
                  <a:srgbClr val="1C2130"/>
                </a:solidFill>
                <a:latin typeface="Inter"/>
              </a:rPr>
              <a:t>•  Click </a:t>
            </a:r>
            <a:r>
              <a:rPr b="1" sz="1800">
                <a:solidFill>
                  <a:srgbClr val="1C2130"/>
                </a:solidFill>
                <a:latin typeface="Inter"/>
              </a:rPr>
              <a:t>Add model</a:t>
            </a:r>
          </a:p>
          <a:p>
            <a:pPr>
              <a:spcAft>
                <a:spcPts val="400"/>
              </a:spcAft>
            </a:pPr>
            <a:r>
              <a:rPr sz="1800">
                <a:solidFill>
                  <a:srgbClr val="1C2130"/>
                </a:solidFill>
                <a:latin typeface="Inter"/>
              </a:rPr>
              <a:t>•  Select provider (OpenAI, Anthropic, etc.) and enter the model name</a:t>
            </a:r>
          </a:p>
          <a:p>
            <a:pPr>
              <a:spcAft>
                <a:spcPts val="400"/>
              </a:spcAft>
            </a:pPr>
            <a:r>
              <a:rPr sz="1800">
                <a:solidFill>
                  <a:srgbClr val="1C2130"/>
                </a:solidFill>
                <a:latin typeface="Inter"/>
              </a:rPr>
              <a:t>•  Add your API key — stored encrypted, never logged</a:t>
            </a:r>
          </a:p>
        </p:txBody>
      </p:sp>
      <p:sp>
        <p:nvSpPr>
          <p:cNvPr id="9" name="Rounded Rectangle 8"/>
          <p:cNvSpPr/>
          <p:nvPr/>
        </p:nvSpPr>
        <p:spPr>
          <a:xfrm>
            <a:off x="548640" y="3621023"/>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30751"/>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The model you add here is the </a:t>
            </a:r>
            <a:r>
              <a:rPr i="1" sz="1600">
                <a:solidFill>
                  <a:srgbClr val="1C2130"/>
                </a:solidFill>
                <a:latin typeface="Inter"/>
              </a:rPr>
              <a:t>system under test</a:t>
            </a:r>
            <a:r>
              <a:rPr sz="1600">
                <a:solidFill>
                  <a:srgbClr val="1C2130"/>
                </a:solidFill>
                <a:latin typeface="Inter"/>
              </a:rPr>
              <a:t> — the one your application actually calls. The judge model is configured separately in the experiment.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Demo — Step 2: Add a dataset</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i="1" sz="1800">
                <a:solidFill>
                  <a:srgbClr val="1C2130"/>
                </a:solidFill>
                <a:latin typeface="Inter"/>
              </a:rPr>
              <a:t>[SCREENSHOT: Datasets page → Upload dataset dialog showing file format]</a:t>
            </a:r>
          </a:p>
        </p:txBody>
      </p:sp>
      <p:sp>
        <p:nvSpPr>
          <p:cNvPr id="7" name="TextBox 6"/>
          <p:cNvSpPr txBox="1"/>
          <p:nvPr/>
        </p:nvSpPr>
        <p:spPr>
          <a:xfrm>
            <a:off x="548640" y="1453896"/>
            <a:ext cx="11094415" cy="731519"/>
          </a:xfrm>
          <a:prstGeom prst="rect">
            <a:avLst/>
          </a:prstGeom>
          <a:noFill/>
        </p:spPr>
        <p:txBody>
          <a:bodyPr wrap="square" lIns="45720" rIns="45720" tIns="18288" bIns="18288" anchor="t">
            <a:spAutoFit/>
          </a:bodyPr>
          <a:lstStyle/>
          <a:p>
            <a:pPr algn="l"/>
            <a:r>
              <a:rPr b="1" sz="1800">
                <a:solidFill>
                  <a:srgbClr val="1C2130"/>
                </a:solidFill>
                <a:latin typeface="Inter"/>
              </a:rPr>
              <a:t>What you're doing:</a:t>
            </a:r>
            <a:r>
              <a:rPr sz="1800">
                <a:solidFill>
                  <a:srgbClr val="1C2130"/>
                </a:solidFill>
                <a:latin typeface="Inter"/>
              </a:rPr>
              <a:t> Providing the questions (and optionally expected answers) the model will be tested on.</a:t>
            </a:r>
          </a:p>
        </p:txBody>
      </p:sp>
      <p:sp>
        <p:nvSpPr>
          <p:cNvPr id="8" name="TextBox 7"/>
          <p:cNvSpPr txBox="1"/>
          <p:nvPr/>
        </p:nvSpPr>
        <p:spPr>
          <a:xfrm>
            <a:off x="548640" y="2231135"/>
            <a:ext cx="11094415" cy="1261872"/>
          </a:xfrm>
          <a:prstGeom prst="rect">
            <a:avLst/>
          </a:prstGeom>
          <a:noFill/>
        </p:spPr>
        <p:txBody>
          <a:bodyPr wrap="square" lIns="45720" tIns="18288">
            <a:spAutoFit/>
          </a:bodyPr>
          <a:lstStyle/>
          <a:p>
            <a:pPr>
              <a:spcAft>
                <a:spcPts val="400"/>
              </a:spcAft>
            </a:pPr>
            <a:r>
              <a:rPr sz="1800">
                <a:solidFill>
                  <a:srgbClr val="1C2130"/>
                </a:solidFill>
                <a:latin typeface="Inter"/>
              </a:rPr>
              <a:t>•  Navigate to </a:t>
            </a:r>
            <a:r>
              <a:rPr b="1" sz="1800">
                <a:solidFill>
                  <a:srgbClr val="1C2130"/>
                </a:solidFill>
                <a:latin typeface="Inter"/>
              </a:rPr>
              <a:t>LLM Evals → Datasets</a:t>
            </a:r>
          </a:p>
          <a:p>
            <a:pPr>
              <a:spcAft>
                <a:spcPts val="400"/>
              </a:spcAft>
            </a:pPr>
            <a:r>
              <a:rPr sz="1800">
                <a:solidFill>
                  <a:srgbClr val="1C2130"/>
                </a:solidFill>
                <a:latin typeface="Inter"/>
              </a:rPr>
              <a:t>•  Click </a:t>
            </a:r>
            <a:r>
              <a:rPr b="1" sz="1800">
                <a:solidFill>
                  <a:srgbClr val="1C2130"/>
                </a:solidFill>
                <a:latin typeface="Inter"/>
              </a:rPr>
              <a:t>Upload dataset</a:t>
            </a:r>
          </a:p>
          <a:p>
            <a:pPr>
              <a:spcAft>
                <a:spcPts val="400"/>
              </a:spcAft>
            </a:pPr>
            <a:r>
              <a:rPr sz="1800">
                <a:solidFill>
                  <a:srgbClr val="1C2130"/>
                </a:solidFill>
                <a:latin typeface="Inter"/>
              </a:rPr>
              <a:t>•  Upload a JSON file — each row needs at minimum an </a:t>
            </a:r>
            <a:r>
              <a:rPr sz="1700">
                <a:solidFill>
                  <a:srgbClr val="0F5A47"/>
                </a:solidFill>
                <a:latin typeface="Menlo"/>
              </a:rPr>
              <a:t>input</a:t>
            </a:r>
            <a:r>
              <a:rPr sz="1800">
                <a:solidFill>
                  <a:srgbClr val="1C2130"/>
                </a:solidFill>
                <a:latin typeface="Inter"/>
              </a:rPr>
              <a:t> field</a:t>
            </a:r>
          </a:p>
        </p:txBody>
      </p:sp>
      <p:sp>
        <p:nvSpPr>
          <p:cNvPr id="9" name="TextBox 8"/>
          <p:cNvSpPr txBox="1"/>
          <p:nvPr/>
        </p:nvSpPr>
        <p:spPr>
          <a:xfrm>
            <a:off x="548640" y="3566159"/>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Minimum dataset format:</a:t>
            </a:r>
          </a:p>
        </p:txBody>
      </p:sp>
      <p:sp>
        <p:nvSpPr>
          <p:cNvPr id="10" name="Rectangle 9"/>
          <p:cNvSpPr/>
          <p:nvPr/>
        </p:nvSpPr>
        <p:spPr>
          <a:xfrm>
            <a:off x="548640" y="4014215"/>
            <a:ext cx="11094415" cy="1298448"/>
          </a:xfrm>
          <a:prstGeom prst="rect">
            <a:avLst/>
          </a:prstGeom>
          <a:solidFill>
            <a:srgbClr val="F0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105655"/>
            <a:ext cx="10820095" cy="1115568"/>
          </a:xfrm>
          <a:prstGeom prst="rect">
            <a:avLst/>
          </a:prstGeom>
          <a:noFill/>
        </p:spPr>
        <p:txBody>
          <a:bodyPr wrap="square">
            <a:spAutoFit/>
          </a:bodyPr>
          <a:lstStyle/>
          <a:p>
            <a:pPr>
              <a:spcAft>
                <a:spcPts val="0"/>
              </a:spcAft>
            </a:pPr>
            <a:r>
              <a:rPr sz="1300">
                <a:solidFill>
                  <a:srgbClr val="0F5A47"/>
                </a:solidFill>
                <a:latin typeface="Menlo"/>
              </a:rPr>
              <a:t>[</a:t>
            </a:r>
          </a:p>
          <a:p>
            <a:pPr>
              <a:spcAft>
                <a:spcPts val="0"/>
              </a:spcAft>
            </a:pPr>
            <a:r>
              <a:rPr sz="1300">
                <a:solidFill>
                  <a:srgbClr val="0F5A47"/>
                </a:solidFill>
                <a:latin typeface="Menlo"/>
              </a:rPr>
              <a:t>  { "input": "What is the capital of France?", "expected_output": "Paris" },</a:t>
            </a:r>
          </a:p>
          <a:p>
            <a:pPr>
              <a:spcAft>
                <a:spcPts val="0"/>
              </a:spcAft>
            </a:pPr>
            <a:r>
              <a:rPr sz="1300">
                <a:solidFill>
                  <a:srgbClr val="0F5A47"/>
                </a:solidFill>
                <a:latin typeface="Menlo"/>
              </a:rPr>
              <a:t>  { "input": "Summarise the GDPR in one sentence.", "expected_output": "..." }</a:t>
            </a:r>
          </a:p>
          <a:p>
            <a:pPr>
              <a:spcAft>
                <a:spcPts val="0"/>
              </a:spcAft>
            </a:pPr>
            <a:r>
              <a:rPr sz="1300">
                <a:solidFill>
                  <a:srgbClr val="0F5A47"/>
                </a:solidFill>
                <a:latin typeface="Menlo"/>
              </a:rPr>
              <a:t>]</a:t>
            </a:r>
          </a:p>
        </p:txBody>
      </p:sp>
      <p:sp>
        <p:nvSpPr>
          <p:cNvPr id="12" name="Rounded Rectangle 11"/>
          <p:cNvSpPr/>
          <p:nvPr/>
        </p:nvSpPr>
        <p:spPr>
          <a:xfrm>
            <a:off x="548640" y="5404103"/>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513831"/>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Built-in datasets are also available for common tasks (chatbot Q&amp;A, summarisation, RAG). Use these to get started quickly.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Demo — Step 3: Configure the judge</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i="1" sz="1800">
                <a:solidFill>
                  <a:srgbClr val="1C2130"/>
                </a:solidFill>
                <a:latin typeface="Inter"/>
              </a:rPr>
              <a:t>[SCREENSHOT: New experiment form showing judge model selector and metric checkboxes]</a:t>
            </a:r>
          </a:p>
        </p:txBody>
      </p:sp>
      <p:sp>
        <p:nvSpPr>
          <p:cNvPr id="7" name="TextBox 6"/>
          <p:cNvSpPr txBox="1"/>
          <p:nvPr/>
        </p:nvSpPr>
        <p:spPr>
          <a:xfrm>
            <a:off x="548640" y="1453896"/>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What you're doing:</a:t>
            </a:r>
            <a:r>
              <a:rPr sz="1800">
                <a:solidFill>
                  <a:srgbClr val="1C2130"/>
                </a:solidFill>
                <a:latin typeface="Inter"/>
              </a:rPr>
              <a:t> Telling VerifyWise how to score each model response.</a:t>
            </a:r>
          </a:p>
        </p:txBody>
      </p:sp>
      <p:sp>
        <p:nvSpPr>
          <p:cNvPr id="8" name="TextBox 7"/>
          <p:cNvSpPr txBox="1"/>
          <p:nvPr/>
        </p:nvSpPr>
        <p:spPr>
          <a:xfrm>
            <a:off x="548640" y="1901952"/>
            <a:ext cx="11094415" cy="2029968"/>
          </a:xfrm>
          <a:prstGeom prst="rect">
            <a:avLst/>
          </a:prstGeom>
          <a:noFill/>
        </p:spPr>
        <p:txBody>
          <a:bodyPr wrap="square" lIns="45720" tIns="18288">
            <a:spAutoFit/>
          </a:bodyPr>
          <a:lstStyle/>
          <a:p>
            <a:pPr>
              <a:spcAft>
                <a:spcPts val="400"/>
              </a:spcAft>
            </a:pPr>
            <a:r>
              <a:rPr sz="1800">
                <a:solidFill>
                  <a:srgbClr val="1C2130"/>
                </a:solidFill>
                <a:latin typeface="Inter"/>
              </a:rPr>
              <a:t>•  Navigate to </a:t>
            </a:r>
            <a:r>
              <a:rPr b="1" sz="1800">
                <a:solidFill>
                  <a:srgbClr val="1C2130"/>
                </a:solidFill>
                <a:latin typeface="Inter"/>
              </a:rPr>
              <a:t>LLM Evals → Experiments → New experiment</a:t>
            </a:r>
          </a:p>
          <a:p>
            <a:pPr>
              <a:spcAft>
                <a:spcPts val="400"/>
              </a:spcAft>
            </a:pPr>
            <a:r>
              <a:rPr sz="1800">
                <a:solidFill>
                  <a:srgbClr val="1C2130"/>
                </a:solidFill>
                <a:latin typeface="Inter"/>
              </a:rPr>
              <a:t>•  Select the </a:t>
            </a:r>
            <a:r>
              <a:rPr b="1" sz="1800">
                <a:solidFill>
                  <a:srgbClr val="1C2130"/>
                </a:solidFill>
                <a:latin typeface="Inter"/>
              </a:rPr>
              <a:t>model</a:t>
            </a:r>
            <a:r>
              <a:rPr sz="1800">
                <a:solidFill>
                  <a:srgbClr val="1C2130"/>
                </a:solidFill>
                <a:latin typeface="Inter"/>
              </a:rPr>
              <a:t> (Step 1) and </a:t>
            </a:r>
            <a:r>
              <a:rPr b="1" sz="1800">
                <a:solidFill>
                  <a:srgbClr val="1C2130"/>
                </a:solidFill>
                <a:latin typeface="Inter"/>
              </a:rPr>
              <a:t>dataset</a:t>
            </a:r>
            <a:r>
              <a:rPr sz="1800">
                <a:solidFill>
                  <a:srgbClr val="1C2130"/>
                </a:solidFill>
                <a:latin typeface="Inter"/>
              </a:rPr>
              <a:t> (Step 2)</a:t>
            </a:r>
          </a:p>
          <a:p>
            <a:pPr>
              <a:spcAft>
                <a:spcPts val="400"/>
              </a:spcAft>
            </a:pPr>
            <a:r>
              <a:rPr sz="1800">
                <a:solidFill>
                  <a:srgbClr val="1C2130"/>
                </a:solidFill>
                <a:latin typeface="Inter"/>
              </a:rPr>
              <a:t>•  Choose the </a:t>
            </a:r>
            <a:r>
              <a:rPr b="1" sz="1800">
                <a:solidFill>
                  <a:srgbClr val="1C2130"/>
                </a:solidFill>
                <a:latin typeface="Inter"/>
              </a:rPr>
              <a:t>judge model</a:t>
            </a:r>
            <a:r>
              <a:rPr sz="1800">
                <a:solidFill>
                  <a:srgbClr val="1C2130"/>
                </a:solidFill>
                <a:latin typeface="Inter"/>
              </a:rPr>
              <a:t> — the LLM that scores responses (default: GPT-4o)</a:t>
            </a:r>
          </a:p>
          <a:p>
            <a:pPr>
              <a:spcAft>
                <a:spcPts val="400"/>
              </a:spcAft>
            </a:pPr>
            <a:r>
              <a:rPr sz="1800">
                <a:solidFill>
                  <a:srgbClr val="1C2130"/>
                </a:solidFill>
                <a:latin typeface="Inter"/>
              </a:rPr>
              <a:t>•  Select </a:t>
            </a:r>
            <a:r>
              <a:rPr b="1" sz="1800">
                <a:solidFill>
                  <a:srgbClr val="1C2130"/>
                </a:solidFill>
                <a:latin typeface="Inter"/>
              </a:rPr>
              <a:t>metrics:</a:t>
            </a:r>
            <a:r>
              <a:rPr sz="1800">
                <a:solidFill>
                  <a:srgbClr val="1C2130"/>
                </a:solidFill>
                <a:latin typeface="Inter"/>
              </a:rPr>
              <a:t> </a:t>
            </a:r>
            <a:r>
              <a:rPr sz="1700">
                <a:solidFill>
                  <a:srgbClr val="0F5A47"/>
                </a:solidFill>
                <a:latin typeface="Menlo"/>
              </a:rPr>
              <a:t>correctness</a:t>
            </a:r>
            <a:r>
              <a:rPr sz="1800">
                <a:solidFill>
                  <a:srgbClr val="1C2130"/>
                </a:solidFill>
                <a:latin typeface="Inter"/>
              </a:rPr>
              <a:t>, </a:t>
            </a:r>
            <a:r>
              <a:rPr sz="1700">
                <a:solidFill>
                  <a:srgbClr val="0F5A47"/>
                </a:solidFill>
                <a:latin typeface="Menlo"/>
              </a:rPr>
              <a:t>completeness</a:t>
            </a:r>
            <a:r>
              <a:rPr sz="1800">
                <a:solidFill>
                  <a:srgbClr val="1C2130"/>
                </a:solidFill>
                <a:latin typeface="Inter"/>
              </a:rPr>
              <a:t>, </a:t>
            </a:r>
            <a:r>
              <a:rPr sz="1700">
                <a:solidFill>
                  <a:srgbClr val="0F5A47"/>
                </a:solidFill>
                <a:latin typeface="Menlo"/>
              </a:rPr>
              <a:t>hallucination</a:t>
            </a:r>
            <a:r>
              <a:rPr sz="1800">
                <a:solidFill>
                  <a:srgbClr val="1C2130"/>
                </a:solidFill>
                <a:latin typeface="Inter"/>
              </a:rPr>
              <a:t>, </a:t>
            </a:r>
            <a:r>
              <a:rPr sz="1700">
                <a:solidFill>
                  <a:srgbClr val="0F5A47"/>
                </a:solidFill>
                <a:latin typeface="Menlo"/>
              </a:rPr>
              <a:t>answerRelevancy</a:t>
            </a:r>
          </a:p>
          <a:p>
            <a:pPr>
              <a:spcAft>
                <a:spcPts val="400"/>
              </a:spcAft>
            </a:pPr>
            <a:r>
              <a:rPr sz="1800">
                <a:solidFill>
                  <a:srgbClr val="1C2130"/>
                </a:solidFill>
                <a:latin typeface="Inter"/>
              </a:rPr>
              <a:t>•  Set the </a:t>
            </a:r>
            <a:r>
              <a:rPr b="1" sz="1800">
                <a:solidFill>
                  <a:srgbClr val="1C2130"/>
                </a:solidFill>
                <a:latin typeface="Inter"/>
              </a:rPr>
              <a:t>pass threshold</a:t>
            </a:r>
            <a:r>
              <a:rPr sz="1800">
                <a:solidFill>
                  <a:srgbClr val="1C2130"/>
                </a:solidFill>
                <a:latin typeface="Inter"/>
              </a:rPr>
              <a:t> (default 0.7 = 70%)</a:t>
            </a:r>
          </a:p>
        </p:txBody>
      </p:sp>
      <p:sp>
        <p:nvSpPr>
          <p:cNvPr id="9" name="Rounded Rectangle 8"/>
          <p:cNvSpPr/>
          <p:nvPr/>
        </p:nvSpPr>
        <p:spPr>
          <a:xfrm>
            <a:off x="548640" y="4005072"/>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The judge reads each </a:t>
            </a:r>
            <a:r>
              <a:rPr sz="1500">
                <a:solidFill>
                  <a:srgbClr val="0F5A47"/>
                </a:solidFill>
                <a:latin typeface="Menlo"/>
              </a:rPr>
              <a:t>{question, model_answer, expected_answer}</a:t>
            </a:r>
            <a:r>
              <a:rPr sz="1600">
                <a:solidFill>
                  <a:srgbClr val="1C2130"/>
                </a:solidFill>
                <a:latin typeface="Inter"/>
              </a:rPr>
              <a:t> triple and scores each metric independently using a structured rubric — not a formula.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Demo — Step 4: Run the evaluation</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i="1" sz="1800">
                <a:solidFill>
                  <a:srgbClr val="1C2130"/>
                </a:solidFill>
                <a:latin typeface="Inter"/>
              </a:rPr>
              <a:t>[SCREENSHOT: Experiment detail page showing running status / progress bar]</a:t>
            </a:r>
          </a:p>
        </p:txBody>
      </p:sp>
      <p:sp>
        <p:nvSpPr>
          <p:cNvPr id="7" name="TextBox 6"/>
          <p:cNvSpPr txBox="1"/>
          <p:nvPr/>
        </p:nvSpPr>
        <p:spPr>
          <a:xfrm>
            <a:off x="548640" y="1453896"/>
            <a:ext cx="11094415" cy="731519"/>
          </a:xfrm>
          <a:prstGeom prst="rect">
            <a:avLst/>
          </a:prstGeom>
          <a:noFill/>
        </p:spPr>
        <p:txBody>
          <a:bodyPr wrap="square" lIns="45720" rIns="45720" tIns="18288" bIns="18288" anchor="t">
            <a:spAutoFit/>
          </a:bodyPr>
          <a:lstStyle/>
          <a:p>
            <a:pPr algn="l"/>
            <a:r>
              <a:rPr b="1" sz="1800">
                <a:solidFill>
                  <a:srgbClr val="1C2130"/>
                </a:solidFill>
                <a:latin typeface="Inter"/>
              </a:rPr>
              <a:t>What you're doing:</a:t>
            </a:r>
            <a:r>
              <a:rPr sz="1800">
                <a:solidFill>
                  <a:srgbClr val="1C2130"/>
                </a:solidFill>
                <a:latin typeface="Inter"/>
              </a:rPr>
              <a:t> VerifyWise sends each dataset row to the model, collects responses, then sends each response to the judge for scoring.</a:t>
            </a:r>
          </a:p>
        </p:txBody>
      </p:sp>
      <p:sp>
        <p:nvSpPr>
          <p:cNvPr id="8" name="TextBox 7"/>
          <p:cNvSpPr txBox="1"/>
          <p:nvPr/>
        </p:nvSpPr>
        <p:spPr>
          <a:xfrm>
            <a:off x="548640" y="2231135"/>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What happens under the hood:</a:t>
            </a:r>
          </a:p>
        </p:txBody>
      </p:sp>
      <p:sp>
        <p:nvSpPr>
          <p:cNvPr id="9" name="TextBox 8"/>
          <p:cNvSpPr txBox="1"/>
          <p:nvPr/>
        </p:nvSpPr>
        <p:spPr>
          <a:xfrm>
            <a:off x="548640" y="2679191"/>
            <a:ext cx="11094415" cy="2029968"/>
          </a:xfrm>
          <a:prstGeom prst="rect">
            <a:avLst/>
          </a:prstGeom>
          <a:noFill/>
        </p:spPr>
        <p:txBody>
          <a:bodyPr wrap="square" lIns="45720">
            <a:spAutoFit/>
          </a:bodyPr>
          <a:lstStyle/>
          <a:p>
            <a:pPr>
              <a:spcAft>
                <a:spcPts val="400"/>
              </a:spcAft>
            </a:pPr>
            <a:r>
              <a:rPr sz="1800">
                <a:solidFill>
                  <a:srgbClr val="1C2130"/>
                </a:solidFill>
                <a:latin typeface="Inter"/>
              </a:rPr>
              <a:t>1.  For each row in the dataset, the model generates a response</a:t>
            </a:r>
          </a:p>
          <a:p>
            <a:pPr>
              <a:spcAft>
                <a:spcPts val="400"/>
              </a:spcAft>
            </a:pPr>
            <a:r>
              <a:rPr sz="1800">
                <a:solidFill>
                  <a:srgbClr val="1C2130"/>
                </a:solidFill>
                <a:latin typeface="Inter"/>
              </a:rPr>
              <a:t>2.  The judge model receives: </a:t>
            </a:r>
            <a:r>
              <a:rPr sz="1700">
                <a:solidFill>
                  <a:srgbClr val="0F5A47"/>
                </a:solidFill>
                <a:latin typeface="Menlo"/>
              </a:rPr>
              <a:t>question + model_response + expected_output (if present)</a:t>
            </a:r>
          </a:p>
          <a:p>
            <a:pPr>
              <a:spcAft>
                <a:spcPts val="400"/>
              </a:spcAft>
            </a:pPr>
            <a:r>
              <a:rPr sz="1800">
                <a:solidFill>
                  <a:srgbClr val="1C2130"/>
                </a:solidFill>
                <a:latin typeface="Inter"/>
              </a:rPr>
              <a:t>3.  The judge scores each metric on a 0–1 scale with a chain-of-thought explanation</a:t>
            </a:r>
          </a:p>
          <a:p>
            <a:pPr>
              <a:spcAft>
                <a:spcPts val="400"/>
              </a:spcAft>
            </a:pPr>
            <a:r>
              <a:rPr sz="1800">
                <a:solidFill>
                  <a:srgbClr val="1C2130"/>
                </a:solidFill>
                <a:latin typeface="Inter"/>
              </a:rPr>
              <a:t>4.  Scores are aggregated per metric across all rows</a:t>
            </a:r>
          </a:p>
          <a:p>
            <a:pPr>
              <a:spcAft>
                <a:spcPts val="400"/>
              </a:spcAft>
            </a:pPr>
            <a:r>
              <a:rPr sz="1800">
                <a:solidFill>
                  <a:srgbClr val="1C2130"/>
                </a:solidFill>
                <a:latin typeface="Inter"/>
              </a:rPr>
              <a:t>5.  Each metric is compared to the threshold → pass or fail</a:t>
            </a:r>
          </a:p>
        </p:txBody>
      </p:sp>
      <p:sp>
        <p:nvSpPr>
          <p:cNvPr id="10" name="Rounded Rectangle 9"/>
          <p:cNvSpPr/>
          <p:nvPr/>
        </p:nvSpPr>
        <p:spPr>
          <a:xfrm>
            <a:off x="548640" y="4782311"/>
            <a:ext cx="11094415" cy="896112"/>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92039"/>
            <a:ext cx="10637215" cy="676656"/>
          </a:xfrm>
          <a:prstGeom prst="rect">
            <a:avLst/>
          </a:prstGeom>
          <a:noFill/>
        </p:spPr>
        <p:txBody>
          <a:bodyPr wrap="square" lIns="45720" rIns="45720" tIns="18288" bIns="18288" anchor="t">
            <a:spAutoFit/>
          </a:bodyPr>
          <a:lstStyle/>
          <a:p>
            <a:pPr algn="l"/>
            <a:r>
              <a:rPr sz="1600">
                <a:solidFill>
                  <a:srgbClr val="1C2130"/>
                </a:solidFill>
                <a:latin typeface="Inter"/>
              </a:rPr>
              <a:t>Experiments are async — you can close the browser and come back. Results are stored permanently.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Demo — Step 5: Reading the results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402336"/>
          </a:xfrm>
          <a:prstGeom prst="rect">
            <a:avLst/>
          </a:prstGeom>
          <a:noFill/>
        </p:spPr>
        <p:txBody>
          <a:bodyPr wrap="square" lIns="45720" rIns="45720" tIns="18288" bIns="18288" anchor="t">
            <a:spAutoFit/>
          </a:bodyPr>
          <a:lstStyle/>
          <a:p>
            <a:pPr algn="l"/>
            <a:r>
              <a:rPr i="1" sz="1800">
                <a:solidFill>
                  <a:srgbClr val="1C2130"/>
                </a:solidFill>
                <a:latin typeface="Inter"/>
              </a:rPr>
              <a:t>[SCREENSHOT: Experiment results page showing per-metric scores and overall pass/fail]</a:t>
            </a:r>
          </a:p>
        </p:txBody>
      </p:sp>
      <p:sp>
        <p:nvSpPr>
          <p:cNvPr id="7" name="TextBox 6"/>
          <p:cNvSpPr txBox="1"/>
          <p:nvPr/>
        </p:nvSpPr>
        <p:spPr>
          <a:xfrm>
            <a:off x="548640" y="1453896"/>
            <a:ext cx="11094415" cy="402336"/>
          </a:xfrm>
          <a:prstGeom prst="rect">
            <a:avLst/>
          </a:prstGeom>
          <a:noFill/>
        </p:spPr>
        <p:txBody>
          <a:bodyPr wrap="square" lIns="45720" rIns="45720" tIns="18288" bIns="18288" anchor="t">
            <a:spAutoFit/>
          </a:bodyPr>
          <a:lstStyle/>
          <a:p>
            <a:pPr algn="l"/>
            <a:r>
              <a:rPr b="1" sz="1800">
                <a:solidFill>
                  <a:srgbClr val="1C2130"/>
                </a:solidFill>
                <a:latin typeface="Inter"/>
              </a:rPr>
              <a:t>What each number means:</a:t>
            </a:r>
          </a:p>
        </p:txBody>
      </p:sp>
      <p:graphicFrame>
        <p:nvGraphicFramePr>
          <p:cNvPr id="8" name="Table 7"/>
          <p:cNvGraphicFramePr>
            <a:graphicFrameLocks noGrp="1"/>
          </p:cNvGraphicFramePr>
          <p:nvPr/>
        </p:nvGraphicFramePr>
        <p:xfrm>
          <a:off x="548640" y="1901952"/>
          <a:ext cx="11094415" cy="1956815"/>
        </p:xfrm>
        <a:graphic>
          <a:graphicData uri="http://schemas.openxmlformats.org/drawingml/2006/table">
            <a:tbl>
              <a:tblPr firstRow="1" bandRow="1">
                <a:tableStyleId>{5C22544A-7EE6-4342-B048-85BDC9FD1C3A}</a:tableStyleId>
              </a:tblPr>
              <a:tblGrid>
                <a:gridCol w="3550212"/>
                <a:gridCol w="7544203"/>
              </a:tblGrid>
              <a:tr h="391363">
                <a:tc>
                  <a:txBody>
                    <a:bodyPr/>
                    <a:lstStyle/>
                    <a:p>
                      <a:r>
                        <a:rPr b="1" sz="1600">
                          <a:solidFill>
                            <a:srgbClr val="FFFFFF"/>
                          </a:solidFill>
                          <a:latin typeface="Inter"/>
                        </a:rPr>
                        <a:t>Result element</a:t>
                      </a:r>
                    </a:p>
                  </a:txBody>
                  <a:tcPr marL="91440" marR="91440" marT="54864" marB="54864" anchor="ctr">
                    <a:solidFill>
                      <a:srgbClr val="13715B"/>
                    </a:solidFill>
                  </a:tcPr>
                </a:tc>
                <a:tc>
                  <a:txBody>
                    <a:bodyPr/>
                    <a:lstStyle/>
                    <a:p>
                      <a:r>
                        <a:rPr b="1" sz="1600">
                          <a:solidFill>
                            <a:srgbClr val="FFFFFF"/>
                          </a:solidFill>
                          <a:latin typeface="Inter"/>
                        </a:rPr>
                        <a:t>What it tells you</a:t>
                      </a:r>
                    </a:p>
                  </a:txBody>
                  <a:tcPr marL="91440" marR="91440" marT="54864" marB="54864" anchor="ctr">
                    <a:solidFill>
                      <a:srgbClr val="13715B"/>
                    </a:solidFill>
                  </a:tcPr>
                </a:tc>
              </a:tr>
              <a:tr h="391363">
                <a:tc>
                  <a:txBody>
                    <a:bodyPr/>
                    <a:lstStyle/>
                    <a:p>
                      <a:r>
                        <a:rPr sz="1600">
                          <a:solidFill>
                            <a:srgbClr val="1C2130"/>
                          </a:solidFill>
                          <a:latin typeface="Inter"/>
                        </a:rPr>
                        <a:t>Overall: PASS / FAIL</a:t>
                      </a:r>
                    </a:p>
                  </a:txBody>
                  <a:tcPr marL="91440" marR="91440" marT="54864" marB="54864" anchor="ctr">
                    <a:solidFill>
                      <a:srgbClr val="FFFFFF"/>
                    </a:solidFill>
                  </a:tcPr>
                </a:tc>
                <a:tc>
                  <a:txBody>
                    <a:bodyPr/>
                    <a:lstStyle/>
                    <a:p>
                      <a:r>
                        <a:rPr sz="1600">
                          <a:solidFill>
                            <a:srgbClr val="1C2130"/>
                          </a:solidFill>
                          <a:latin typeface="Inter"/>
                        </a:rPr>
                        <a:t>Did every metric meet the threshold?</a:t>
                      </a:r>
                    </a:p>
                  </a:txBody>
                  <a:tcPr marL="91440" marR="91440" marT="54864" marB="54864" anchor="ctr">
                    <a:solidFill>
                      <a:srgbClr val="FFFFFF"/>
                    </a:solidFill>
                  </a:tcPr>
                </a:tc>
              </a:tr>
              <a:tr h="391363">
                <a:tc>
                  <a:txBody>
                    <a:bodyPr/>
                    <a:lstStyle/>
                    <a:p>
                      <a:r>
                        <a:rPr sz="1600">
                          <a:solidFill>
                            <a:srgbClr val="1C2130"/>
                          </a:solidFill>
                          <a:latin typeface="Inter"/>
                        </a:rPr>
                        <a:t>Per-metric score (e.g. correctness: 0.84)</a:t>
                      </a:r>
                    </a:p>
                  </a:txBody>
                  <a:tcPr marL="91440" marR="91440" marT="54864" marB="54864" anchor="ctr">
                    <a:solidFill>
                      <a:srgbClr val="FFFFFF"/>
                    </a:solidFill>
                  </a:tcPr>
                </a:tc>
                <a:tc>
                  <a:txBody>
                    <a:bodyPr/>
                    <a:lstStyle/>
                    <a:p>
                      <a:r>
                        <a:rPr sz="1600">
                          <a:solidFill>
                            <a:srgbClr val="1C2130"/>
                          </a:solidFill>
                          <a:latin typeface="Inter"/>
                        </a:rPr>
                        <a:t>Average judge score for that dimension across all rows</a:t>
                      </a:r>
                    </a:p>
                  </a:txBody>
                  <a:tcPr marL="91440" marR="91440" marT="54864" marB="54864" anchor="ctr">
                    <a:solidFill>
                      <a:srgbClr val="FFFFFF"/>
                    </a:solidFill>
                  </a:tcPr>
                </a:tc>
              </a:tr>
              <a:tr h="391363">
                <a:tc>
                  <a:txBody>
                    <a:bodyPr/>
                    <a:lstStyle/>
                    <a:p>
                      <a:r>
                        <a:rPr sz="1600">
                          <a:solidFill>
                            <a:srgbClr val="1C2130"/>
                          </a:solidFill>
                          <a:latin typeface="Inter"/>
                        </a:rPr>
                        <a:t>Per-row breakdown</a:t>
                      </a:r>
                    </a:p>
                  </a:txBody>
                  <a:tcPr marL="91440" marR="91440" marT="54864" marB="54864" anchor="ctr">
                    <a:solidFill>
                      <a:srgbClr val="FFFFFF"/>
                    </a:solidFill>
                  </a:tcPr>
                </a:tc>
                <a:tc>
                  <a:txBody>
                    <a:bodyPr/>
                    <a:lstStyle/>
                    <a:p>
                      <a:r>
                        <a:rPr sz="1600">
                          <a:solidFill>
                            <a:srgbClr val="1C2130"/>
                          </a:solidFill>
                          <a:latin typeface="Inter"/>
                        </a:rPr>
                        <a:t>Which specific questions the model struggled with</a:t>
                      </a:r>
                    </a:p>
                  </a:txBody>
                  <a:tcPr marL="91440" marR="91440" marT="54864" marB="54864" anchor="ctr">
                    <a:solidFill>
                      <a:srgbClr val="FFFFFF"/>
                    </a:solidFill>
                  </a:tcPr>
                </a:tc>
              </a:tr>
              <a:tr h="391363">
                <a:tc>
                  <a:txBody>
                    <a:bodyPr/>
                    <a:lstStyle/>
                    <a:p>
                      <a:r>
                        <a:rPr sz="1600">
                          <a:solidFill>
                            <a:srgbClr val="1C2130"/>
                          </a:solidFill>
                          <a:latin typeface="Inter"/>
                        </a:rPr>
                        <a:t>Judge reasoning</a:t>
                      </a:r>
                    </a:p>
                  </a:txBody>
                  <a:tcPr marL="91440" marR="91440" marT="54864" marB="54864" anchor="ctr">
                    <a:solidFill>
                      <a:srgbClr val="FFFFFF"/>
                    </a:solidFill>
                  </a:tcPr>
                </a:tc>
                <a:tc>
                  <a:txBody>
                    <a:bodyPr/>
                    <a:lstStyle/>
                    <a:p>
                      <a:r>
                        <a:rPr sz="1600">
                          <a:solidFill>
                            <a:srgbClr val="1C2130"/>
                          </a:solidFill>
                          <a:latin typeface="Inter"/>
                        </a:rPr>
                        <a:t>Why the judge gave that score — the chain-of-thought explanation</a:t>
                      </a:r>
                    </a:p>
                  </a:txBody>
                  <a:tcPr marL="91440" marR="91440" marT="54864" marB="54864" anchor="ctr">
                    <a:solidFill>
                      <a:srgbClr val="FFFFFF"/>
                    </a:solidFill>
                  </a:tcPr>
                </a:tc>
              </a:tr>
            </a:tbl>
          </a:graphicData>
        </a:graphic>
      </p:graphicFrame>
      <p:sp>
        <p:nvSpPr>
          <p:cNvPr id="9" name="Rounded Rectangle 8"/>
          <p:cNvSpPr/>
          <p:nvPr/>
        </p:nvSpPr>
        <p:spPr>
          <a:xfrm>
            <a:off x="548640" y="3950207"/>
            <a:ext cx="11094415" cy="1207008"/>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059935"/>
            <a:ext cx="10637215" cy="987552"/>
          </a:xfrm>
          <a:prstGeom prst="rect">
            <a:avLst/>
          </a:prstGeom>
          <a:noFill/>
        </p:spPr>
        <p:txBody>
          <a:bodyPr wrap="square" lIns="45720" rIns="45720" tIns="18288" bIns="18288" anchor="t">
            <a:spAutoFit/>
          </a:bodyPr>
          <a:lstStyle/>
          <a:p>
            <a:pPr algn="l"/>
            <a:r>
              <a:rPr sz="1600">
                <a:solidFill>
                  <a:srgbClr val="1C2130"/>
                </a:solidFill>
                <a:latin typeface="Inter"/>
              </a:rPr>
              <a:t>A score of 0.84 on correctness means: across your dataset, the judge rated the model's answers as 84% correct on average. Drill into the per-row view to see exactly which questions failed and why.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Model arena — side-by-side comparison</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Arena runs the same dataset against </a:t>
            </a:r>
            <a:r>
              <a:rPr b="1" sz="1800">
                <a:solidFill>
                  <a:srgbClr val="1C2130"/>
                </a:solidFill>
                <a:latin typeface="Inter"/>
              </a:rPr>
              <a:t>multiple model configurations simultaneously</a:t>
            </a:r>
            <a:r>
              <a:rPr sz="1800">
                <a:solidFill>
                  <a:srgbClr val="1C2130"/>
                </a:solidFill>
                <a:latin typeface="Inter"/>
              </a:rPr>
              <a:t> and uses a judge model to produce a head-to-head ranking.</a:t>
            </a:r>
          </a:p>
        </p:txBody>
      </p:sp>
      <p:sp>
        <p:nvSpPr>
          <p:cNvPr id="7" name="Rectangle 6"/>
          <p:cNvSpPr/>
          <p:nvPr/>
        </p:nvSpPr>
        <p:spPr>
          <a:xfrm>
            <a:off x="548640" y="1783079"/>
            <a:ext cx="11094415" cy="2578608"/>
          </a:xfrm>
          <a:prstGeom prst="rect">
            <a:avLst/>
          </a:prstGeom>
          <a:solidFill>
            <a:srgbClr val="F0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19"/>
            <a:ext cx="10820095" cy="2395728"/>
          </a:xfrm>
          <a:prstGeom prst="rect">
            <a:avLst/>
          </a:prstGeom>
          <a:noFill/>
        </p:spPr>
        <p:txBody>
          <a:bodyPr wrap="square">
            <a:spAutoFit/>
          </a:bodyPr>
          <a:lstStyle/>
          <a:p>
            <a:pPr>
              <a:spcAft>
                <a:spcPts val="0"/>
              </a:spcAft>
            </a:pPr>
            <a:r>
              <a:rPr sz="1300">
                <a:solidFill>
                  <a:srgbClr val="0F5A47"/>
                </a:solidFill>
                <a:latin typeface="Menlo"/>
              </a:rPr>
              <a:t>results = client.arena.compare_and_wait(</a:t>
            </a:r>
          </a:p>
          <a:p>
            <a:pPr>
              <a:spcAft>
                <a:spcPts val="0"/>
              </a:spcAft>
            </a:pPr>
            <a:r>
              <a:rPr sz="1300">
                <a:solidFill>
                  <a:srgbClr val="0F5A47"/>
                </a:solidFill>
                <a:latin typeface="Menlo"/>
              </a:rPr>
              <a:t>    contestants=[</a:t>
            </a:r>
          </a:p>
          <a:p>
            <a:pPr>
              <a:spcAft>
                <a:spcPts val="0"/>
              </a:spcAft>
            </a:pPr>
            <a:r>
              <a:rPr sz="1300">
                <a:solidFill>
                  <a:srgbClr val="0F5A47"/>
                </a:solidFill>
                <a:latin typeface="Menlo"/>
              </a:rPr>
              <a:t>        {"name": "GPT-4o-mini",  "hyperparameters": {"provider": "openai",     "model": "gpt-4o-mini"}},</a:t>
            </a:r>
          </a:p>
          <a:p>
            <a:pPr>
              <a:spcAft>
                <a:spcPts val="0"/>
              </a:spcAft>
            </a:pPr>
            <a:r>
              <a:rPr sz="1300">
                <a:solidFill>
                  <a:srgbClr val="0F5A47"/>
                </a:solidFill>
                <a:latin typeface="Menlo"/>
              </a:rPr>
              <a:t>        {"name": "Claude Haiku", "hyperparameters": {"provider": "anthropic", "model": "claude-3-5-haiku-20241022"}},</a:t>
            </a:r>
          </a:p>
          <a:p>
            <a:pPr>
              <a:spcAft>
                <a:spcPts val="0"/>
              </a:spcAft>
            </a:pPr>
            <a:r>
              <a:rPr sz="1300">
                <a:solidFill>
                  <a:srgbClr val="0F5A47"/>
                </a:solidFill>
                <a:latin typeface="Menlo"/>
              </a:rPr>
              <a:t>    ],</a:t>
            </a:r>
          </a:p>
          <a:p>
            <a:pPr>
              <a:spcAft>
                <a:spcPts val="0"/>
              </a:spcAft>
            </a:pPr>
            <a:r>
              <a:rPr sz="1300">
                <a:solidFill>
                  <a:srgbClr val="0F5A47"/>
                </a:solidFill>
                <a:latin typeface="Menlo"/>
              </a:rPr>
              <a:t>    dataset_id="2",</a:t>
            </a:r>
          </a:p>
          <a:p>
            <a:pPr>
              <a:spcAft>
                <a:spcPts val="0"/>
              </a:spcAft>
            </a:pPr>
            <a:r>
              <a:rPr sz="1300">
                <a:solidFill>
                  <a:srgbClr val="0F5A47"/>
                </a:solidFill>
                <a:latin typeface="Menlo"/>
              </a:rPr>
              <a:t>    judge_model="gpt-4o",</a:t>
            </a:r>
          </a:p>
          <a:p>
            <a:pPr>
              <a:spcAft>
                <a:spcPts val="0"/>
              </a:spcAft>
            </a:pPr>
            <a:r>
              <a:rPr sz="1300">
                <a:solidFill>
                  <a:srgbClr val="0F5A47"/>
                </a:solidFill>
                <a:latin typeface="Menlo"/>
              </a:rPr>
              <a:t>    timeout_minutes=15,</a:t>
            </a:r>
          </a:p>
          <a:p>
            <a:pPr>
              <a:spcAft>
                <a:spcPts val="0"/>
              </a:spcAft>
            </a:pPr>
            <a:r>
              <a:rPr sz="1300">
                <a:solidFill>
                  <a:srgbClr val="0F5A47"/>
                </a:solidFill>
                <a:latin typeface="Menlo"/>
              </a:rPr>
              <a:t>)</a:t>
            </a:r>
          </a:p>
        </p:txBody>
      </p:sp>
      <p:sp>
        <p:nvSpPr>
          <p:cNvPr id="9" name="TextBox 8"/>
          <p:cNvSpPr txBox="1"/>
          <p:nvPr/>
        </p:nvSpPr>
        <p:spPr>
          <a:xfrm>
            <a:off x="548640" y="4453127"/>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Use arena when: selecting a model for a new feature · validating a fine-tuned model against its base · benchmarking after a provider update.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CI/CD integration — Python SDK</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731519"/>
          </a:xfrm>
          <a:prstGeom prst="rect">
            <a:avLst/>
          </a:prstGeom>
          <a:noFill/>
        </p:spPr>
        <p:txBody>
          <a:bodyPr wrap="square" lIns="45720" rIns="45720" tIns="18288" bIns="18288" anchor="t">
            <a:spAutoFit/>
          </a:bodyPr>
          <a:lstStyle/>
          <a:p>
            <a:pPr algn="l"/>
            <a:r>
              <a:rPr sz="1800">
                <a:solidFill>
                  <a:srgbClr val="1C2130"/>
                </a:solidFill>
                <a:latin typeface="Inter"/>
              </a:rPr>
              <a:t>Gate deployments automatically: if evals fail, the pipeline exits non-zero and the deploy is blocked.</a:t>
            </a:r>
          </a:p>
        </p:txBody>
      </p:sp>
      <p:sp>
        <p:nvSpPr>
          <p:cNvPr id="7" name="Rectangle 6"/>
          <p:cNvSpPr/>
          <p:nvPr/>
        </p:nvSpPr>
        <p:spPr>
          <a:xfrm>
            <a:off x="548640" y="1783079"/>
            <a:ext cx="11094415" cy="4626864"/>
          </a:xfrm>
          <a:prstGeom prst="rect">
            <a:avLst/>
          </a:prstGeom>
          <a:solidFill>
            <a:srgbClr val="F0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19"/>
            <a:ext cx="10820095" cy="4443984"/>
          </a:xfrm>
          <a:prstGeom prst="rect">
            <a:avLst/>
          </a:prstGeom>
          <a:noFill/>
        </p:spPr>
        <p:txBody>
          <a:bodyPr wrap="square">
            <a:spAutoFit/>
          </a:bodyPr>
          <a:lstStyle/>
          <a:p>
            <a:pPr>
              <a:spcAft>
                <a:spcPts val="0"/>
              </a:spcAft>
            </a:pPr>
            <a:r>
              <a:rPr sz="1300">
                <a:solidFill>
                  <a:srgbClr val="0F5A47"/>
                </a:solidFill>
                <a:latin typeface="Menlo"/>
              </a:rPr>
              <a:t>import sys</a:t>
            </a:r>
          </a:p>
          <a:p>
            <a:pPr>
              <a:spcAft>
                <a:spcPts val="0"/>
              </a:spcAft>
            </a:pPr>
            <a:r>
              <a:rPr sz="1300">
                <a:solidFill>
                  <a:srgbClr val="0F5A47"/>
                </a:solidFill>
                <a:latin typeface="Menlo"/>
              </a:rPr>
              <a:t>from verifywise import VerifyWiseClient</a:t>
            </a:r>
          </a:p>
          <a:p>
            <a:pPr>
              <a:spcAft>
                <a:spcPts val="0"/>
              </a:spcAft>
            </a:pPr>
            <a:r>
              <a:rPr sz="1300">
                <a:solidFill>
                  <a:srgbClr val="0F5A47"/>
                </a:solidFill>
                <a:latin typeface="Menlo"/>
              </a:rPr>
              <a:t/>
            </a:r>
          </a:p>
          <a:p>
            <a:pPr>
              <a:spcAft>
                <a:spcPts val="0"/>
              </a:spcAft>
            </a:pPr>
            <a:r>
              <a:rPr sz="1300">
                <a:solidFill>
                  <a:srgbClr val="0F5A47"/>
                </a:solidFill>
                <a:latin typeface="Menlo"/>
              </a:rPr>
              <a:t>client = VerifyWiseClient(api_url=os.environ["VW_API_URL"], token=os.environ["VW_API_TOKEN"])</a:t>
            </a:r>
          </a:p>
          <a:p>
            <a:pPr>
              <a:spcAft>
                <a:spcPts val="0"/>
              </a:spcAft>
            </a:pPr>
            <a:r>
              <a:rPr sz="1300">
                <a:solidFill>
                  <a:srgbClr val="0F5A47"/>
                </a:solidFill>
                <a:latin typeface="Menlo"/>
              </a:rPr>
              <a:t/>
            </a:r>
          </a:p>
          <a:p>
            <a:pPr>
              <a:spcAft>
                <a:spcPts val="0"/>
              </a:spcAft>
            </a:pPr>
            <a:r>
              <a:rPr sz="1300">
                <a:solidFill>
                  <a:srgbClr val="0F5A47"/>
                </a:solidFill>
                <a:latin typeface="Menlo"/>
              </a:rPr>
              <a:t>results = client.experiments.run_and_wait(</a:t>
            </a:r>
          </a:p>
          <a:p>
            <a:pPr>
              <a:spcAft>
                <a:spcPts val="0"/>
              </a:spcAft>
            </a:pPr>
            <a:r>
              <a:rPr sz="1300">
                <a:solidFill>
                  <a:srgbClr val="0F5A47"/>
                </a:solidFill>
                <a:latin typeface="Menlo"/>
              </a:rPr>
              <a:t>    project_id=os.environ["VW_PROJECT_ID"],</a:t>
            </a:r>
          </a:p>
          <a:p>
            <a:pPr>
              <a:spcAft>
                <a:spcPts val="0"/>
              </a:spcAft>
            </a:pPr>
            <a:r>
              <a:rPr sz="1300">
                <a:solidFill>
                  <a:srgbClr val="0F5A47"/>
                </a:solidFill>
                <a:latin typeface="Menlo"/>
              </a:rPr>
              <a:t>    name=f"CI — {os.environ.get('GITHUB_SHA', 'local')[:8]}",</a:t>
            </a:r>
          </a:p>
          <a:p>
            <a:pPr>
              <a:spcAft>
                <a:spcPts val="0"/>
              </a:spcAft>
            </a:pPr>
            <a:r>
              <a:rPr sz="1300">
                <a:solidFill>
                  <a:srgbClr val="0F5A47"/>
                </a:solidFill>
                <a:latin typeface="Menlo"/>
              </a:rPr>
              <a:t>    model_name="gpt-4o-mini",</a:t>
            </a:r>
          </a:p>
          <a:p>
            <a:pPr>
              <a:spcAft>
                <a:spcPts val="0"/>
              </a:spcAft>
            </a:pPr>
            <a:r>
              <a:rPr sz="1300">
                <a:solidFill>
                  <a:srgbClr val="0F5A47"/>
                </a:solidFill>
                <a:latin typeface="Menlo"/>
              </a:rPr>
              <a:t>    model_provider="openai",</a:t>
            </a:r>
          </a:p>
          <a:p>
            <a:pPr>
              <a:spcAft>
                <a:spcPts val="0"/>
              </a:spcAft>
            </a:pPr>
            <a:r>
              <a:rPr sz="1300">
                <a:solidFill>
                  <a:srgbClr val="0F5A47"/>
                </a:solidFill>
                <a:latin typeface="Menlo"/>
              </a:rPr>
              <a:t>    dataset_id=os.environ["VW_DATASET_ID"],</a:t>
            </a:r>
          </a:p>
          <a:p>
            <a:pPr>
              <a:spcAft>
                <a:spcPts val="0"/>
              </a:spcAft>
            </a:pPr>
            <a:r>
              <a:rPr sz="1300">
                <a:solidFill>
                  <a:srgbClr val="0F5A47"/>
                </a:solidFill>
                <a:latin typeface="Menlo"/>
              </a:rPr>
              <a:t>    metrics=["correctness", "completeness", "hallucination"],</a:t>
            </a:r>
          </a:p>
          <a:p>
            <a:pPr>
              <a:spcAft>
                <a:spcPts val="0"/>
              </a:spcAft>
            </a:pPr>
            <a:r>
              <a:rPr sz="1300">
                <a:solidFill>
                  <a:srgbClr val="0F5A47"/>
                </a:solidFill>
                <a:latin typeface="Menlo"/>
              </a:rPr>
              <a:t>    threshold=0.7,</a:t>
            </a:r>
          </a:p>
          <a:p>
            <a:pPr>
              <a:spcAft>
                <a:spcPts val="0"/>
              </a:spcAft>
            </a:pPr>
            <a:r>
              <a:rPr sz="1300">
                <a:solidFill>
                  <a:srgbClr val="0F5A47"/>
                </a:solidFill>
                <a:latin typeface="Menlo"/>
              </a:rPr>
              <a:t>)</a:t>
            </a:r>
          </a:p>
          <a:p>
            <a:pPr>
              <a:spcAft>
                <a:spcPts val="0"/>
              </a:spcAft>
            </a:pPr>
            <a:r>
              <a:rPr sz="1300">
                <a:solidFill>
                  <a:srgbClr val="0F5A47"/>
                </a:solidFill>
                <a:latin typeface="Menlo"/>
              </a:rPr>
              <a:t/>
            </a:r>
          </a:p>
          <a:p>
            <a:pPr>
              <a:spcAft>
                <a:spcPts val="0"/>
              </a:spcAft>
            </a:pPr>
            <a:r>
              <a:rPr sz="1300">
                <a:solidFill>
                  <a:srgbClr val="0F5A47"/>
                </a:solidFill>
                <a:latin typeface="Menlo"/>
              </a:rPr>
              <a:t>if not results.passed:</a:t>
            </a:r>
          </a:p>
          <a:p>
            <a:pPr>
              <a:spcAft>
                <a:spcPts val="0"/>
              </a:spcAft>
            </a:pPr>
            <a:r>
              <a:rPr sz="1300">
                <a:solidFill>
                  <a:srgbClr val="0F5A47"/>
                </a:solidFill>
                <a:latin typeface="Menlo"/>
              </a:rPr>
              <a:t>    sys.exit(1)   # Block the deployment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Key takeaways</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05840"/>
          <a:ext cx="11094415" cy="2348178"/>
        </p:xfrm>
        <a:graphic>
          <a:graphicData uri="http://schemas.openxmlformats.org/drawingml/2006/table">
            <a:tbl>
              <a:tblPr firstRow="1" bandRow="1">
                <a:tableStyleId>{5C22544A-7EE6-4342-B048-85BDC9FD1C3A}</a:tableStyleId>
              </a:tblPr>
              <a:tblGrid>
                <a:gridCol w="3550212"/>
                <a:gridCol w="7544203"/>
              </a:tblGrid>
              <a:tr h="391363">
                <a:tc>
                  <a:txBody>
                    <a:bodyPr/>
                    <a:lstStyle/>
                    <a:p>
                      <a:r>
                        <a:rPr b="1" sz="1600">
                          <a:solidFill>
                            <a:srgbClr val="FFFFFF"/>
                          </a:solidFill>
                          <a:latin typeface="Inter"/>
                        </a:rPr>
                        <a:t>Concept</a:t>
                      </a:r>
                    </a:p>
                  </a:txBody>
                  <a:tcPr marL="91440" marR="91440" marT="54864" marB="54864" anchor="ctr">
                    <a:solidFill>
                      <a:srgbClr val="13715B"/>
                    </a:solidFill>
                  </a:tcPr>
                </a:tc>
                <a:tc>
                  <a:txBody>
                    <a:bodyPr/>
                    <a:lstStyle/>
                    <a:p>
                      <a:r>
                        <a:rPr b="1" sz="1600">
                          <a:solidFill>
                            <a:srgbClr val="FFFFFF"/>
                          </a:solidFill>
                          <a:latin typeface="Inter"/>
                        </a:rPr>
                        <a:t>One-line summary</a:t>
                      </a:r>
                    </a:p>
                  </a:txBody>
                  <a:tcPr marL="91440" marR="91440" marT="54864" marB="54864" anchor="ctr">
                    <a:solidFill>
                      <a:srgbClr val="13715B"/>
                    </a:solidFill>
                  </a:tcPr>
                </a:tc>
              </a:tr>
              <a:tr h="391363">
                <a:tc>
                  <a:txBody>
                    <a:bodyPr/>
                    <a:lstStyle/>
                    <a:p>
                      <a:r>
                        <a:rPr sz="1600">
                          <a:solidFill>
                            <a:srgbClr val="1C2130"/>
                          </a:solidFill>
                          <a:latin typeface="Inter"/>
                        </a:rPr>
                        <a:t>Why evals</a:t>
                      </a:r>
                    </a:p>
                  </a:txBody>
                  <a:tcPr marL="91440" marR="91440" marT="54864" marB="54864" anchor="ctr">
                    <a:solidFill>
                      <a:srgbClr val="FFFFFF"/>
                    </a:solidFill>
                  </a:tcPr>
                </a:tc>
                <a:tc>
                  <a:txBody>
                    <a:bodyPr/>
                    <a:lstStyle/>
                    <a:p>
                      <a:r>
                        <a:rPr sz="1600">
                          <a:solidFill>
                            <a:srgbClr val="1C2130"/>
                          </a:solidFill>
                          <a:latin typeface="Inter"/>
                        </a:rPr>
                        <a:t>Without measurement, AI governance is documentation theatre</a:t>
                      </a:r>
                    </a:p>
                  </a:txBody>
                  <a:tcPr marL="91440" marR="91440" marT="54864" marB="54864" anchor="ctr">
                    <a:solidFill>
                      <a:srgbClr val="FFFFFF"/>
                    </a:solidFill>
                  </a:tcPr>
                </a:tc>
              </a:tr>
              <a:tr h="391363">
                <a:tc>
                  <a:txBody>
                    <a:bodyPr/>
                    <a:lstStyle/>
                    <a:p>
                      <a:r>
                        <a:rPr sz="1600">
                          <a:solidFill>
                            <a:srgbClr val="1C2130"/>
                          </a:solidFill>
                          <a:latin typeface="Inter"/>
                        </a:rPr>
                        <a:t>Taxonomy</a:t>
                      </a:r>
                    </a:p>
                  </a:txBody>
                  <a:tcPr marL="91440" marR="91440" marT="54864" marB="54864" anchor="ctr">
                    <a:solidFill>
                      <a:srgbClr val="FFFFFF"/>
                    </a:solidFill>
                  </a:tcPr>
                </a:tc>
                <a:tc>
                  <a:txBody>
                    <a:bodyPr/>
                    <a:lstStyle/>
                    <a:p>
                      <a:r>
                        <a:rPr sz="1600">
                          <a:solidFill>
                            <a:srgbClr val="1C2130"/>
                          </a:solidFill>
                          <a:latin typeface="Inter"/>
                        </a:rPr>
                        <a:t>Automate 90%, human-review 10%; unit + E2E; benchmarks + slices</a:t>
                      </a:r>
                    </a:p>
                  </a:txBody>
                  <a:tcPr marL="91440" marR="91440" marT="54864" marB="54864" anchor="ctr">
                    <a:solidFill>
                      <a:srgbClr val="FFFFFF"/>
                    </a:solidFill>
                  </a:tcPr>
                </a:tc>
              </a:tr>
              <a:tr h="391363">
                <a:tc>
                  <a:txBody>
                    <a:bodyPr/>
                    <a:lstStyle/>
                    <a:p>
                      <a:r>
                        <a:rPr sz="1600">
                          <a:solidFill>
                            <a:srgbClr val="1C2130"/>
                          </a:solidFill>
                          <a:latin typeface="Inter"/>
                        </a:rPr>
                        <a:t>Metrics</a:t>
                      </a:r>
                    </a:p>
                  </a:txBody>
                  <a:tcPr marL="91440" marR="91440" marT="54864" marB="54864" anchor="ctr">
                    <a:solidFill>
                      <a:srgbClr val="FFFFFF"/>
                    </a:solidFill>
                  </a:tcPr>
                </a:tc>
                <a:tc>
                  <a:txBody>
                    <a:bodyPr/>
                    <a:lstStyle/>
                    <a:p>
                      <a:r>
                        <a:rPr sz="1600">
                          <a:solidFill>
                            <a:srgbClr val="1C2130"/>
                          </a:solidFill>
                          <a:latin typeface="Inter"/>
                        </a:rPr>
                        <a:t>Start with correctness, completeness, hallucination, answerRelevancy</a:t>
                      </a:r>
                    </a:p>
                  </a:txBody>
                  <a:tcPr marL="91440" marR="91440" marT="54864" marB="54864" anchor="ctr">
                    <a:solidFill>
                      <a:srgbClr val="FFFFFF"/>
                    </a:solidFill>
                  </a:tcPr>
                </a:tc>
              </a:tr>
              <a:tr h="391363">
                <a:tc>
                  <a:txBody>
                    <a:bodyPr/>
                    <a:lstStyle/>
                    <a:p>
                      <a:r>
                        <a:rPr sz="1600">
                          <a:solidFill>
                            <a:srgbClr val="1C2130"/>
                          </a:solidFill>
                          <a:latin typeface="Inter"/>
                        </a:rPr>
                        <a:t>VerifyWise</a:t>
                      </a:r>
                    </a:p>
                  </a:txBody>
                  <a:tcPr marL="91440" marR="91440" marT="54864" marB="54864" anchor="ctr">
                    <a:solidFill>
                      <a:srgbClr val="FFFFFF"/>
                    </a:solidFill>
                  </a:tcPr>
                </a:tc>
                <a:tc>
                  <a:txBody>
                    <a:bodyPr/>
                    <a:lstStyle/>
                    <a:p>
                      <a:r>
                        <a:rPr sz="1600">
                          <a:solidFill>
                            <a:srgbClr val="1C2130"/>
                          </a:solidFill>
                          <a:latin typeface="Inter"/>
                        </a:rPr>
                        <a:t>EvalServer runs experiments, Arena picks models, SDK gates CI</a:t>
                      </a:r>
                    </a:p>
                  </a:txBody>
                  <a:tcPr marL="91440" marR="91440" marT="54864" marB="54864" anchor="ctr">
                    <a:solidFill>
                      <a:srgbClr val="FFFFFF"/>
                    </a:solidFill>
                  </a:tcPr>
                </a:tc>
              </a:tr>
              <a:tr h="391363">
                <a:tc>
                  <a:txBody>
                    <a:bodyPr/>
                    <a:lstStyle/>
                    <a:p>
                      <a:r>
                        <a:rPr sz="1600">
                          <a:solidFill>
                            <a:srgbClr val="1C2130"/>
                          </a:solidFill>
                          <a:latin typeface="Inter"/>
                        </a:rPr>
                        <a:t>Compliance</a:t>
                      </a:r>
                    </a:p>
                  </a:txBody>
                  <a:tcPr marL="91440" marR="91440" marT="54864" marB="54864" anchor="ctr">
                    <a:solidFill>
                      <a:srgbClr val="FFFFFF"/>
                    </a:solidFill>
                  </a:tcPr>
                </a:tc>
                <a:tc>
                  <a:txBody>
                    <a:bodyPr/>
                    <a:lstStyle/>
                    <a:p>
                      <a:r>
                        <a:rPr sz="1600">
                          <a:solidFill>
                            <a:srgbClr val="1C2130"/>
                          </a:solidFill>
                          <a:latin typeface="Inter"/>
                        </a:rPr>
                        <a:t>Every experiment result is stored, org-isolated, and audit-ready</a:t>
                      </a:r>
                    </a:p>
                  </a:txBody>
                  <a:tcPr marL="91440" marR="91440" marT="54864" marB="54864" anchor="ctr">
                    <a:solidFill>
                      <a:srgbClr val="FFFFFF"/>
                    </a:solidFill>
                  </a:tcPr>
                </a:tc>
              </a:tr>
            </a:tbl>
          </a:graphicData>
        </a:graphic>
      </p:graphicFrame>
      <p:sp>
        <p:nvSpPr>
          <p:cNvPr id="7" name="Rounded Rectangle 6"/>
          <p:cNvSpPr/>
          <p:nvPr/>
        </p:nvSpPr>
        <p:spPr>
          <a:xfrm>
            <a:off x="548640" y="3445458"/>
            <a:ext cx="11094415" cy="585216"/>
          </a:xfrm>
          <a:prstGeom prst="roundRect">
            <a:avLst>
              <a:gd name="adj" fmla="val 6000"/>
            </a:avLst>
          </a:prstGeom>
          <a:solidFill>
            <a:srgbClr val="EAF4F0"/>
          </a:solidFill>
          <a:ln w="15875">
            <a:solidFill>
              <a:srgbClr val="137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555186"/>
            <a:ext cx="10637215" cy="365760"/>
          </a:xfrm>
          <a:prstGeom prst="rect">
            <a:avLst/>
          </a:prstGeom>
          <a:noFill/>
        </p:spPr>
        <p:txBody>
          <a:bodyPr wrap="square" lIns="45720" rIns="45720" tIns="18288" bIns="18288" anchor="t">
            <a:spAutoFit/>
          </a:bodyPr>
          <a:lstStyle/>
          <a:p>
            <a:pPr algn="l"/>
            <a:r>
              <a:rPr sz="1600">
                <a:solidFill>
                  <a:srgbClr val="1C2130"/>
                </a:solidFill>
                <a:latin typeface="Inter"/>
              </a:rPr>
              <a:t>Define → Measure → Improve. Repeat on every model or prompt change.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11406666" y="0"/>
            <a:ext cx="693589" cy="128016"/>
          </a:xfrm>
          <a:noFill/>
          <a:prstGeom prst="rect">
            <a:avLst/>
          </a:prstGeom>
        </p:spPr>
      </p:pic>
      <p:sp>
        <p:nvSpPr>
          <p:cNvPr id="4" name="TextBox 3"/>
          <p:cNvSpPr txBox="1"/>
          <p:nvPr/>
        </p:nvSpPr>
        <p:spPr>
          <a:xfrm>
            <a:off x="548640" y="228600"/>
            <a:ext cx="10637215" cy="640080"/>
          </a:xfrm>
          <a:prstGeom prst="rect">
            <a:avLst/>
          </a:prstGeom>
          <a:noFill/>
        </p:spPr>
        <p:txBody>
          <a:bodyPr wrap="square" lIns="45720" rIns="45720" tIns="18288" bIns="18288" anchor="t">
            <a:spAutoFit/>
          </a:bodyPr>
          <a:lstStyle/>
          <a:p>
            <a:pPr algn="l"/>
            <a:r>
              <a:rPr b="1" sz="3000">
                <a:solidFill>
                  <a:srgbClr val="13715B"/>
                </a:solidFill>
                <a:latin typeface="Inter"/>
              </a:rPr>
              <a:t>What's next</a:t>
            </a:r>
          </a:p>
        </p:txBody>
      </p:sp>
      <p:sp>
        <p:nvSpPr>
          <p:cNvPr id="5" name="Rectangle 4"/>
          <p:cNvSpPr/>
          <p:nvPr/>
        </p:nvSpPr>
        <p:spPr>
          <a:xfrm>
            <a:off x="548640" y="868680"/>
            <a:ext cx="1097280" cy="36576"/>
          </a:xfrm>
          <a:prstGeom prst="rect">
            <a:avLst/>
          </a:prstGeom>
          <a:solidFill>
            <a:srgbClr val="137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94415" cy="1389888"/>
          </a:xfrm>
          <a:prstGeom prst="rect">
            <a:avLst/>
          </a:prstGeom>
          <a:noFill/>
        </p:spPr>
        <p:txBody>
          <a:bodyPr wrap="square" lIns="45720" rIns="45720" tIns="18288" bIns="18288" anchor="t">
            <a:spAutoFit/>
          </a:bodyPr>
          <a:lstStyle/>
          <a:p>
            <a:pPr algn="l"/>
            <a:r>
              <a:rPr b="1" sz="1800">
                <a:solidFill>
                  <a:srgbClr val="1C2130"/>
                </a:solidFill>
                <a:latin typeface="Inter"/>
              </a:rPr>
              <a:t>This week</a:t>
            </a:r>
            <a:r>
              <a:rPr sz="1800">
                <a:solidFill>
                  <a:srgbClr val="1C2130"/>
                </a:solidFill>
                <a:latin typeface="Inter"/>
              </a:rPr>
              <a:t>
- Complete today's lab (create one project, upload a dataset, run an experiment)
- Attach the experiment result to a use case in the VerifyWise platform</a:t>
            </a:r>
          </a:p>
        </p:txBody>
      </p:sp>
      <p:sp>
        <p:nvSpPr>
          <p:cNvPr id="7" name="TextBox 6"/>
          <p:cNvSpPr txBox="1"/>
          <p:nvPr/>
        </p:nvSpPr>
        <p:spPr>
          <a:xfrm>
            <a:off x="548640" y="2441448"/>
            <a:ext cx="11094415" cy="1389888"/>
          </a:xfrm>
          <a:prstGeom prst="rect">
            <a:avLst/>
          </a:prstGeom>
          <a:noFill/>
        </p:spPr>
        <p:txBody>
          <a:bodyPr wrap="square" lIns="45720" rIns="45720" tIns="18288" bIns="18288" anchor="t">
            <a:spAutoFit/>
          </a:bodyPr>
          <a:lstStyle/>
          <a:p>
            <a:pPr algn="l"/>
            <a:r>
              <a:rPr b="1" sz="1800">
                <a:solidFill>
                  <a:srgbClr val="1C2130"/>
                </a:solidFill>
                <a:latin typeface="Inter"/>
              </a:rPr>
              <a:t>This month</a:t>
            </a:r>
            <a:r>
              <a:rPr sz="1800">
                <a:solidFill>
                  <a:srgbClr val="1C2130"/>
                </a:solidFill>
                <a:latin typeface="Inter"/>
              </a:rPr>
              <a:t>
- Add eval CI to one active AI feature in your environment
- Run an Arena comparison for any model decision pending a review</a:t>
            </a:r>
          </a:p>
        </p:txBody>
      </p:sp>
      <p:sp>
        <p:nvSpPr>
          <p:cNvPr id="8" name="TextBox 7"/>
          <p:cNvSpPr txBox="1"/>
          <p:nvPr/>
        </p:nvSpPr>
        <p:spPr>
          <a:xfrm>
            <a:off x="548640" y="3877056"/>
            <a:ext cx="11094415" cy="1389888"/>
          </a:xfrm>
          <a:prstGeom prst="rect">
            <a:avLst/>
          </a:prstGeom>
          <a:noFill/>
        </p:spPr>
        <p:txBody>
          <a:bodyPr wrap="square" lIns="45720" rIns="45720" tIns="18288" bIns="18288" anchor="t">
            <a:spAutoFit/>
          </a:bodyPr>
          <a:lstStyle/>
          <a:p>
            <a:pPr algn="l"/>
            <a:r>
              <a:rPr b="1" sz="1800">
                <a:solidFill>
                  <a:srgbClr val="1C2130"/>
                </a:solidFill>
                <a:latin typeface="Inter"/>
              </a:rPr>
              <a:t>This quarter</a:t>
            </a:r>
            <a:r>
              <a:rPr sz="1800">
                <a:solidFill>
                  <a:srgbClr val="1C2130"/>
                </a:solidFill>
                <a:latin typeface="Inter"/>
              </a:rPr>
              <a:t>
- Instrument all production-facing LLM features with automated evals
- Schedule a quarterly threshold review as part of your governance cadence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F5A47"/>
            </a:gs>
            <a:gs pos="100000">
              <a:srgbClr val="13715B"/>
            </a:gs>
          </a:gsLst>
          <a:lin ang="2700000" scaled="1"/>
        </a:gradFill>
        <a:effectLst/>
      </p:bgPr>
    </p:bg>
    <p:spTree>
      <p:nvGrpSpPr>
        <p:cNvPr id="1" name=""/>
        <p:cNvGrpSpPr/>
        <p:nvPr/>
      </p:nvGrpSpPr>
      <p:grpSpPr/>
      <p:sp>
        <p:nvSpPr>
          <p:cNvPr id="2" name="Rectangle 1"/>
          <p:cNvSpPr/>
          <p:nvPr/>
        </p:nvSpPr>
        <p:spPr>
          <a:xfrm>
            <a:off x="0" y="0"/>
            <a:ext cx="12191695" cy="73152"/>
          </a:xfrm>
          <a:prstGeom prst="rect">
            <a:avLst/>
          </a:prstGeom>
          <a:solidFill>
            <a:srgbClr val="0A4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erifywise-logo-full.png"/>
          <p:cNvPicPr>
            <a:picLocks noChangeAspect="1"/>
          </p:cNvPicPr>
          <p:nvPr/>
        </p:nvPicPr>
        <p:blipFill>
          <a:blip r:embed="rId2"/>
          <a:stretch>
            <a:fillRect/>
          </a:stretch>
        </p:blipFill>
        <p:spPr>
          <a:xfrm>
            <a:off x="4495647" y="822960"/>
            <a:ext cx="3200400" cy="602742"/>
          </a:xfrm>
          <a:noFill/>
          <a:prstGeom prst="rect">
            <a:avLst/>
          </a:prstGeom>
        </p:spPr>
      </p:pic>
      <p:sp>
        <p:nvSpPr>
          <p:cNvPr id="4" name="TextBox 3"/>
          <p:cNvSpPr txBox="1"/>
          <p:nvPr/>
        </p:nvSpPr>
        <p:spPr>
          <a:xfrm>
            <a:off x="548640" y="1745742"/>
            <a:ext cx="11094415" cy="1097280"/>
          </a:xfrm>
          <a:prstGeom prst="rect">
            <a:avLst/>
          </a:prstGeom>
          <a:noFill/>
        </p:spPr>
        <p:txBody>
          <a:bodyPr wrap="square" lIns="45720" rIns="45720" tIns="18288" bIns="18288" anchor="t">
            <a:spAutoFit/>
          </a:bodyPr>
          <a:lstStyle/>
          <a:p>
            <a:pPr algn="ctr"/>
            <a:r>
              <a:rPr b="1" sz="6000">
                <a:solidFill>
                  <a:srgbClr val="FFFFFF"/>
                </a:solidFill>
                <a:latin typeface="Inter"/>
              </a:rPr>
              <a:t>Thank you</a:t>
            </a:r>
          </a:p>
        </p:txBody>
      </p:sp>
      <p:sp>
        <p:nvSpPr>
          <p:cNvPr id="5" name="TextBox 4"/>
          <p:cNvSpPr txBox="1"/>
          <p:nvPr/>
        </p:nvSpPr>
        <p:spPr>
          <a:xfrm>
            <a:off x="548640" y="2888742"/>
            <a:ext cx="11094415" cy="640080"/>
          </a:xfrm>
          <a:prstGeom prst="rect">
            <a:avLst/>
          </a:prstGeom>
          <a:noFill/>
        </p:spPr>
        <p:txBody>
          <a:bodyPr wrap="square" lIns="45720" rIns="45720" tIns="18288" bIns="18288" anchor="t">
            <a:spAutoFit/>
          </a:bodyPr>
          <a:lstStyle/>
          <a:p>
            <a:pPr algn="ctr"/>
          </a:p>
        </p:txBody>
      </p:sp>
      <p:sp>
        <p:nvSpPr>
          <p:cNvPr id="6" name="Rectangle 5"/>
          <p:cNvSpPr/>
          <p:nvPr/>
        </p:nvSpPr>
        <p:spPr>
          <a:xfrm>
            <a:off x="3657600" y="3711702"/>
            <a:ext cx="4876495" cy="228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912870"/>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Questions?</a:t>
            </a:r>
          </a:p>
        </p:txBody>
      </p:sp>
      <p:sp>
        <p:nvSpPr>
          <p:cNvPr id="8" name="TextBox 7"/>
          <p:cNvSpPr txBox="1"/>
          <p:nvPr/>
        </p:nvSpPr>
        <p:spPr>
          <a:xfrm>
            <a:off x="548640" y="4296918"/>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app.verifywise.ai</a:t>
            </a:r>
          </a:p>
        </p:txBody>
      </p:sp>
      <p:sp>
        <p:nvSpPr>
          <p:cNvPr id="9" name="TextBox 8"/>
          <p:cNvSpPr txBox="1"/>
          <p:nvPr/>
        </p:nvSpPr>
        <p:spPr>
          <a:xfrm>
            <a:off x="548640" y="4680966"/>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verifywise.ai/user-docs</a:t>
            </a:r>
          </a:p>
        </p:txBody>
      </p:sp>
      <p:sp>
        <p:nvSpPr>
          <p:cNvPr id="10" name="TextBox 9"/>
          <p:cNvSpPr txBox="1"/>
          <p:nvPr/>
        </p:nvSpPr>
        <p:spPr>
          <a:xfrm>
            <a:off x="548640" y="5065014"/>
            <a:ext cx="11094415" cy="347472"/>
          </a:xfrm>
          <a:prstGeom prst="rect">
            <a:avLst/>
          </a:prstGeom>
          <a:noFill/>
        </p:spPr>
        <p:txBody>
          <a:bodyPr wrap="square" lIns="45720" rIns="45720" tIns="18288" bIns="18288" anchor="t">
            <a:spAutoFit/>
          </a:bodyPr>
          <a:lstStyle/>
          <a:p>
            <a:pPr algn="ctr"/>
            <a:r>
              <a:rPr sz="1700">
                <a:solidFill>
                  <a:srgbClr val="D1F0E8"/>
                </a:solidFill>
                <a:latin typeface="Inter"/>
              </a:rPr>
              <a:t>Efe Acar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
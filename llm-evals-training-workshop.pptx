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83" r:id="rId23"/>
    <p:sldId id="277" r:id="rId24"/>
    <p:sldId id="278" r:id="rId25"/>
    <p:sldId id="279" r:id="rId26"/>
    <p:sldId id="280" r:id="rId27"/>
    <p:sldId id="282"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3"/>
    <p:restoredTop sz="94568"/>
  </p:normalViewPr>
  <p:slideViewPr>
    <p:cSldViewPr snapToGrid="0" snapToObjects="1">
      <p:cViewPr varScale="1">
        <p:scale>
          <a:sx n="150" d="100"/>
          <a:sy n="150" d="100"/>
        </p:scale>
        <p:origin x="904" y="1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700921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Welcome attendees. Today's session runs 1 hour: 20 minutes of slides (theory + </a:t>
            </a:r>
            <a:r>
              <a:rPr sz="1200" dirty="0" err="1">
                <a:latin typeface="Inter"/>
              </a:rPr>
              <a:t>VerifyWise</a:t>
            </a:r>
            <a:r>
              <a:rPr sz="1200" dirty="0">
                <a:latin typeface="Inter"/>
              </a:rPr>
              <a:t> demo), then a hands-on lab and Q&amp;A. Confirm everyone has access to </a:t>
            </a:r>
            <a:r>
              <a:rPr sz="1200" dirty="0" err="1">
                <a:latin typeface="Inter"/>
              </a:rPr>
              <a:t>VerifyWise</a:t>
            </a:r>
            <a:r>
              <a:rPr sz="1200" dirty="0">
                <a:latin typeface="Inter"/>
              </a:rPr>
              <a:t>. Ask: how many have run an eval before?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Keep the pace brisk — the deck is intentionally lean. All deeper discussion moves to the lab or Q&amp;A. Ask attendees to hold questions until after each section.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err="1">
                <a:latin typeface="Inter"/>
              </a:rPr>
              <a:t>Emphasise</a:t>
            </a:r>
            <a:r>
              <a:rPr sz="1200" dirty="0">
                <a:latin typeface="Inter"/>
              </a:rPr>
              <a:t> "probabilistic" — models don't give the same answer twice. This is what makes gut-feel insufficient and why we need a systematic process. Probe the room: "How do you currently know if your LLM is giving good answers?"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The compliance row lands well with this audience. Article 9 of the EU AI Act requires high-risk AI systems to have a quality management system including performance monitoring — evals are that system. Ask: "Who here has had a model update break something in production?"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This is the key bridge slide for this audience. Ask: "Which of these frameworks applies to your </a:t>
            </a:r>
            <a:r>
              <a:rPr sz="1200" dirty="0" err="1">
                <a:latin typeface="Inter"/>
              </a:rPr>
              <a:t>organisation</a:t>
            </a:r>
            <a:r>
              <a:rPr sz="1200" dirty="0">
                <a:latin typeface="Inter"/>
              </a:rPr>
              <a:t>?" Most will say EU AI Act. </a:t>
            </a:r>
            <a:r>
              <a:rPr sz="1200" dirty="0" err="1">
                <a:latin typeface="Inter"/>
              </a:rPr>
              <a:t>Emphasise</a:t>
            </a:r>
            <a:r>
              <a:rPr sz="1200" dirty="0">
                <a:latin typeface="Inter"/>
              </a:rPr>
              <a:t>: Article 9 says you must have a quality management system — evals are the measurable component of that system. Without stored, auditable eval results, your QMS is a policy document with no supporting evidence. </a:t>
            </a:r>
            <a:r>
              <a:rPr sz="1200" dirty="0" err="1">
                <a:latin typeface="Inter"/>
              </a:rPr>
              <a:t>VerifyWise</a:t>
            </a:r>
            <a:r>
              <a:rPr sz="1200" dirty="0">
                <a:latin typeface="Inter"/>
              </a:rPr>
              <a:t> stores every experiment result with timestamps, org isolation, and links to use cases.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Draw the forward-pass on a whiteboard if possible — input tokens → embedding → N transformer layers → logits → </a:t>
            </a:r>
            <a:r>
              <a:rPr sz="1200" dirty="0" err="1">
                <a:latin typeface="Inter"/>
              </a:rPr>
              <a:t>softmax</a:t>
            </a:r>
            <a:r>
              <a:rPr sz="1200" dirty="0">
                <a:latin typeface="Inter"/>
              </a:rPr>
              <a:t> → sample. The key point: there is no lookup table of facts, no database check. The model's "knowledge" is entirely in its weights, compressed from the training corpus. This explains why the same model can be confidently wrong and why temperature &gt; 0 produces different answers each run.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The "confidence miscalibration" row is the hardest to explain. Contrast with a search engine: Google returns "no results" when unsure. GPT-4o returns a confident sentence regardless. The model was trained to always complete the text — silence was </a:t>
            </a:r>
            <a:r>
              <a:rPr sz="1200" dirty="0" err="1">
                <a:latin typeface="Inter"/>
              </a:rPr>
              <a:t>penalised</a:t>
            </a:r>
            <a:r>
              <a:rPr sz="1200" dirty="0">
                <a:latin typeface="Inter"/>
              </a:rPr>
              <a:t> during RLHF. Point to </a:t>
            </a:r>
            <a:r>
              <a:rPr sz="1200" dirty="0" err="1">
                <a:latin typeface="Inter"/>
              </a:rPr>
              <a:t>TruthfulQA</a:t>
            </a:r>
            <a:r>
              <a:rPr sz="1200" dirty="0">
                <a:latin typeface="Inter"/>
              </a:rPr>
              <a:t> as the standard benchmark for measuring hallucination rate. </a:t>
            </a:r>
            <a:r>
              <a:rPr sz="1200" dirty="0" err="1">
                <a:latin typeface="Inter"/>
              </a:rPr>
              <a:t>VerifyWise</a:t>
            </a:r>
            <a:r>
              <a:rPr sz="1200" dirty="0">
                <a:latin typeface="Inter"/>
              </a:rPr>
              <a:t> tracks hallucination as a first-class metric in every experiment.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Ask the room: "Where do you think bias is hardest to detect?" The deployment context row is the right answer — you don't see it until you slice your eval results by demographic. </a:t>
            </a:r>
            <a:r>
              <a:rPr sz="1200" dirty="0" err="1">
                <a:latin typeface="Inter"/>
              </a:rPr>
              <a:t>VerifyWise</a:t>
            </a:r>
            <a:r>
              <a:rPr sz="1200" dirty="0">
                <a:latin typeface="Inter"/>
              </a:rPr>
              <a:t> supports bias audits via the Bias Audit module (csv upload + protected attribute config). Mention that the EU AI Act specifically lists employment decisions, credit scoring, and education as high-risk use cases where bias must be documented and mitigated.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Walk the table row by row. The "unit vs end-to-end" row trips people up — unit evals catch prompt bugs, E2E evals catch integration bugs. You need both. Benchmark scores (MMLU, </a:t>
            </a:r>
            <a:r>
              <a:rPr sz="1200" dirty="0" err="1">
                <a:latin typeface="Inter"/>
              </a:rPr>
              <a:t>TruthfulQA</a:t>
            </a:r>
            <a:r>
              <a:rPr sz="1200" dirty="0">
                <a:latin typeface="Inter"/>
              </a:rPr>
              <a:t>) tell you about the model; production slices tell you about *your* system.</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err="1">
                <a:latin typeface="Inter"/>
              </a:rPr>
              <a:t>VerifyWise</a:t>
            </a:r>
            <a:r>
              <a:rPr sz="1200" dirty="0">
                <a:latin typeface="Inter"/>
              </a:rPr>
              <a:t> supports correctness, completeness, hallucination, and </a:t>
            </a:r>
            <a:r>
              <a:rPr sz="1200" dirty="0" err="1">
                <a:latin typeface="Inter"/>
              </a:rPr>
              <a:t>answerRelevancy</a:t>
            </a:r>
            <a:r>
              <a:rPr sz="1200" dirty="0">
                <a:latin typeface="Inter"/>
              </a:rPr>
              <a:t> out of the box (plus custom scorers). Point out that the "right" set depends on the task — a </a:t>
            </a:r>
            <a:r>
              <a:rPr sz="1200" dirty="0" err="1">
                <a:latin typeface="Inter"/>
              </a:rPr>
              <a:t>summarisation</a:t>
            </a:r>
            <a:r>
              <a:rPr sz="1200" dirty="0">
                <a:latin typeface="Inter"/>
              </a:rPr>
              <a:t> system cares more about completeness; a medical Q&amp;A system cares more about hallucination.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err="1">
                <a:latin typeface="Inter"/>
              </a:rPr>
              <a:t>VerifyWise</a:t>
            </a:r>
            <a:r>
              <a:rPr sz="1200" dirty="0">
                <a:latin typeface="Inter"/>
              </a:rPr>
              <a:t> uses LLM-as-judge for all quality metrics. The judge model is configurable — default is GPT-4o. Mention the known biases: position bias (judge prefers the first answer), verbosity bias (longer answers score higher). </a:t>
            </a:r>
            <a:r>
              <a:rPr sz="1200" dirty="0" err="1">
                <a:latin typeface="Inter"/>
              </a:rPr>
              <a:t>VerifyWise</a:t>
            </a:r>
            <a:r>
              <a:rPr sz="1200" dirty="0">
                <a:latin typeface="Inter"/>
              </a:rPr>
              <a:t> mitigates by forcing structured rubrics and separate reasoning steps.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The BLEU example is the most concrete demonstration of why formulas fail for open-ended tasks. Draw this on a whiteboard if possible. Then transition: "So what does the judge actually do instead?"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Show the actual judge prompt if possible — it's in </a:t>
            </a:r>
            <a:r>
              <a:rPr sz="1200" dirty="0" err="1">
                <a:latin typeface="Inter"/>
              </a:rPr>
              <a:t>VerifyWise</a:t>
            </a:r>
            <a:r>
              <a:rPr sz="1200" dirty="0">
                <a:latin typeface="Inter"/>
              </a:rPr>
              <a:t> under Scorers. The chain-of-thought step is key: forcing the judge to reason before scoring significantly reduces verbosity and position bias. Mention cost: each judge call is one LLM API call. For a 50-row dataset with 4 metrics, that's 200 judge calls — </a:t>
            </a:r>
            <a:r>
              <a:rPr sz="1200" dirty="0" err="1">
                <a:latin typeface="Inter"/>
              </a:rPr>
              <a:t>VerifyWise</a:t>
            </a:r>
            <a:r>
              <a:rPr sz="1200" dirty="0">
                <a:latin typeface="Inter"/>
              </a:rPr>
              <a:t> tracks this spend via the AI Gateway.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The "5" makes it memorable. Step 1 is where most teams fail — vague tasks ("be helpful") produce meaningless scores. </a:t>
            </a:r>
            <a:r>
              <a:rPr sz="1200" dirty="0" err="1">
                <a:latin typeface="Inter"/>
              </a:rPr>
              <a:t>Emphasise</a:t>
            </a:r>
            <a:r>
              <a:rPr sz="1200" dirty="0">
                <a:latin typeface="Inter"/>
              </a:rPr>
              <a:t> step 5: if evals don't gate deployment, they're documentation, not quality control. </a:t>
            </a:r>
            <a:r>
              <a:rPr sz="1200" dirty="0" err="1">
                <a:latin typeface="Inter"/>
              </a:rPr>
              <a:t>VerifyWise</a:t>
            </a:r>
            <a:r>
              <a:rPr sz="1200" dirty="0">
                <a:latin typeface="Inter"/>
              </a:rPr>
              <a:t> covers steps 3–5 entirely.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This section is a live walkthrough — attendees follow along on their own screens. Each slide maps to one step in the </a:t>
            </a:r>
            <a:r>
              <a:rPr sz="1200" dirty="0" err="1">
                <a:latin typeface="Inter"/>
              </a:rPr>
              <a:t>VerifyWise</a:t>
            </a:r>
            <a:r>
              <a:rPr sz="1200" dirty="0">
                <a:latin typeface="Inter"/>
              </a:rPr>
              <a:t> UI. The hands-on lab immediately after repeats the same steps so attendees cement the workflow.</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Point out the provider dropdown — </a:t>
            </a:r>
            <a:r>
              <a:rPr sz="1200" dirty="0" err="1">
                <a:latin typeface="Inter"/>
              </a:rPr>
              <a:t>VerifyWise</a:t>
            </a:r>
            <a:r>
              <a:rPr sz="1200" dirty="0">
                <a:latin typeface="Inter"/>
              </a:rPr>
              <a:t> supports OpenAI, Anthropic, Google, Mistral, and any OpenAI-compatible endpoint via the AI Gateway. The API key is stored encrypted in the database and only used at experiment runtime. Attendees who don't have their own API key can use the shared demo key pre-loaded in the workshop instance.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The `</a:t>
            </a:r>
            <a:r>
              <a:rPr sz="1200" dirty="0" err="1">
                <a:latin typeface="Inter"/>
              </a:rPr>
              <a:t>expected_output</a:t>
            </a:r>
            <a:r>
              <a:rPr sz="1200" dirty="0">
                <a:latin typeface="Inter"/>
              </a:rPr>
              <a:t>` field is optional — if provided, it enables reference-based scoring (exact match, ROUGE) in addition to LLM-as-judge scoring. For open-ended tasks where no single correct answer exists, omit it and rely entirely on the judge. Recommended minimum: 20 rows for a demo, 100+ for a production eval.</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err="1">
                <a:latin typeface="Inter"/>
              </a:rPr>
              <a:t>Emphasise</a:t>
            </a:r>
            <a:r>
              <a:rPr sz="1200" dirty="0">
                <a:latin typeface="Inter"/>
              </a:rPr>
              <a:t> the judge model selection — you can use a different (stronger) model as judge than the one being evaluated. Common pattern: evaluate GPT-4o-mini but use GPT-4o as judge. The threshold is per-metric: if any metric's average falls below 70%, the experiment is marked FAILED. Custom scorers can also be added here — these are your own rubric prompts for domain-specific criteria.</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Walk through the progress indicator in the UI. For a 20-row dataset with 4 metrics, that's 20 model calls + 80 judge calls = 100 LLM API calls total. This is why cost tracking via the AI Gateway matters — </a:t>
            </a:r>
            <a:r>
              <a:rPr sz="1200" dirty="0" err="1">
                <a:latin typeface="Inter"/>
              </a:rPr>
              <a:t>VerifyWise</a:t>
            </a:r>
            <a:r>
              <a:rPr sz="1200" dirty="0">
                <a:latin typeface="Inter"/>
              </a:rPr>
              <a:t> logs every call and its token usage. Typical runtime for a 20-row experiment: 2–4 minutes depending on model and judge latency.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2259B3-6B98-08DB-2CAD-D902BBE13F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3A5A1-BC46-EAF1-ABD8-8B8D0B643F7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413FAE1-4A14-9C45-85AC-E40D34B45690}"/>
              </a:ext>
            </a:extLst>
          </p:cNvPr>
          <p:cNvSpPr>
            <a:spLocks noGrp="1"/>
          </p:cNvSpPr>
          <p:nvPr>
            <p:ph type="body" sz="quarter" idx="3"/>
          </p:nvPr>
        </p:nvSpPr>
        <p:spPr/>
        <p:txBody>
          <a:bodyPr/>
          <a:lstStyle/>
          <a:p>
            <a:r>
              <a:rPr sz="1200" dirty="0">
                <a:latin typeface="Inter"/>
              </a:rPr>
              <a:t>Walk through the progress indicator in the UI. For a 20-row dataset with 4 metrics, that's 20 model calls + 80 judge calls = 100 LLM API calls total. This is why cost tracking via the AI Gateway matters — </a:t>
            </a:r>
            <a:r>
              <a:rPr sz="1200" dirty="0" err="1">
                <a:latin typeface="Inter"/>
              </a:rPr>
              <a:t>VerifyWise</a:t>
            </a:r>
            <a:r>
              <a:rPr sz="1200" dirty="0">
                <a:latin typeface="Inter"/>
              </a:rPr>
              <a:t> logs every call and its token usage. Typical runtime for a 20-row experiment: 2–4 minutes depending on model and judge latency.</a:t>
            </a:r>
          </a:p>
        </p:txBody>
      </p:sp>
      <p:sp>
        <p:nvSpPr>
          <p:cNvPr id="4" name="Slide Number Placeholder 3">
            <a:extLst>
              <a:ext uri="{FF2B5EF4-FFF2-40B4-BE49-F238E27FC236}">
                <a16:creationId xmlns:a16="http://schemas.microsoft.com/office/drawing/2014/main" id="{F5880BAD-9F59-D01A-3495-24D234D22D07}"/>
              </a:ext>
            </a:extLst>
          </p:cNvPr>
          <p:cNvSpPr>
            <a:spLocks noGrp="1"/>
          </p:cNvSpPr>
          <p:nvPr>
            <p:ph type="sldNum" sz="quarter" idx="5"/>
          </p:nvPr>
        </p:nvSpPr>
        <p:spPr/>
      </p:sp>
    </p:spTree>
    <p:extLst>
      <p:ext uri="{BB962C8B-B14F-4D97-AF65-F5344CB8AC3E}">
        <p14:creationId xmlns:p14="http://schemas.microsoft.com/office/powerpoint/2010/main" val="39515540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The per-row breakdown is the most valuable part for improvement — it tells you whether failures cluster around a topic, a question type, or a specific phrasing. That clustering is your next prompt engineering or fine-tuning target. The judge reasoning column shows the actual text the judge produced before giving its score — this is auditable evidence of how the score was determined.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Arena is the answer to "which model should we use?" It removes the gut-feel guessing and gives a reproducible, auditable answer. The judge model scores each contestant's answer on the same rubric — results are stored and can be attached to a compliance evidence file.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This is the "eval pipeline step 5" from Part 1 made concrete. Point out the three environment variables — these go in GitHub Actions secrets or your CI system's secret store. The `</a:t>
            </a:r>
            <a:r>
              <a:rPr sz="1200" dirty="0" err="1">
                <a:latin typeface="Inter"/>
              </a:rPr>
              <a:t>run_and_wait</a:t>
            </a:r>
            <a:r>
              <a:rPr sz="1200" dirty="0">
                <a:latin typeface="Inter"/>
              </a:rPr>
              <a:t>` method polls until the experiment completes, then returns a structured result object. Every run is stored in </a:t>
            </a:r>
            <a:r>
              <a:rPr sz="1200" dirty="0" err="1">
                <a:latin typeface="Inter"/>
              </a:rPr>
              <a:t>VerifyWise</a:t>
            </a:r>
            <a:r>
              <a:rPr sz="1200" dirty="0">
                <a:latin typeface="Inter"/>
              </a:rPr>
              <a:t> for audit.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Inter"/>
              </a:rPr>
              <a:t>Read through the table quickly. The compliance row is the bridge back to the governance platform — eval results aren't just engineering metrics; they're evidence artefacts that satisfy Article 9 and ISO 42001 clause 9.1.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Inter"/>
              </a:rPr>
              <a:t>Leave 10 minutes for Q&amp;A. Common questions: "What if I don't have ground-truth labels?" (Use LLM-as-judge with a rubric), "Can I use my own judge model?" (Yes — configure AI Gateway to point to any provider), "How many examples do I need?" (Aim for 100+ per task slice for statistical reliability; 50 is the practical minimum).</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4/30/26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4/30/26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4/30/26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0F5A47"/>
            </a:gs>
            <a:gs pos="100000">
              <a:srgbClr val="13715B"/>
            </a:gs>
          </a:gsLst>
          <a:lin ang="2700000" scaled="1"/>
        </a:gra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A4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4495647" y="822960"/>
            <a:ext cx="3200400" cy="602742"/>
          </a:xfrm>
          <a:noFill/>
        </p:spPr>
      </p:pic>
      <p:sp>
        <p:nvSpPr>
          <p:cNvPr id="4" name="TextBox 3"/>
          <p:cNvSpPr txBox="1"/>
          <p:nvPr/>
        </p:nvSpPr>
        <p:spPr>
          <a:xfrm>
            <a:off x="548640" y="1745742"/>
            <a:ext cx="11094415" cy="1097280"/>
          </a:xfrm>
          <a:prstGeom prst="rect">
            <a:avLst/>
          </a:prstGeom>
          <a:noFill/>
        </p:spPr>
        <p:txBody>
          <a:bodyPr wrap="square" lIns="45720" tIns="18288" rIns="45720" bIns="18288" anchor="t">
            <a:spAutoFit/>
          </a:bodyPr>
          <a:lstStyle/>
          <a:p>
            <a:pPr algn="ctr"/>
            <a:r>
              <a:rPr sz="6000" b="1">
                <a:solidFill>
                  <a:srgbClr val="FFFFFF"/>
                </a:solidFill>
                <a:latin typeface="Inter"/>
              </a:rPr>
              <a:t>VerifyWise</a:t>
            </a:r>
          </a:p>
        </p:txBody>
      </p:sp>
      <p:sp>
        <p:nvSpPr>
          <p:cNvPr id="5" name="TextBox 4"/>
          <p:cNvSpPr txBox="1"/>
          <p:nvPr/>
        </p:nvSpPr>
        <p:spPr>
          <a:xfrm>
            <a:off x="548640" y="2888742"/>
            <a:ext cx="11094415" cy="640080"/>
          </a:xfrm>
          <a:prstGeom prst="rect">
            <a:avLst/>
          </a:prstGeom>
          <a:noFill/>
        </p:spPr>
        <p:txBody>
          <a:bodyPr wrap="square" lIns="45720" tIns="18288" rIns="45720" bIns="18288" anchor="t">
            <a:spAutoFit/>
          </a:bodyPr>
          <a:lstStyle/>
          <a:p>
            <a:pPr algn="ctr"/>
            <a:r>
              <a:rPr sz="2600">
                <a:solidFill>
                  <a:srgbClr val="FFFFFF"/>
                </a:solidFill>
                <a:latin typeface="Inter"/>
              </a:rPr>
              <a:t>LLM Evaluations</a:t>
            </a:r>
          </a:p>
        </p:txBody>
      </p:sp>
      <p:sp>
        <p:nvSpPr>
          <p:cNvPr id="6" name="Rectangle 5"/>
          <p:cNvSpPr/>
          <p:nvPr/>
        </p:nvSpPr>
        <p:spPr>
          <a:xfrm>
            <a:off x="3657600" y="3711702"/>
            <a:ext cx="4876495" cy="228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3912870"/>
            <a:ext cx="11094415" cy="347472"/>
          </a:xfrm>
          <a:prstGeom prst="rect">
            <a:avLst/>
          </a:prstGeom>
          <a:noFill/>
        </p:spPr>
        <p:txBody>
          <a:bodyPr wrap="square" lIns="45720" tIns="18288" rIns="45720" bIns="18288" anchor="t">
            <a:spAutoFit/>
          </a:bodyPr>
          <a:lstStyle/>
          <a:p>
            <a:pPr algn="ctr"/>
            <a:r>
              <a:rPr sz="1700">
                <a:solidFill>
                  <a:srgbClr val="D1F0E8"/>
                </a:solidFill>
                <a:latin typeface="Inter"/>
              </a:rPr>
              <a:t>1-Hour Training Session</a:t>
            </a:r>
          </a:p>
        </p:txBody>
      </p:sp>
      <p:sp>
        <p:nvSpPr>
          <p:cNvPr id="8" name="TextBox 7"/>
          <p:cNvSpPr txBox="1"/>
          <p:nvPr/>
        </p:nvSpPr>
        <p:spPr>
          <a:xfrm>
            <a:off x="548640" y="4296918"/>
            <a:ext cx="11094415" cy="347472"/>
          </a:xfrm>
          <a:prstGeom prst="rect">
            <a:avLst/>
          </a:prstGeom>
          <a:noFill/>
        </p:spPr>
        <p:txBody>
          <a:bodyPr wrap="square" lIns="45720" tIns="18288" rIns="45720" bIns="18288" anchor="t">
            <a:spAutoFit/>
          </a:bodyPr>
          <a:lstStyle/>
          <a:p>
            <a:pPr algn="ctr"/>
            <a:r>
              <a:rPr sz="1700">
                <a:solidFill>
                  <a:srgbClr val="D1F0E8"/>
                </a:solidFill>
                <a:latin typeface="Inter"/>
              </a:rPr>
              <a:t>For Compliance &amp; AI Governance Professionals</a:t>
            </a:r>
          </a:p>
        </p:txBody>
      </p:sp>
      <p:sp>
        <p:nvSpPr>
          <p:cNvPr id="9" name="TextBox 8"/>
          <p:cNvSpPr txBox="1"/>
          <p:nvPr/>
        </p:nvSpPr>
        <p:spPr>
          <a:xfrm>
            <a:off x="548640" y="4680966"/>
            <a:ext cx="11094415" cy="347472"/>
          </a:xfrm>
          <a:prstGeom prst="rect">
            <a:avLst/>
          </a:prstGeom>
          <a:noFill/>
        </p:spPr>
        <p:txBody>
          <a:bodyPr wrap="square" lIns="45720" tIns="18288" rIns="45720" bIns="18288" anchor="t">
            <a:spAutoFit/>
          </a:bodyPr>
          <a:lstStyle/>
          <a:p>
            <a:pPr algn="ctr"/>
            <a:r>
              <a:rPr sz="1700">
                <a:solidFill>
                  <a:srgbClr val="D1F0E8"/>
                </a:solidFill>
                <a:latin typeface="Inter"/>
              </a:rPr>
              <a:t>Efe Acar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Session overview</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005840"/>
            <a:ext cx="11094415" cy="1645919"/>
          </a:xfrm>
          <a:prstGeom prst="rect">
            <a:avLst/>
          </a:prstGeom>
          <a:noFill/>
        </p:spPr>
        <p:txBody>
          <a:bodyPr wrap="square" lIns="45720" tIns="18288">
            <a:spAutoFit/>
          </a:bodyPr>
          <a:lstStyle/>
          <a:p>
            <a:pPr>
              <a:spcAft>
                <a:spcPts val="400"/>
              </a:spcAft>
            </a:pPr>
            <a:r>
              <a:rPr sz="1800">
                <a:solidFill>
                  <a:srgbClr val="1C2130"/>
                </a:solidFill>
                <a:latin typeface="Inter"/>
              </a:rPr>
              <a:t>•  </a:t>
            </a:r>
            <a:r>
              <a:rPr sz="1800" b="1">
                <a:solidFill>
                  <a:srgbClr val="1C2130"/>
                </a:solidFill>
                <a:latin typeface="Inter"/>
              </a:rPr>
              <a:t>Duration:</a:t>
            </a:r>
            <a:r>
              <a:rPr sz="1800">
                <a:solidFill>
                  <a:srgbClr val="1C2130"/>
                </a:solidFill>
                <a:latin typeface="Inter"/>
              </a:rPr>
              <a:t> 60 minutes total</a:t>
            </a:r>
          </a:p>
          <a:p>
            <a:pPr>
              <a:spcAft>
                <a:spcPts val="400"/>
              </a:spcAft>
            </a:pPr>
            <a:r>
              <a:rPr sz="1800">
                <a:solidFill>
                  <a:srgbClr val="1C2130"/>
                </a:solidFill>
                <a:latin typeface="Inter"/>
              </a:rPr>
              <a:t>•  </a:t>
            </a:r>
            <a:r>
              <a:rPr sz="1800" b="1">
                <a:solidFill>
                  <a:srgbClr val="1C2130"/>
                </a:solidFill>
                <a:latin typeface="Inter"/>
              </a:rPr>
              <a:t>Presentation:</a:t>
            </a:r>
            <a:r>
              <a:rPr sz="1800">
                <a:solidFill>
                  <a:srgbClr val="1C2130"/>
                </a:solidFill>
                <a:latin typeface="Inter"/>
              </a:rPr>
              <a:t> 20 minutes (this deck)</a:t>
            </a:r>
          </a:p>
          <a:p>
            <a:pPr>
              <a:spcAft>
                <a:spcPts val="400"/>
              </a:spcAft>
            </a:pPr>
            <a:r>
              <a:rPr sz="1800">
                <a:solidFill>
                  <a:srgbClr val="1C2130"/>
                </a:solidFill>
                <a:latin typeface="Inter"/>
              </a:rPr>
              <a:t>•  </a:t>
            </a:r>
            <a:r>
              <a:rPr sz="1800" b="1">
                <a:solidFill>
                  <a:srgbClr val="1C2130"/>
                </a:solidFill>
                <a:latin typeface="Inter"/>
              </a:rPr>
              <a:t>Hands-on lab:</a:t>
            </a:r>
            <a:r>
              <a:rPr sz="1800">
                <a:solidFill>
                  <a:srgbClr val="1C2130"/>
                </a:solidFill>
                <a:latin typeface="Inter"/>
              </a:rPr>
              <a:t> 30 minutes (live in VerifyWise)</a:t>
            </a:r>
          </a:p>
          <a:p>
            <a:pPr>
              <a:spcAft>
                <a:spcPts val="400"/>
              </a:spcAft>
            </a:pPr>
            <a:r>
              <a:rPr sz="1800">
                <a:solidFill>
                  <a:srgbClr val="1C2130"/>
                </a:solidFill>
                <a:latin typeface="Inter"/>
              </a:rPr>
              <a:t>•  </a:t>
            </a:r>
            <a:r>
              <a:rPr sz="1800" b="1">
                <a:solidFill>
                  <a:srgbClr val="1C2130"/>
                </a:solidFill>
                <a:latin typeface="Inter"/>
              </a:rPr>
              <a:t>Q&amp;A:</a:t>
            </a:r>
            <a:r>
              <a:rPr sz="1800">
                <a:solidFill>
                  <a:srgbClr val="1C2130"/>
                </a:solidFill>
                <a:latin typeface="Inter"/>
              </a:rPr>
              <a:t> 10 minutes</a:t>
            </a:r>
          </a:p>
        </p:txBody>
      </p:sp>
      <p:sp>
        <p:nvSpPr>
          <p:cNvPr id="7" name="TextBox 6"/>
          <p:cNvSpPr txBox="1"/>
          <p:nvPr/>
        </p:nvSpPr>
        <p:spPr>
          <a:xfrm>
            <a:off x="548640" y="2724911"/>
            <a:ext cx="11094415" cy="1719072"/>
          </a:xfrm>
          <a:prstGeom prst="rect">
            <a:avLst/>
          </a:prstGeom>
          <a:noFill/>
        </p:spPr>
        <p:txBody>
          <a:bodyPr wrap="square" lIns="45720" tIns="18288" rIns="45720" bIns="18288" anchor="t">
            <a:spAutoFit/>
          </a:bodyPr>
          <a:lstStyle/>
          <a:p>
            <a:pPr algn="l"/>
            <a:r>
              <a:rPr sz="1800" b="1">
                <a:solidFill>
                  <a:srgbClr val="1C2130"/>
                </a:solidFill>
                <a:latin typeface="Inter"/>
              </a:rPr>
              <a:t>What you'll leave with:</a:t>
            </a:r>
            <a:r>
              <a:rPr sz="1800">
                <a:solidFill>
                  <a:srgbClr val="1C2130"/>
                </a:solidFill>
                <a:latin typeface="Inter"/>
              </a:rPr>
              <a:t>
- A clear mental model of LLM evaluations
- Understanding of every VerifyWise eval screen
- A completed experiment you ran yourself</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3715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A4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2"/>
          <a:stretch>
            <a:fillRect/>
          </a:stretch>
        </p:blipFill>
        <p:spPr>
          <a:xfrm>
            <a:off x="10180015" y="274320"/>
            <a:ext cx="1645920" cy="309981"/>
          </a:xfrm>
          <a:noFill/>
        </p:spPr>
      </p:pic>
      <p:sp>
        <p:nvSpPr>
          <p:cNvPr id="4" name="TextBox 3"/>
          <p:cNvSpPr txBox="1"/>
          <p:nvPr/>
        </p:nvSpPr>
        <p:spPr>
          <a:xfrm>
            <a:off x="548640" y="2103120"/>
            <a:ext cx="11094415" cy="1097280"/>
          </a:xfrm>
          <a:prstGeom prst="rect">
            <a:avLst/>
          </a:prstGeom>
          <a:noFill/>
        </p:spPr>
        <p:txBody>
          <a:bodyPr wrap="square" lIns="45720" tIns="18288" rIns="45720" bIns="18288" anchor="t">
            <a:spAutoFit/>
          </a:bodyPr>
          <a:lstStyle/>
          <a:p>
            <a:pPr algn="ctr"/>
            <a:r>
              <a:rPr sz="6800" b="1">
                <a:solidFill>
                  <a:srgbClr val="FFFFFF"/>
                </a:solidFill>
                <a:latin typeface="Inter"/>
              </a:rPr>
              <a:t>Part 1</a:t>
            </a:r>
          </a:p>
        </p:txBody>
      </p:sp>
      <p:sp>
        <p:nvSpPr>
          <p:cNvPr id="5" name="TextBox 4"/>
          <p:cNvSpPr txBox="1"/>
          <p:nvPr/>
        </p:nvSpPr>
        <p:spPr>
          <a:xfrm>
            <a:off x="548640" y="3337560"/>
            <a:ext cx="11094415" cy="548640"/>
          </a:xfrm>
          <a:prstGeom prst="rect">
            <a:avLst/>
          </a:prstGeom>
          <a:noFill/>
        </p:spPr>
        <p:txBody>
          <a:bodyPr wrap="square" lIns="45720" tIns="18288" rIns="45720" bIns="18288" anchor="t">
            <a:spAutoFit/>
          </a:bodyPr>
          <a:lstStyle/>
          <a:p>
            <a:pPr algn="ctr"/>
            <a:r>
              <a:rPr sz="2600">
                <a:solidFill>
                  <a:srgbClr val="D1F0E8"/>
                </a:solidFill>
                <a:latin typeface="Inter"/>
              </a:rPr>
              <a:t>LLM Evaluation — Theory &amp; Concepts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Learning objectives — Part 1</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005840"/>
            <a:ext cx="11094415" cy="402336"/>
          </a:xfrm>
          <a:prstGeom prst="rect">
            <a:avLst/>
          </a:prstGeom>
          <a:noFill/>
        </p:spPr>
        <p:txBody>
          <a:bodyPr wrap="square" lIns="45720" tIns="18288" rIns="45720" bIns="18288" anchor="t">
            <a:spAutoFit/>
          </a:bodyPr>
          <a:lstStyle/>
          <a:p>
            <a:pPr algn="l"/>
            <a:r>
              <a:rPr sz="1800">
                <a:solidFill>
                  <a:srgbClr val="1C2130"/>
                </a:solidFill>
                <a:latin typeface="Inter"/>
              </a:rPr>
              <a:t>By the end of this section you will be able to:</a:t>
            </a:r>
          </a:p>
        </p:txBody>
      </p:sp>
      <p:sp>
        <p:nvSpPr>
          <p:cNvPr id="7" name="TextBox 6"/>
          <p:cNvSpPr txBox="1"/>
          <p:nvPr/>
        </p:nvSpPr>
        <p:spPr>
          <a:xfrm>
            <a:off x="548640" y="1453896"/>
            <a:ext cx="11094415" cy="2029968"/>
          </a:xfrm>
          <a:prstGeom prst="rect">
            <a:avLst/>
          </a:prstGeom>
          <a:noFill/>
        </p:spPr>
        <p:txBody>
          <a:bodyPr wrap="square" lIns="45720" tIns="18288">
            <a:spAutoFit/>
          </a:bodyPr>
          <a:lstStyle/>
          <a:p>
            <a:pPr>
              <a:spcAft>
                <a:spcPts val="400"/>
              </a:spcAft>
            </a:pPr>
            <a:r>
              <a:rPr sz="1800">
                <a:solidFill>
                  <a:srgbClr val="1C2130"/>
                </a:solidFill>
                <a:latin typeface="Inter"/>
              </a:rPr>
              <a:t>•  </a:t>
            </a:r>
            <a:r>
              <a:rPr sz="1800" b="1">
                <a:solidFill>
                  <a:srgbClr val="1C2130"/>
                </a:solidFill>
                <a:latin typeface="Inter"/>
              </a:rPr>
              <a:t>Explain</a:t>
            </a:r>
            <a:r>
              <a:rPr sz="1800">
                <a:solidFill>
                  <a:srgbClr val="1C2130"/>
                </a:solidFill>
                <a:latin typeface="Inter"/>
              </a:rPr>
              <a:t> why probabilistic model outputs require structured evaluation</a:t>
            </a:r>
          </a:p>
          <a:p>
            <a:pPr>
              <a:spcAft>
                <a:spcPts val="400"/>
              </a:spcAft>
            </a:pPr>
            <a:r>
              <a:rPr sz="1800">
                <a:solidFill>
                  <a:srgbClr val="1C2130"/>
                </a:solidFill>
                <a:latin typeface="Inter"/>
              </a:rPr>
              <a:t>•  </a:t>
            </a:r>
            <a:r>
              <a:rPr sz="1800" b="1">
                <a:solidFill>
                  <a:srgbClr val="1C2130"/>
                </a:solidFill>
                <a:latin typeface="Inter"/>
              </a:rPr>
              <a:t>Connect</a:t>
            </a:r>
            <a:r>
              <a:rPr sz="1800">
                <a:solidFill>
                  <a:srgbClr val="1C2130"/>
                </a:solidFill>
                <a:latin typeface="Inter"/>
              </a:rPr>
              <a:t> LLM evaluations to EU AI Act, ISO 42001, and NIST AI RMF requirements</a:t>
            </a:r>
          </a:p>
          <a:p>
            <a:pPr>
              <a:spcAft>
                <a:spcPts val="400"/>
              </a:spcAft>
            </a:pPr>
            <a:r>
              <a:rPr sz="1800">
                <a:solidFill>
                  <a:srgbClr val="1C2130"/>
                </a:solidFill>
                <a:latin typeface="Inter"/>
              </a:rPr>
              <a:t>•  </a:t>
            </a:r>
            <a:r>
              <a:rPr sz="1800" b="1">
                <a:solidFill>
                  <a:srgbClr val="1C2130"/>
                </a:solidFill>
                <a:latin typeface="Inter"/>
              </a:rPr>
              <a:t>Contrast</a:t>
            </a:r>
            <a:r>
              <a:rPr sz="1800">
                <a:solidFill>
                  <a:srgbClr val="1C2130"/>
                </a:solidFill>
                <a:latin typeface="Inter"/>
              </a:rPr>
              <a:t> LLM-as-judge scoring against formula-based metrics (BLEU, ROUGE, fairlearn)</a:t>
            </a:r>
          </a:p>
          <a:p>
            <a:pPr>
              <a:spcAft>
                <a:spcPts val="400"/>
              </a:spcAft>
            </a:pPr>
            <a:r>
              <a:rPr sz="1800">
                <a:solidFill>
                  <a:srgbClr val="1C2130"/>
                </a:solidFill>
                <a:latin typeface="Inter"/>
              </a:rPr>
              <a:t>•  </a:t>
            </a:r>
            <a:r>
              <a:rPr sz="1800" b="1">
                <a:solidFill>
                  <a:srgbClr val="1C2130"/>
                </a:solidFill>
                <a:latin typeface="Inter"/>
              </a:rPr>
              <a:t>Select</a:t>
            </a:r>
            <a:r>
              <a:rPr sz="1800">
                <a:solidFill>
                  <a:srgbClr val="1C2130"/>
                </a:solidFill>
                <a:latin typeface="Inter"/>
              </a:rPr>
              <a:t> the right metric for a given task type (Q&amp;A, summarisation, code generation)</a:t>
            </a:r>
          </a:p>
          <a:p>
            <a:pPr>
              <a:spcAft>
                <a:spcPts val="400"/>
              </a:spcAft>
            </a:pPr>
            <a:r>
              <a:rPr sz="1800">
                <a:solidFill>
                  <a:srgbClr val="1C2130"/>
                </a:solidFill>
                <a:latin typeface="Inter"/>
              </a:rPr>
              <a:t>•  </a:t>
            </a:r>
            <a:r>
              <a:rPr sz="1800" b="1">
                <a:solidFill>
                  <a:srgbClr val="1C2130"/>
                </a:solidFill>
                <a:latin typeface="Inter"/>
              </a:rPr>
              <a:t>Describe</a:t>
            </a:r>
            <a:r>
              <a:rPr sz="1800">
                <a:solidFill>
                  <a:srgbClr val="1C2130"/>
                </a:solidFill>
                <a:latin typeface="Inter"/>
              </a:rPr>
              <a:t> the five-step eval pipeline used in production systems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Why LLMs need structured evaluation</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005840"/>
            <a:ext cx="11094415" cy="402336"/>
          </a:xfrm>
          <a:prstGeom prst="rect">
            <a:avLst/>
          </a:prstGeom>
          <a:noFill/>
        </p:spPr>
        <p:txBody>
          <a:bodyPr wrap="square" lIns="45720" tIns="18288" rIns="45720" bIns="18288" anchor="t">
            <a:spAutoFit/>
          </a:bodyPr>
          <a:lstStyle/>
          <a:p>
            <a:pPr algn="l"/>
            <a:r>
              <a:rPr sz="1800">
                <a:solidFill>
                  <a:srgbClr val="1C2130"/>
                </a:solidFill>
                <a:latin typeface="Inter"/>
              </a:rPr>
              <a:t>LLMs are probabilistic — the same prompt can return different outputs on each call.</a:t>
            </a:r>
          </a:p>
        </p:txBody>
      </p:sp>
      <p:graphicFrame>
        <p:nvGraphicFramePr>
          <p:cNvPr id="7" name="Table 6"/>
          <p:cNvGraphicFramePr>
            <a:graphicFrameLocks noGrp="1"/>
          </p:cNvGraphicFramePr>
          <p:nvPr/>
        </p:nvGraphicFramePr>
        <p:xfrm>
          <a:off x="548640" y="1453896"/>
          <a:ext cx="11094415" cy="1956815"/>
        </p:xfrm>
        <a:graphic>
          <a:graphicData uri="http://schemas.openxmlformats.org/drawingml/2006/table">
            <a:tbl>
              <a:tblPr firstRow="1" bandRow="1">
                <a:tableStyleId>{5C22544A-7EE6-4342-B048-85BDC9FD1C3A}</a:tableStyleId>
              </a:tblPr>
              <a:tblGrid>
                <a:gridCol w="3550212">
                  <a:extLst>
                    <a:ext uri="{9D8B030D-6E8A-4147-A177-3AD203B41FA5}">
                      <a16:colId xmlns:a16="http://schemas.microsoft.com/office/drawing/2014/main" val="20000"/>
                    </a:ext>
                  </a:extLst>
                </a:gridCol>
                <a:gridCol w="7544203">
                  <a:extLst>
                    <a:ext uri="{9D8B030D-6E8A-4147-A177-3AD203B41FA5}">
                      <a16:colId xmlns:a16="http://schemas.microsoft.com/office/drawing/2014/main" val="20001"/>
                    </a:ext>
                  </a:extLst>
                </a:gridCol>
              </a:tblGrid>
              <a:tr h="391363">
                <a:tc>
                  <a:txBody>
                    <a:bodyPr/>
                    <a:lstStyle/>
                    <a:p>
                      <a:r>
                        <a:rPr sz="1600" b="1">
                          <a:solidFill>
                            <a:srgbClr val="FFFFFF"/>
                          </a:solidFill>
                          <a:latin typeface="Inter"/>
                        </a:rPr>
                        <a:t>Risk if you skip evals</a:t>
                      </a:r>
                    </a:p>
                  </a:txBody>
                  <a:tcPr marT="54864" marB="54864" anchor="ctr">
                    <a:solidFill>
                      <a:srgbClr val="13715B"/>
                    </a:solidFill>
                  </a:tcPr>
                </a:tc>
                <a:tc>
                  <a:txBody>
                    <a:bodyPr/>
                    <a:lstStyle/>
                    <a:p>
                      <a:r>
                        <a:rPr sz="1600" b="1">
                          <a:solidFill>
                            <a:srgbClr val="FFFFFF"/>
                          </a:solidFill>
                          <a:latin typeface="Inter"/>
                        </a:rPr>
                        <a:t>Example</a:t>
                      </a:r>
                    </a:p>
                  </a:txBody>
                  <a:tcPr marT="54864" marB="54864" anchor="ctr">
                    <a:solidFill>
                      <a:srgbClr val="13715B"/>
                    </a:solidFill>
                  </a:tcPr>
                </a:tc>
                <a:extLst>
                  <a:ext uri="{0D108BD9-81ED-4DB2-BD59-A6C34878D82A}">
                    <a16:rowId xmlns:a16="http://schemas.microsoft.com/office/drawing/2014/main" val="10000"/>
                  </a:ext>
                </a:extLst>
              </a:tr>
              <a:tr h="391363">
                <a:tc>
                  <a:txBody>
                    <a:bodyPr/>
                    <a:lstStyle/>
                    <a:p>
                      <a:r>
                        <a:rPr sz="1600">
                          <a:solidFill>
                            <a:srgbClr val="1C2130"/>
                          </a:solidFill>
                          <a:latin typeface="Inter"/>
                        </a:rPr>
                        <a:t>Silent regressions</a:t>
                      </a:r>
                    </a:p>
                  </a:txBody>
                  <a:tcPr marT="54864" marB="54864" anchor="ctr">
                    <a:solidFill>
                      <a:srgbClr val="FFFFFF"/>
                    </a:solidFill>
                  </a:tcPr>
                </a:tc>
                <a:tc>
                  <a:txBody>
                    <a:bodyPr/>
                    <a:lstStyle/>
                    <a:p>
                      <a:r>
                        <a:rPr sz="1600">
                          <a:solidFill>
                            <a:srgbClr val="1C2130"/>
                          </a:solidFill>
                          <a:latin typeface="Inter"/>
                        </a:rPr>
                        <a:t>A prompt tweak fixes one case, breaks 20 others</a:t>
                      </a:r>
                    </a:p>
                  </a:txBody>
                  <a:tcPr marT="54864" marB="54864" anchor="ctr">
                    <a:solidFill>
                      <a:srgbClr val="FFFFFF"/>
                    </a:solidFill>
                  </a:tcPr>
                </a:tc>
                <a:extLst>
                  <a:ext uri="{0D108BD9-81ED-4DB2-BD59-A6C34878D82A}">
                    <a16:rowId xmlns:a16="http://schemas.microsoft.com/office/drawing/2014/main" val="10001"/>
                  </a:ext>
                </a:extLst>
              </a:tr>
              <a:tr h="391363">
                <a:tc>
                  <a:txBody>
                    <a:bodyPr/>
                    <a:lstStyle/>
                    <a:p>
                      <a:r>
                        <a:rPr sz="1600">
                          <a:solidFill>
                            <a:srgbClr val="1C2130"/>
                          </a:solidFill>
                          <a:latin typeface="Inter"/>
                        </a:rPr>
                        <a:t>Model selection bias</a:t>
                      </a:r>
                    </a:p>
                  </a:txBody>
                  <a:tcPr marT="54864" marB="54864" anchor="ctr">
                    <a:solidFill>
                      <a:srgbClr val="FFFFFF"/>
                    </a:solidFill>
                  </a:tcPr>
                </a:tc>
                <a:tc>
                  <a:txBody>
                    <a:bodyPr/>
                    <a:lstStyle/>
                    <a:p>
                      <a:r>
                        <a:rPr sz="1600">
                          <a:solidFill>
                            <a:srgbClr val="1C2130"/>
                          </a:solidFill>
                          <a:latin typeface="Inter"/>
                        </a:rPr>
                        <a:t>Chose GPT-4o over Gemini based on one demo, not data</a:t>
                      </a:r>
                    </a:p>
                  </a:txBody>
                  <a:tcPr marT="54864" marB="54864" anchor="ctr">
                    <a:solidFill>
                      <a:srgbClr val="FFFFFF"/>
                    </a:solidFill>
                  </a:tcPr>
                </a:tc>
                <a:extLst>
                  <a:ext uri="{0D108BD9-81ED-4DB2-BD59-A6C34878D82A}">
                    <a16:rowId xmlns:a16="http://schemas.microsoft.com/office/drawing/2014/main" val="10002"/>
                  </a:ext>
                </a:extLst>
              </a:tr>
              <a:tr h="391363">
                <a:tc>
                  <a:txBody>
                    <a:bodyPr/>
                    <a:lstStyle/>
                    <a:p>
                      <a:r>
                        <a:rPr sz="1600">
                          <a:solidFill>
                            <a:srgbClr val="1C2130"/>
                          </a:solidFill>
                          <a:latin typeface="Inter"/>
                        </a:rPr>
                        <a:t>Compliance gaps</a:t>
                      </a:r>
                    </a:p>
                  </a:txBody>
                  <a:tcPr marT="54864" marB="54864" anchor="ctr">
                    <a:solidFill>
                      <a:srgbClr val="FFFFFF"/>
                    </a:solidFill>
                  </a:tcPr>
                </a:tc>
                <a:tc>
                  <a:txBody>
                    <a:bodyPr/>
                    <a:lstStyle/>
                    <a:p>
                      <a:r>
                        <a:rPr sz="1600">
                          <a:solidFill>
                            <a:srgbClr val="1C2130"/>
                          </a:solidFill>
                          <a:latin typeface="Inter"/>
                        </a:rPr>
                        <a:t>EU AI Act Art. 9 requires documented performance evidence</a:t>
                      </a:r>
                    </a:p>
                  </a:txBody>
                  <a:tcPr marT="54864" marB="54864" anchor="ctr">
                    <a:solidFill>
                      <a:srgbClr val="FFFFFF"/>
                    </a:solidFill>
                  </a:tcPr>
                </a:tc>
                <a:extLst>
                  <a:ext uri="{0D108BD9-81ED-4DB2-BD59-A6C34878D82A}">
                    <a16:rowId xmlns:a16="http://schemas.microsoft.com/office/drawing/2014/main" val="10003"/>
                  </a:ext>
                </a:extLst>
              </a:tr>
              <a:tr h="391363">
                <a:tc>
                  <a:txBody>
                    <a:bodyPr/>
                    <a:lstStyle/>
                    <a:p>
                      <a:r>
                        <a:rPr sz="1600">
                          <a:solidFill>
                            <a:srgbClr val="1C2130"/>
                          </a:solidFill>
                          <a:latin typeface="Inter"/>
                        </a:rPr>
                        <a:t>Production drift</a:t>
                      </a:r>
                    </a:p>
                  </a:txBody>
                  <a:tcPr marT="54864" marB="54864" anchor="ctr">
                    <a:solidFill>
                      <a:srgbClr val="FFFFFF"/>
                    </a:solidFill>
                  </a:tcPr>
                </a:tc>
                <a:tc>
                  <a:txBody>
                    <a:bodyPr/>
                    <a:lstStyle/>
                    <a:p>
                      <a:r>
                        <a:rPr sz="1600">
                          <a:solidFill>
                            <a:srgbClr val="1C2130"/>
                          </a:solidFill>
                          <a:latin typeface="Inter"/>
                        </a:rPr>
                        <a:t>Model behaviour shifts as provider updates base weights</a:t>
                      </a:r>
                    </a:p>
                  </a:txBody>
                  <a:tcPr marT="54864" marB="54864" anchor="ctr">
                    <a:solidFill>
                      <a:srgbClr val="FFFFFF"/>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548640" y="3502151"/>
            <a:ext cx="11094415" cy="585216"/>
          </a:xfrm>
          <a:prstGeom prst="roundRect">
            <a:avLst>
              <a:gd name="adj" fmla="val 6000"/>
            </a:avLst>
          </a:prstGeom>
          <a:solidFill>
            <a:srgbClr val="EAF4F0"/>
          </a:solidFill>
          <a:ln w="15875">
            <a:solidFill>
              <a:srgbClr val="1371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3611879"/>
            <a:ext cx="10637215" cy="365760"/>
          </a:xfrm>
          <a:prstGeom prst="rect">
            <a:avLst/>
          </a:prstGeom>
          <a:noFill/>
        </p:spPr>
        <p:txBody>
          <a:bodyPr wrap="square" lIns="45720" tIns="18288" rIns="45720" bIns="18288" anchor="t">
            <a:spAutoFit/>
          </a:bodyPr>
          <a:lstStyle/>
          <a:p>
            <a:pPr algn="l"/>
            <a:r>
              <a:rPr sz="1600">
                <a:solidFill>
                  <a:srgbClr val="1C2130"/>
                </a:solidFill>
                <a:latin typeface="Inter"/>
              </a:rPr>
              <a:t>Without evals, you are shipping guesses, not governed AI.</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Evals are the engine of AI governance</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005840"/>
            <a:ext cx="11094415" cy="731519"/>
          </a:xfrm>
          <a:prstGeom prst="rect">
            <a:avLst/>
          </a:prstGeom>
          <a:noFill/>
        </p:spPr>
        <p:txBody>
          <a:bodyPr wrap="square" lIns="45720" tIns="18288" rIns="45720" bIns="18288" anchor="t">
            <a:spAutoFit/>
          </a:bodyPr>
          <a:lstStyle/>
          <a:p>
            <a:pPr algn="l"/>
            <a:r>
              <a:rPr sz="1800">
                <a:solidFill>
                  <a:srgbClr val="1C2130"/>
                </a:solidFill>
                <a:latin typeface="Inter"/>
              </a:rPr>
              <a:t>Governance frameworks don't just recommend evals — they require documented evidence of them.</a:t>
            </a:r>
          </a:p>
        </p:txBody>
      </p:sp>
      <p:graphicFrame>
        <p:nvGraphicFramePr>
          <p:cNvPr id="7" name="Table 6"/>
          <p:cNvGraphicFramePr>
            <a:graphicFrameLocks noGrp="1"/>
          </p:cNvGraphicFramePr>
          <p:nvPr/>
        </p:nvGraphicFramePr>
        <p:xfrm>
          <a:off x="548640" y="1783079"/>
          <a:ext cx="11094414" cy="2574950"/>
        </p:xfrm>
        <a:graphic>
          <a:graphicData uri="http://schemas.openxmlformats.org/drawingml/2006/table">
            <a:tbl>
              <a:tblPr firstRow="1" bandRow="1">
                <a:tableStyleId>{5C22544A-7EE6-4342-B048-85BDC9FD1C3A}</a:tableStyleId>
              </a:tblPr>
              <a:tblGrid>
                <a:gridCol w="3550212">
                  <a:extLst>
                    <a:ext uri="{9D8B030D-6E8A-4147-A177-3AD203B41FA5}">
                      <a16:colId xmlns:a16="http://schemas.microsoft.com/office/drawing/2014/main" val="20000"/>
                    </a:ext>
                  </a:extLst>
                </a:gridCol>
                <a:gridCol w="3772101">
                  <a:extLst>
                    <a:ext uri="{9D8B030D-6E8A-4147-A177-3AD203B41FA5}">
                      <a16:colId xmlns:a16="http://schemas.microsoft.com/office/drawing/2014/main" val="20001"/>
                    </a:ext>
                  </a:extLst>
                </a:gridCol>
                <a:gridCol w="3772101">
                  <a:extLst>
                    <a:ext uri="{9D8B030D-6E8A-4147-A177-3AD203B41FA5}">
                      <a16:colId xmlns:a16="http://schemas.microsoft.com/office/drawing/2014/main" val="20002"/>
                    </a:ext>
                  </a:extLst>
                </a:gridCol>
              </a:tblGrid>
              <a:tr h="391363">
                <a:tc>
                  <a:txBody>
                    <a:bodyPr/>
                    <a:lstStyle/>
                    <a:p>
                      <a:r>
                        <a:rPr sz="1600" b="1">
                          <a:solidFill>
                            <a:srgbClr val="FFFFFF"/>
                          </a:solidFill>
                          <a:latin typeface="Inter"/>
                        </a:rPr>
                        <a:t>Framework</a:t>
                      </a:r>
                    </a:p>
                  </a:txBody>
                  <a:tcPr marT="54864" marB="54864" anchor="ctr">
                    <a:solidFill>
                      <a:srgbClr val="13715B"/>
                    </a:solidFill>
                  </a:tcPr>
                </a:tc>
                <a:tc>
                  <a:txBody>
                    <a:bodyPr/>
                    <a:lstStyle/>
                    <a:p>
                      <a:r>
                        <a:rPr sz="1600" b="1">
                          <a:solidFill>
                            <a:srgbClr val="FFFFFF"/>
                          </a:solidFill>
                          <a:latin typeface="Inter"/>
                        </a:rPr>
                        <a:t>What it requires</a:t>
                      </a:r>
                    </a:p>
                  </a:txBody>
                  <a:tcPr marT="54864" marB="54864" anchor="ctr">
                    <a:solidFill>
                      <a:srgbClr val="13715B"/>
                    </a:solidFill>
                  </a:tcPr>
                </a:tc>
                <a:tc>
                  <a:txBody>
                    <a:bodyPr/>
                    <a:lstStyle/>
                    <a:p>
                      <a:r>
                        <a:rPr sz="1600" b="1">
                          <a:solidFill>
                            <a:srgbClr val="FFFFFF"/>
                          </a:solidFill>
                          <a:latin typeface="Inter"/>
                        </a:rPr>
                        <a:t>How evals satisfy it</a:t>
                      </a:r>
                    </a:p>
                  </a:txBody>
                  <a:tcPr marT="54864" marB="54864" anchor="ctr">
                    <a:solidFill>
                      <a:srgbClr val="13715B"/>
                    </a:solidFill>
                  </a:tcPr>
                </a:tc>
                <a:extLst>
                  <a:ext uri="{0D108BD9-81ED-4DB2-BD59-A6C34878D82A}">
                    <a16:rowId xmlns:a16="http://schemas.microsoft.com/office/drawing/2014/main" val="10000"/>
                  </a:ext>
                </a:extLst>
              </a:tr>
              <a:tr h="391363">
                <a:tc>
                  <a:txBody>
                    <a:bodyPr/>
                    <a:lstStyle/>
                    <a:p>
                      <a:r>
                        <a:rPr sz="1600">
                          <a:solidFill>
                            <a:srgbClr val="1C2130"/>
                          </a:solidFill>
                          <a:latin typeface="Inter"/>
                        </a:rPr>
                        <a:t>EU AI Act — Art. 9</a:t>
                      </a:r>
                    </a:p>
                  </a:txBody>
                  <a:tcPr marT="54864" marB="54864" anchor="ctr">
                    <a:solidFill>
                      <a:srgbClr val="FFFFFF"/>
                    </a:solidFill>
                  </a:tcPr>
                </a:tc>
                <a:tc>
                  <a:txBody>
                    <a:bodyPr/>
                    <a:lstStyle/>
                    <a:p>
                      <a:r>
                        <a:rPr sz="1600">
                          <a:solidFill>
                            <a:srgbClr val="1C2130"/>
                          </a:solidFill>
                          <a:latin typeface="Inter"/>
                        </a:rPr>
                        <a:t>Quality management system with testing &amp; monitoring</a:t>
                      </a:r>
                    </a:p>
                  </a:txBody>
                  <a:tcPr marT="54864" marB="54864" anchor="ctr">
                    <a:solidFill>
                      <a:srgbClr val="FFFFFF"/>
                    </a:solidFill>
                  </a:tcPr>
                </a:tc>
                <a:tc>
                  <a:txBody>
                    <a:bodyPr/>
                    <a:lstStyle/>
                    <a:p>
                      <a:r>
                        <a:rPr sz="1600">
                          <a:solidFill>
                            <a:srgbClr val="1C2130"/>
                          </a:solidFill>
                          <a:latin typeface="Inter"/>
                        </a:rPr>
                        <a:t>Stored eval results are the documented testing record</a:t>
                      </a:r>
                    </a:p>
                  </a:txBody>
                  <a:tcPr marT="54864" marB="54864" anchor="ctr">
                    <a:solidFill>
                      <a:srgbClr val="FFFFFF"/>
                    </a:solidFill>
                  </a:tcPr>
                </a:tc>
                <a:extLst>
                  <a:ext uri="{0D108BD9-81ED-4DB2-BD59-A6C34878D82A}">
                    <a16:rowId xmlns:a16="http://schemas.microsoft.com/office/drawing/2014/main" val="10001"/>
                  </a:ext>
                </a:extLst>
              </a:tr>
              <a:tr h="391363">
                <a:tc>
                  <a:txBody>
                    <a:bodyPr/>
                    <a:lstStyle/>
                    <a:p>
                      <a:r>
                        <a:rPr sz="1600">
                          <a:solidFill>
                            <a:srgbClr val="1C2130"/>
                          </a:solidFill>
                          <a:latin typeface="Inter"/>
                        </a:rPr>
                        <a:t>EU AI Act — Art. 72</a:t>
                      </a:r>
                    </a:p>
                  </a:txBody>
                  <a:tcPr marT="54864" marB="54864" anchor="ctr">
                    <a:solidFill>
                      <a:srgbClr val="FFFFFF"/>
                    </a:solidFill>
                  </a:tcPr>
                </a:tc>
                <a:tc>
                  <a:txBody>
                    <a:bodyPr/>
                    <a:lstStyle/>
                    <a:p>
                      <a:r>
                        <a:rPr sz="1600">
                          <a:solidFill>
                            <a:srgbClr val="1C2130"/>
                          </a:solidFill>
                          <a:latin typeface="Inter"/>
                        </a:rPr>
                        <a:t>Post-market monitoring of high-risk AI</a:t>
                      </a:r>
                    </a:p>
                  </a:txBody>
                  <a:tcPr marT="54864" marB="54864" anchor="ctr">
                    <a:solidFill>
                      <a:srgbClr val="FFFFFF"/>
                    </a:solidFill>
                  </a:tcPr>
                </a:tc>
                <a:tc>
                  <a:txBody>
                    <a:bodyPr/>
                    <a:lstStyle/>
                    <a:p>
                      <a:r>
                        <a:rPr sz="1600">
                          <a:solidFill>
                            <a:srgbClr val="1C2130"/>
                          </a:solidFill>
                          <a:latin typeface="Inter"/>
                        </a:rPr>
                        <a:t>Scheduled evals detect model drift after deployment</a:t>
                      </a:r>
                    </a:p>
                  </a:txBody>
                  <a:tcPr marT="54864" marB="54864" anchor="ctr">
                    <a:solidFill>
                      <a:srgbClr val="FFFFFF"/>
                    </a:solidFill>
                  </a:tcPr>
                </a:tc>
                <a:extLst>
                  <a:ext uri="{0D108BD9-81ED-4DB2-BD59-A6C34878D82A}">
                    <a16:rowId xmlns:a16="http://schemas.microsoft.com/office/drawing/2014/main" val="10002"/>
                  </a:ext>
                </a:extLst>
              </a:tr>
              <a:tr h="391363">
                <a:tc>
                  <a:txBody>
                    <a:bodyPr/>
                    <a:lstStyle/>
                    <a:p>
                      <a:r>
                        <a:rPr sz="1600">
                          <a:solidFill>
                            <a:srgbClr val="1C2130"/>
                          </a:solidFill>
                          <a:latin typeface="Inter"/>
                        </a:rPr>
                        <a:t>ISO 42001 — Cl. 9.1</a:t>
                      </a:r>
                    </a:p>
                  </a:txBody>
                  <a:tcPr marT="54864" marB="54864" anchor="ctr">
                    <a:solidFill>
                      <a:srgbClr val="FFFFFF"/>
                    </a:solidFill>
                  </a:tcPr>
                </a:tc>
                <a:tc>
                  <a:txBody>
                    <a:bodyPr/>
                    <a:lstStyle/>
                    <a:p>
                      <a:r>
                        <a:rPr sz="1600">
                          <a:solidFill>
                            <a:srgbClr val="1C2130"/>
                          </a:solidFill>
                          <a:latin typeface="Inter"/>
                        </a:rPr>
                        <a:t>Performance evaluation of the AI management system</a:t>
                      </a:r>
                    </a:p>
                  </a:txBody>
                  <a:tcPr marT="54864" marB="54864" anchor="ctr">
                    <a:solidFill>
                      <a:srgbClr val="FFFFFF"/>
                    </a:solidFill>
                  </a:tcPr>
                </a:tc>
                <a:tc>
                  <a:txBody>
                    <a:bodyPr/>
                    <a:lstStyle/>
                    <a:p>
                      <a:r>
                        <a:rPr sz="1600">
                          <a:solidFill>
                            <a:srgbClr val="1C2130"/>
                          </a:solidFill>
                          <a:latin typeface="Inter"/>
                        </a:rPr>
                        <a:t>Eval metrics feed the periodic management review</a:t>
                      </a:r>
                    </a:p>
                  </a:txBody>
                  <a:tcPr marT="54864" marB="54864" anchor="ctr">
                    <a:solidFill>
                      <a:srgbClr val="FFFFFF"/>
                    </a:solidFill>
                  </a:tcPr>
                </a:tc>
                <a:extLst>
                  <a:ext uri="{0D108BD9-81ED-4DB2-BD59-A6C34878D82A}">
                    <a16:rowId xmlns:a16="http://schemas.microsoft.com/office/drawing/2014/main" val="10003"/>
                  </a:ext>
                </a:extLst>
              </a:tr>
              <a:tr h="391363">
                <a:tc>
                  <a:txBody>
                    <a:bodyPr/>
                    <a:lstStyle/>
                    <a:p>
                      <a:r>
                        <a:rPr sz="1600">
                          <a:solidFill>
                            <a:srgbClr val="1C2130"/>
                          </a:solidFill>
                          <a:latin typeface="Inter"/>
                        </a:rPr>
                        <a:t>NIST AI RMF — MEASURE</a:t>
                      </a:r>
                    </a:p>
                  </a:txBody>
                  <a:tcPr marT="54864" marB="54864" anchor="ctr">
                    <a:solidFill>
                      <a:srgbClr val="FFFFFF"/>
                    </a:solidFill>
                  </a:tcPr>
                </a:tc>
                <a:tc>
                  <a:txBody>
                    <a:bodyPr/>
                    <a:lstStyle/>
                    <a:p>
                      <a:r>
                        <a:rPr sz="1600">
                          <a:solidFill>
                            <a:srgbClr val="1C2130"/>
                          </a:solidFill>
                          <a:latin typeface="Inter"/>
                        </a:rPr>
                        <a:t>Quantify and monitor AI risks</a:t>
                      </a:r>
                    </a:p>
                  </a:txBody>
                  <a:tcPr marT="54864" marB="54864" anchor="ctr">
                    <a:solidFill>
                      <a:srgbClr val="FFFFFF"/>
                    </a:solidFill>
                  </a:tcPr>
                </a:tc>
                <a:tc>
                  <a:txBody>
                    <a:bodyPr/>
                    <a:lstStyle/>
                    <a:p>
                      <a:r>
                        <a:rPr sz="1600">
                          <a:solidFill>
                            <a:srgbClr val="1C2130"/>
                          </a:solidFill>
                          <a:latin typeface="Inter"/>
                        </a:rPr>
                        <a:t>Evals operationalise the MEASURE function</a:t>
                      </a:r>
                    </a:p>
                  </a:txBody>
                  <a:tcPr marT="54864" marB="54864" anchor="ctr">
                    <a:solidFill>
                      <a:srgbClr val="FFFFFF"/>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548639" y="4651176"/>
            <a:ext cx="11094415" cy="896112"/>
          </a:xfrm>
          <a:prstGeom prst="roundRect">
            <a:avLst>
              <a:gd name="adj" fmla="val 6000"/>
            </a:avLst>
          </a:prstGeom>
          <a:solidFill>
            <a:srgbClr val="EAF4F0"/>
          </a:solidFill>
          <a:ln w="15875">
            <a:solidFill>
              <a:srgbClr val="1371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4833949"/>
            <a:ext cx="10637215" cy="676656"/>
          </a:xfrm>
          <a:prstGeom prst="rect">
            <a:avLst/>
          </a:prstGeom>
          <a:noFill/>
        </p:spPr>
        <p:txBody>
          <a:bodyPr wrap="square" lIns="45720" tIns="18288" rIns="45720" bIns="18288" anchor="t">
            <a:spAutoFit/>
          </a:bodyPr>
          <a:lstStyle/>
          <a:p>
            <a:pPr algn="l"/>
            <a:r>
              <a:rPr sz="1600" dirty="0">
                <a:solidFill>
                  <a:srgbClr val="1C2130"/>
                </a:solidFill>
                <a:latin typeface="Inter"/>
              </a:rPr>
              <a:t>An eval result in </a:t>
            </a:r>
            <a:r>
              <a:rPr sz="1600" dirty="0" err="1">
                <a:solidFill>
                  <a:srgbClr val="1C2130"/>
                </a:solidFill>
                <a:latin typeface="Inter"/>
              </a:rPr>
              <a:t>VerifyWise</a:t>
            </a:r>
            <a:r>
              <a:rPr sz="1600" dirty="0">
                <a:solidFill>
                  <a:srgbClr val="1C2130"/>
                </a:solidFill>
                <a:latin typeface="Inter"/>
              </a:rPr>
              <a:t> is not just an engineering metric — it is a compliance evidence artefact.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How large language models work</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005840"/>
            <a:ext cx="11094415" cy="731519"/>
          </a:xfrm>
          <a:prstGeom prst="rect">
            <a:avLst/>
          </a:prstGeom>
          <a:noFill/>
        </p:spPr>
        <p:txBody>
          <a:bodyPr wrap="square" lIns="45720" tIns="18288" rIns="45720" bIns="18288" anchor="t">
            <a:spAutoFit/>
          </a:bodyPr>
          <a:lstStyle/>
          <a:p>
            <a:pPr algn="l"/>
            <a:r>
              <a:rPr sz="1800">
                <a:solidFill>
                  <a:srgbClr val="1C2130"/>
                </a:solidFill>
                <a:latin typeface="Inter"/>
              </a:rPr>
              <a:t>LLMs are </a:t>
            </a:r>
            <a:r>
              <a:rPr sz="1800" b="1">
                <a:solidFill>
                  <a:srgbClr val="1C2130"/>
                </a:solidFill>
                <a:latin typeface="Inter"/>
              </a:rPr>
              <a:t>next-token predictors</a:t>
            </a:r>
            <a:r>
              <a:rPr sz="1800">
                <a:solidFill>
                  <a:srgbClr val="1C2130"/>
                </a:solidFill>
                <a:latin typeface="Inter"/>
              </a:rPr>
              <a:t>: given a sequence of tokens, the model outputs a probability distribution over the next token and samples from it.</a:t>
            </a:r>
          </a:p>
        </p:txBody>
      </p:sp>
      <p:graphicFrame>
        <p:nvGraphicFramePr>
          <p:cNvPr id="7" name="Table 6"/>
          <p:cNvGraphicFramePr>
            <a:graphicFrameLocks noGrp="1"/>
          </p:cNvGraphicFramePr>
          <p:nvPr/>
        </p:nvGraphicFramePr>
        <p:xfrm>
          <a:off x="548640" y="1783079"/>
          <a:ext cx="11094415" cy="2348178"/>
        </p:xfrm>
        <a:graphic>
          <a:graphicData uri="http://schemas.openxmlformats.org/drawingml/2006/table">
            <a:tbl>
              <a:tblPr firstRow="1" bandRow="1">
                <a:tableStyleId>{5C22544A-7EE6-4342-B048-85BDC9FD1C3A}</a:tableStyleId>
              </a:tblPr>
              <a:tblGrid>
                <a:gridCol w="3550212">
                  <a:extLst>
                    <a:ext uri="{9D8B030D-6E8A-4147-A177-3AD203B41FA5}">
                      <a16:colId xmlns:a16="http://schemas.microsoft.com/office/drawing/2014/main" val="20000"/>
                    </a:ext>
                  </a:extLst>
                </a:gridCol>
                <a:gridCol w="7544203">
                  <a:extLst>
                    <a:ext uri="{9D8B030D-6E8A-4147-A177-3AD203B41FA5}">
                      <a16:colId xmlns:a16="http://schemas.microsoft.com/office/drawing/2014/main" val="20001"/>
                    </a:ext>
                  </a:extLst>
                </a:gridCol>
              </a:tblGrid>
              <a:tr h="391363">
                <a:tc>
                  <a:txBody>
                    <a:bodyPr/>
                    <a:lstStyle/>
                    <a:p>
                      <a:r>
                        <a:rPr sz="1600" b="1">
                          <a:solidFill>
                            <a:srgbClr val="FFFFFF"/>
                          </a:solidFill>
                          <a:latin typeface="Inter"/>
                        </a:rPr>
                        <a:t>Layer</a:t>
                      </a:r>
                    </a:p>
                  </a:txBody>
                  <a:tcPr marT="54864" marB="54864" anchor="ctr">
                    <a:solidFill>
                      <a:srgbClr val="13715B"/>
                    </a:solidFill>
                  </a:tcPr>
                </a:tc>
                <a:tc>
                  <a:txBody>
                    <a:bodyPr/>
                    <a:lstStyle/>
                    <a:p>
                      <a:r>
                        <a:rPr sz="1600" b="1">
                          <a:solidFill>
                            <a:srgbClr val="FFFFFF"/>
                          </a:solidFill>
                          <a:latin typeface="Inter"/>
                        </a:rPr>
                        <a:t>What happens</a:t>
                      </a:r>
                    </a:p>
                  </a:txBody>
                  <a:tcPr marT="54864" marB="54864" anchor="ctr">
                    <a:solidFill>
                      <a:srgbClr val="13715B"/>
                    </a:solidFill>
                  </a:tcPr>
                </a:tc>
                <a:extLst>
                  <a:ext uri="{0D108BD9-81ED-4DB2-BD59-A6C34878D82A}">
                    <a16:rowId xmlns:a16="http://schemas.microsoft.com/office/drawing/2014/main" val="10000"/>
                  </a:ext>
                </a:extLst>
              </a:tr>
              <a:tr h="391363">
                <a:tc>
                  <a:txBody>
                    <a:bodyPr/>
                    <a:lstStyle/>
                    <a:p>
                      <a:r>
                        <a:rPr sz="1600">
                          <a:solidFill>
                            <a:srgbClr val="1C2130"/>
                          </a:solidFill>
                          <a:latin typeface="Inter"/>
                        </a:rPr>
                        <a:t>Tokenisation</a:t>
                      </a:r>
                    </a:p>
                  </a:txBody>
                  <a:tcPr marT="54864" marB="54864" anchor="ctr">
                    <a:solidFill>
                      <a:srgbClr val="FFFFFF"/>
                    </a:solidFill>
                  </a:tcPr>
                </a:tc>
                <a:tc>
                  <a:txBody>
                    <a:bodyPr/>
                    <a:lstStyle/>
                    <a:p>
                      <a:r>
                        <a:rPr sz="1600">
                          <a:solidFill>
                            <a:srgbClr val="1C2130"/>
                          </a:solidFill>
                          <a:latin typeface="Inter"/>
                        </a:rPr>
                        <a:t>Text → integer tokens (words, sub-words, characters)</a:t>
                      </a:r>
                    </a:p>
                  </a:txBody>
                  <a:tcPr marT="54864" marB="54864" anchor="ctr">
                    <a:solidFill>
                      <a:srgbClr val="FFFFFF"/>
                    </a:solidFill>
                  </a:tcPr>
                </a:tc>
                <a:extLst>
                  <a:ext uri="{0D108BD9-81ED-4DB2-BD59-A6C34878D82A}">
                    <a16:rowId xmlns:a16="http://schemas.microsoft.com/office/drawing/2014/main" val="10001"/>
                  </a:ext>
                </a:extLst>
              </a:tr>
              <a:tr h="391363">
                <a:tc>
                  <a:txBody>
                    <a:bodyPr/>
                    <a:lstStyle/>
                    <a:p>
                      <a:r>
                        <a:rPr sz="1600">
                          <a:solidFill>
                            <a:srgbClr val="1C2130"/>
                          </a:solidFill>
                          <a:latin typeface="Inter"/>
                        </a:rPr>
                        <a:t>Embedding</a:t>
                      </a:r>
                    </a:p>
                  </a:txBody>
                  <a:tcPr marT="54864" marB="54864" anchor="ctr">
                    <a:solidFill>
                      <a:srgbClr val="FFFFFF"/>
                    </a:solidFill>
                  </a:tcPr>
                </a:tc>
                <a:tc>
                  <a:txBody>
                    <a:bodyPr/>
                    <a:lstStyle/>
                    <a:p>
                      <a:r>
                        <a:rPr sz="1600">
                          <a:solidFill>
                            <a:srgbClr val="1C2130"/>
                          </a:solidFill>
                          <a:latin typeface="Inter"/>
                        </a:rPr>
                        <a:t>Tokens → high-dimensional vectors</a:t>
                      </a:r>
                    </a:p>
                  </a:txBody>
                  <a:tcPr marT="54864" marB="54864" anchor="ctr">
                    <a:solidFill>
                      <a:srgbClr val="FFFFFF"/>
                    </a:solidFill>
                  </a:tcPr>
                </a:tc>
                <a:extLst>
                  <a:ext uri="{0D108BD9-81ED-4DB2-BD59-A6C34878D82A}">
                    <a16:rowId xmlns:a16="http://schemas.microsoft.com/office/drawing/2014/main" val="10002"/>
                  </a:ext>
                </a:extLst>
              </a:tr>
              <a:tr h="391363">
                <a:tc>
                  <a:txBody>
                    <a:bodyPr/>
                    <a:lstStyle/>
                    <a:p>
                      <a:r>
                        <a:rPr sz="1600">
                          <a:solidFill>
                            <a:srgbClr val="1C2130"/>
                          </a:solidFill>
                          <a:latin typeface="Inter"/>
                        </a:rPr>
                        <a:t>Transformer blocks</a:t>
                      </a:r>
                    </a:p>
                  </a:txBody>
                  <a:tcPr marT="54864" marB="54864" anchor="ctr">
                    <a:solidFill>
                      <a:srgbClr val="FFFFFF"/>
                    </a:solidFill>
                  </a:tcPr>
                </a:tc>
                <a:tc>
                  <a:txBody>
                    <a:bodyPr/>
                    <a:lstStyle/>
                    <a:p>
                      <a:r>
                        <a:rPr sz="1600">
                          <a:solidFill>
                            <a:srgbClr val="1C2130"/>
                          </a:solidFill>
                          <a:latin typeface="Inter"/>
                        </a:rPr>
                        <a:t>Self-attention builds context across all prior tokens</a:t>
                      </a:r>
                    </a:p>
                  </a:txBody>
                  <a:tcPr marT="54864" marB="54864" anchor="ctr">
                    <a:solidFill>
                      <a:srgbClr val="FFFFFF"/>
                    </a:solidFill>
                  </a:tcPr>
                </a:tc>
                <a:extLst>
                  <a:ext uri="{0D108BD9-81ED-4DB2-BD59-A6C34878D82A}">
                    <a16:rowId xmlns:a16="http://schemas.microsoft.com/office/drawing/2014/main" val="10003"/>
                  </a:ext>
                </a:extLst>
              </a:tr>
              <a:tr h="391363">
                <a:tc>
                  <a:txBody>
                    <a:bodyPr/>
                    <a:lstStyle/>
                    <a:p>
                      <a:r>
                        <a:rPr sz="1600">
                          <a:solidFill>
                            <a:srgbClr val="1C2130"/>
                          </a:solidFill>
                          <a:latin typeface="Inter"/>
                        </a:rPr>
                        <a:t>Output head</a:t>
                      </a:r>
                    </a:p>
                  </a:txBody>
                  <a:tcPr marT="54864" marB="54864" anchor="ctr">
                    <a:solidFill>
                      <a:srgbClr val="FFFFFF"/>
                    </a:solidFill>
                  </a:tcPr>
                </a:tc>
                <a:tc>
                  <a:txBody>
                    <a:bodyPr/>
                    <a:lstStyle/>
                    <a:p>
                      <a:r>
                        <a:rPr sz="1600">
                          <a:solidFill>
                            <a:srgbClr val="1C2130"/>
                          </a:solidFill>
                          <a:latin typeface="Inter"/>
                        </a:rPr>
                        <a:t>Softmax over vocabulary → probability distribution</a:t>
                      </a:r>
                    </a:p>
                  </a:txBody>
                  <a:tcPr marT="54864" marB="54864" anchor="ctr">
                    <a:solidFill>
                      <a:srgbClr val="FFFFFF"/>
                    </a:solidFill>
                  </a:tcPr>
                </a:tc>
                <a:extLst>
                  <a:ext uri="{0D108BD9-81ED-4DB2-BD59-A6C34878D82A}">
                    <a16:rowId xmlns:a16="http://schemas.microsoft.com/office/drawing/2014/main" val="10004"/>
                  </a:ext>
                </a:extLst>
              </a:tr>
              <a:tr h="391363">
                <a:tc>
                  <a:txBody>
                    <a:bodyPr/>
                    <a:lstStyle/>
                    <a:p>
                      <a:r>
                        <a:rPr sz="1600">
                          <a:solidFill>
                            <a:srgbClr val="1C2130"/>
                          </a:solidFill>
                          <a:latin typeface="Inter"/>
                        </a:rPr>
                        <a:t>Sampling</a:t>
                      </a:r>
                    </a:p>
                  </a:txBody>
                  <a:tcPr marT="54864" marB="54864" anchor="ctr">
                    <a:solidFill>
                      <a:srgbClr val="FFFFFF"/>
                    </a:solidFill>
                  </a:tcPr>
                </a:tc>
                <a:tc>
                  <a:txBody>
                    <a:bodyPr/>
                    <a:lstStyle/>
                    <a:p>
                      <a:r>
                        <a:rPr sz="1600">
                          <a:solidFill>
                            <a:srgbClr val="1C2130"/>
                          </a:solidFill>
                          <a:latin typeface="Inter"/>
                        </a:rPr>
                        <a:t>Token drawn from distribution (temperature, top-p control randomness)</a:t>
                      </a:r>
                    </a:p>
                  </a:txBody>
                  <a:tcPr marT="54864" marB="54864" anchor="ctr">
                    <a:solidFill>
                      <a:srgbClr val="FFFFFF"/>
                    </a:solidFill>
                  </a:tcPr>
                </a:tc>
                <a:extLst>
                  <a:ext uri="{0D108BD9-81ED-4DB2-BD59-A6C34878D82A}">
                    <a16:rowId xmlns:a16="http://schemas.microsoft.com/office/drawing/2014/main" val="10005"/>
                  </a:ext>
                </a:extLst>
              </a:tr>
            </a:tbl>
          </a:graphicData>
        </a:graphic>
      </p:graphicFrame>
      <p:sp>
        <p:nvSpPr>
          <p:cNvPr id="8" name="Rounded Rectangle 7"/>
          <p:cNvSpPr/>
          <p:nvPr/>
        </p:nvSpPr>
        <p:spPr>
          <a:xfrm>
            <a:off x="548640" y="4222697"/>
            <a:ext cx="11094415" cy="896112"/>
          </a:xfrm>
          <a:prstGeom prst="roundRect">
            <a:avLst>
              <a:gd name="adj" fmla="val 6000"/>
            </a:avLst>
          </a:prstGeom>
          <a:solidFill>
            <a:srgbClr val="EAF4F0"/>
          </a:solidFill>
          <a:ln w="15875">
            <a:solidFill>
              <a:srgbClr val="1371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4332425"/>
            <a:ext cx="10637215" cy="676656"/>
          </a:xfrm>
          <a:prstGeom prst="rect">
            <a:avLst/>
          </a:prstGeom>
          <a:noFill/>
        </p:spPr>
        <p:txBody>
          <a:bodyPr wrap="square" lIns="45720" tIns="18288" rIns="45720" bIns="18288" anchor="t">
            <a:spAutoFit/>
          </a:bodyPr>
          <a:lstStyle/>
          <a:p>
            <a:pPr algn="l"/>
            <a:r>
              <a:rPr sz="1600">
                <a:solidFill>
                  <a:srgbClr val="1C2130"/>
                </a:solidFill>
                <a:latin typeface="Inter"/>
              </a:rPr>
              <a:t>Models don't "know" facts — they predict what text statistically follows a given context. This is the root cause of hallucination.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Why models hallucinate and make errors</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005840"/>
            <a:ext cx="11094415" cy="731519"/>
          </a:xfrm>
          <a:prstGeom prst="rect">
            <a:avLst/>
          </a:prstGeom>
          <a:noFill/>
        </p:spPr>
        <p:txBody>
          <a:bodyPr wrap="square" lIns="45720" tIns="18288" rIns="45720" bIns="18288" anchor="t">
            <a:spAutoFit/>
          </a:bodyPr>
          <a:lstStyle/>
          <a:p>
            <a:pPr algn="l"/>
            <a:r>
              <a:rPr sz="1800">
                <a:solidFill>
                  <a:srgbClr val="1C2130"/>
                </a:solidFill>
                <a:latin typeface="Inter"/>
              </a:rPr>
              <a:t>Hallucination is not a bug — it is a structural property of next-token prediction without a ground-truth retrieval step.</a:t>
            </a:r>
          </a:p>
        </p:txBody>
      </p:sp>
      <p:graphicFrame>
        <p:nvGraphicFramePr>
          <p:cNvPr id="7" name="Table 6"/>
          <p:cNvGraphicFramePr>
            <a:graphicFrameLocks noGrp="1"/>
          </p:cNvGraphicFramePr>
          <p:nvPr/>
        </p:nvGraphicFramePr>
        <p:xfrm>
          <a:off x="548640" y="1783079"/>
          <a:ext cx="11094415" cy="2348178"/>
        </p:xfrm>
        <a:graphic>
          <a:graphicData uri="http://schemas.openxmlformats.org/drawingml/2006/table">
            <a:tbl>
              <a:tblPr firstRow="1" bandRow="1">
                <a:tableStyleId>{5C22544A-7EE6-4342-B048-85BDC9FD1C3A}</a:tableStyleId>
              </a:tblPr>
              <a:tblGrid>
                <a:gridCol w="3550212">
                  <a:extLst>
                    <a:ext uri="{9D8B030D-6E8A-4147-A177-3AD203B41FA5}">
                      <a16:colId xmlns:a16="http://schemas.microsoft.com/office/drawing/2014/main" val="20000"/>
                    </a:ext>
                  </a:extLst>
                </a:gridCol>
                <a:gridCol w="7544203">
                  <a:extLst>
                    <a:ext uri="{9D8B030D-6E8A-4147-A177-3AD203B41FA5}">
                      <a16:colId xmlns:a16="http://schemas.microsoft.com/office/drawing/2014/main" val="20001"/>
                    </a:ext>
                  </a:extLst>
                </a:gridCol>
              </a:tblGrid>
              <a:tr h="391363">
                <a:tc>
                  <a:txBody>
                    <a:bodyPr/>
                    <a:lstStyle/>
                    <a:p>
                      <a:r>
                        <a:rPr sz="1600" b="1">
                          <a:solidFill>
                            <a:srgbClr val="FFFFFF"/>
                          </a:solidFill>
                          <a:latin typeface="Inter"/>
                        </a:rPr>
                        <a:t>Root cause</a:t>
                      </a:r>
                    </a:p>
                  </a:txBody>
                  <a:tcPr marT="54864" marB="54864" anchor="ctr">
                    <a:solidFill>
                      <a:srgbClr val="13715B"/>
                    </a:solidFill>
                  </a:tcPr>
                </a:tc>
                <a:tc>
                  <a:txBody>
                    <a:bodyPr/>
                    <a:lstStyle/>
                    <a:p>
                      <a:r>
                        <a:rPr sz="1600" b="1">
                          <a:solidFill>
                            <a:srgbClr val="FFFFFF"/>
                          </a:solidFill>
                          <a:latin typeface="Inter"/>
                        </a:rPr>
                        <a:t>What it looks like in practice</a:t>
                      </a:r>
                    </a:p>
                  </a:txBody>
                  <a:tcPr marT="54864" marB="54864" anchor="ctr">
                    <a:solidFill>
                      <a:srgbClr val="13715B"/>
                    </a:solidFill>
                  </a:tcPr>
                </a:tc>
                <a:extLst>
                  <a:ext uri="{0D108BD9-81ED-4DB2-BD59-A6C34878D82A}">
                    <a16:rowId xmlns:a16="http://schemas.microsoft.com/office/drawing/2014/main" val="10000"/>
                  </a:ext>
                </a:extLst>
              </a:tr>
              <a:tr h="391363">
                <a:tc>
                  <a:txBody>
                    <a:bodyPr/>
                    <a:lstStyle/>
                    <a:p>
                      <a:r>
                        <a:rPr sz="1600">
                          <a:solidFill>
                            <a:srgbClr val="1C2130"/>
                          </a:solidFill>
                          <a:latin typeface="Inter"/>
                        </a:rPr>
                        <a:t>No grounding</a:t>
                      </a:r>
                    </a:p>
                  </a:txBody>
                  <a:tcPr marT="54864" marB="54864" anchor="ctr">
                    <a:solidFill>
                      <a:srgbClr val="FFFFFF"/>
                    </a:solidFill>
                  </a:tcPr>
                </a:tc>
                <a:tc>
                  <a:txBody>
                    <a:bodyPr/>
                    <a:lstStyle/>
                    <a:p>
                      <a:r>
                        <a:rPr sz="1600">
                          <a:solidFill>
                            <a:srgbClr val="1C2130"/>
                          </a:solidFill>
                          <a:latin typeface="Inter"/>
                        </a:rPr>
                        <a:t>Generates plausible-sounding citations, names, dates that don't exist</a:t>
                      </a:r>
                    </a:p>
                  </a:txBody>
                  <a:tcPr marT="54864" marB="54864" anchor="ctr">
                    <a:solidFill>
                      <a:srgbClr val="FFFFFF"/>
                    </a:solidFill>
                  </a:tcPr>
                </a:tc>
                <a:extLst>
                  <a:ext uri="{0D108BD9-81ED-4DB2-BD59-A6C34878D82A}">
                    <a16:rowId xmlns:a16="http://schemas.microsoft.com/office/drawing/2014/main" val="10001"/>
                  </a:ext>
                </a:extLst>
              </a:tr>
              <a:tr h="391363">
                <a:tc>
                  <a:txBody>
                    <a:bodyPr/>
                    <a:lstStyle/>
                    <a:p>
                      <a:r>
                        <a:rPr sz="1600">
                          <a:solidFill>
                            <a:srgbClr val="1C2130"/>
                          </a:solidFill>
                          <a:latin typeface="Inter"/>
                        </a:rPr>
                        <a:t>Distributional gap</a:t>
                      </a:r>
                    </a:p>
                  </a:txBody>
                  <a:tcPr marT="54864" marB="54864" anchor="ctr">
                    <a:solidFill>
                      <a:srgbClr val="FFFFFF"/>
                    </a:solidFill>
                  </a:tcPr>
                </a:tc>
                <a:tc>
                  <a:txBody>
                    <a:bodyPr/>
                    <a:lstStyle/>
                    <a:p>
                      <a:r>
                        <a:rPr sz="1600">
                          <a:solidFill>
                            <a:srgbClr val="1C2130"/>
                          </a:solidFill>
                          <a:latin typeface="Inter"/>
                        </a:rPr>
                        <a:t>Training data underrepresents a topic → model interpolates wrongly</a:t>
                      </a:r>
                    </a:p>
                  </a:txBody>
                  <a:tcPr marT="54864" marB="54864" anchor="ctr">
                    <a:solidFill>
                      <a:srgbClr val="FFFFFF"/>
                    </a:solidFill>
                  </a:tcPr>
                </a:tc>
                <a:extLst>
                  <a:ext uri="{0D108BD9-81ED-4DB2-BD59-A6C34878D82A}">
                    <a16:rowId xmlns:a16="http://schemas.microsoft.com/office/drawing/2014/main" val="10002"/>
                  </a:ext>
                </a:extLst>
              </a:tr>
              <a:tr h="391363">
                <a:tc>
                  <a:txBody>
                    <a:bodyPr/>
                    <a:lstStyle/>
                    <a:p>
                      <a:r>
                        <a:rPr sz="1600">
                          <a:solidFill>
                            <a:srgbClr val="1C2130"/>
                          </a:solidFill>
                          <a:latin typeface="Inter"/>
                        </a:rPr>
                        <a:t>Confidence miscalibration</a:t>
                      </a:r>
                    </a:p>
                  </a:txBody>
                  <a:tcPr marT="54864" marB="54864" anchor="ctr">
                    <a:solidFill>
                      <a:srgbClr val="FFFFFF"/>
                    </a:solidFill>
                  </a:tcPr>
                </a:tc>
                <a:tc>
                  <a:txBody>
                    <a:bodyPr/>
                    <a:lstStyle/>
                    <a:p>
                      <a:r>
                        <a:rPr sz="1600">
                          <a:solidFill>
                            <a:srgbClr val="1C2130"/>
                          </a:solidFill>
                          <a:latin typeface="Inter"/>
                        </a:rPr>
                        <a:t>High-probability token ≠ factually correct token</a:t>
                      </a:r>
                    </a:p>
                  </a:txBody>
                  <a:tcPr marT="54864" marB="54864" anchor="ctr">
                    <a:solidFill>
                      <a:srgbClr val="FFFFFF"/>
                    </a:solidFill>
                  </a:tcPr>
                </a:tc>
                <a:extLst>
                  <a:ext uri="{0D108BD9-81ED-4DB2-BD59-A6C34878D82A}">
                    <a16:rowId xmlns:a16="http://schemas.microsoft.com/office/drawing/2014/main" val="10003"/>
                  </a:ext>
                </a:extLst>
              </a:tr>
              <a:tr h="391363">
                <a:tc>
                  <a:txBody>
                    <a:bodyPr/>
                    <a:lstStyle/>
                    <a:p>
                      <a:r>
                        <a:rPr sz="1600">
                          <a:solidFill>
                            <a:srgbClr val="1C2130"/>
                          </a:solidFill>
                          <a:latin typeface="Inter"/>
                        </a:rPr>
                        <a:t>Context window limits</a:t>
                      </a:r>
                    </a:p>
                  </a:txBody>
                  <a:tcPr marT="54864" marB="54864" anchor="ctr">
                    <a:solidFill>
                      <a:srgbClr val="FFFFFF"/>
                    </a:solidFill>
                  </a:tcPr>
                </a:tc>
                <a:tc>
                  <a:txBody>
                    <a:bodyPr/>
                    <a:lstStyle/>
                    <a:p>
                      <a:r>
                        <a:rPr sz="1600">
                          <a:solidFill>
                            <a:srgbClr val="1C2130"/>
                          </a:solidFill>
                          <a:latin typeface="Inter"/>
                        </a:rPr>
                        <a:t>Long documents exceed the window; earlier facts are "forgotten"</a:t>
                      </a:r>
                    </a:p>
                  </a:txBody>
                  <a:tcPr marT="54864" marB="54864" anchor="ctr">
                    <a:solidFill>
                      <a:srgbClr val="FFFFFF"/>
                    </a:solidFill>
                  </a:tcPr>
                </a:tc>
                <a:extLst>
                  <a:ext uri="{0D108BD9-81ED-4DB2-BD59-A6C34878D82A}">
                    <a16:rowId xmlns:a16="http://schemas.microsoft.com/office/drawing/2014/main" val="10004"/>
                  </a:ext>
                </a:extLst>
              </a:tr>
              <a:tr h="391363">
                <a:tc>
                  <a:txBody>
                    <a:bodyPr/>
                    <a:lstStyle/>
                    <a:p>
                      <a:r>
                        <a:rPr sz="1600">
                          <a:solidFill>
                            <a:srgbClr val="1C2130"/>
                          </a:solidFill>
                          <a:latin typeface="Inter"/>
                        </a:rPr>
                        <a:t>Instruction–knowledge tension</a:t>
                      </a:r>
                    </a:p>
                  </a:txBody>
                  <a:tcPr marT="54864" marB="54864" anchor="ctr">
                    <a:solidFill>
                      <a:srgbClr val="FFFFFF"/>
                    </a:solidFill>
                  </a:tcPr>
                </a:tc>
                <a:tc>
                  <a:txBody>
                    <a:bodyPr/>
                    <a:lstStyle/>
                    <a:p>
                      <a:r>
                        <a:rPr sz="1600">
                          <a:solidFill>
                            <a:srgbClr val="1C2130"/>
                          </a:solidFill>
                          <a:latin typeface="Inter"/>
                        </a:rPr>
                        <a:t>Asked to answer even when it shouldn't — RLHF rewards helpfulness</a:t>
                      </a:r>
                    </a:p>
                  </a:txBody>
                  <a:tcPr marT="54864" marB="54864" anchor="ctr">
                    <a:solidFill>
                      <a:srgbClr val="FFFFFF"/>
                    </a:solidFill>
                  </a:tcPr>
                </a:tc>
                <a:extLst>
                  <a:ext uri="{0D108BD9-81ED-4DB2-BD59-A6C34878D82A}">
                    <a16:rowId xmlns:a16="http://schemas.microsoft.com/office/drawing/2014/main" val="10005"/>
                  </a:ext>
                </a:extLst>
              </a:tr>
            </a:tbl>
          </a:graphicData>
        </a:graphic>
      </p:graphicFrame>
      <p:sp>
        <p:nvSpPr>
          <p:cNvPr id="8" name="Rounded Rectangle 7"/>
          <p:cNvSpPr/>
          <p:nvPr/>
        </p:nvSpPr>
        <p:spPr>
          <a:xfrm>
            <a:off x="548640" y="4222697"/>
            <a:ext cx="11094415" cy="896112"/>
          </a:xfrm>
          <a:prstGeom prst="roundRect">
            <a:avLst>
              <a:gd name="adj" fmla="val 6000"/>
            </a:avLst>
          </a:prstGeom>
          <a:solidFill>
            <a:srgbClr val="EAF4F0"/>
          </a:solidFill>
          <a:ln w="15875">
            <a:solidFill>
              <a:srgbClr val="1371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4332425"/>
            <a:ext cx="10637215" cy="676656"/>
          </a:xfrm>
          <a:prstGeom prst="rect">
            <a:avLst/>
          </a:prstGeom>
          <a:noFill/>
        </p:spPr>
        <p:txBody>
          <a:bodyPr wrap="square" lIns="45720" tIns="18288" rIns="45720" bIns="18288" anchor="t">
            <a:spAutoFit/>
          </a:bodyPr>
          <a:lstStyle/>
          <a:p>
            <a:pPr algn="l"/>
            <a:r>
              <a:rPr sz="1600">
                <a:solidFill>
                  <a:srgbClr val="1C2130"/>
                </a:solidFill>
                <a:latin typeface="Inter"/>
              </a:rPr>
              <a:t>Mitigation strategies: retrieval-augmented generation (RAG), grounding checks, structured output constraints, and — critically — evals that catch these failures before users do.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Bias and fairness in LLMs</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005840"/>
            <a:ext cx="11094415" cy="402336"/>
          </a:xfrm>
          <a:prstGeom prst="rect">
            <a:avLst/>
          </a:prstGeom>
          <a:noFill/>
        </p:spPr>
        <p:txBody>
          <a:bodyPr wrap="square" lIns="45720" tIns="18288" rIns="45720" bIns="18288" anchor="t">
            <a:spAutoFit/>
          </a:bodyPr>
          <a:lstStyle/>
          <a:p>
            <a:pPr algn="l"/>
            <a:r>
              <a:rPr sz="1800">
                <a:solidFill>
                  <a:srgbClr val="1C2130"/>
                </a:solidFill>
                <a:latin typeface="Inter"/>
              </a:rPr>
              <a:t>Bias enters at every stage of the model lifecycle — not just training data.</a:t>
            </a:r>
          </a:p>
        </p:txBody>
      </p:sp>
      <p:graphicFrame>
        <p:nvGraphicFramePr>
          <p:cNvPr id="7" name="Table 6"/>
          <p:cNvGraphicFramePr>
            <a:graphicFrameLocks noGrp="1"/>
          </p:cNvGraphicFramePr>
          <p:nvPr/>
        </p:nvGraphicFramePr>
        <p:xfrm>
          <a:off x="548640" y="1453896"/>
          <a:ext cx="11094414" cy="2368905"/>
        </p:xfrm>
        <a:graphic>
          <a:graphicData uri="http://schemas.openxmlformats.org/drawingml/2006/table">
            <a:tbl>
              <a:tblPr firstRow="1" bandRow="1">
                <a:tableStyleId>{5C22544A-7EE6-4342-B048-85BDC9FD1C3A}</a:tableStyleId>
              </a:tblPr>
              <a:tblGrid>
                <a:gridCol w="3550212">
                  <a:extLst>
                    <a:ext uri="{9D8B030D-6E8A-4147-A177-3AD203B41FA5}">
                      <a16:colId xmlns:a16="http://schemas.microsoft.com/office/drawing/2014/main" val="20000"/>
                    </a:ext>
                  </a:extLst>
                </a:gridCol>
                <a:gridCol w="3772101">
                  <a:extLst>
                    <a:ext uri="{9D8B030D-6E8A-4147-A177-3AD203B41FA5}">
                      <a16:colId xmlns:a16="http://schemas.microsoft.com/office/drawing/2014/main" val="20001"/>
                    </a:ext>
                  </a:extLst>
                </a:gridCol>
                <a:gridCol w="3772101">
                  <a:extLst>
                    <a:ext uri="{9D8B030D-6E8A-4147-A177-3AD203B41FA5}">
                      <a16:colId xmlns:a16="http://schemas.microsoft.com/office/drawing/2014/main" val="20002"/>
                    </a:ext>
                  </a:extLst>
                </a:gridCol>
              </a:tblGrid>
              <a:tr h="391363">
                <a:tc>
                  <a:txBody>
                    <a:bodyPr/>
                    <a:lstStyle/>
                    <a:p>
                      <a:r>
                        <a:rPr sz="1600" b="1">
                          <a:solidFill>
                            <a:srgbClr val="FFFFFF"/>
                          </a:solidFill>
                          <a:latin typeface="Inter"/>
                        </a:rPr>
                        <a:t>Stage</a:t>
                      </a:r>
                    </a:p>
                  </a:txBody>
                  <a:tcPr marT="54864" marB="54864" anchor="ctr">
                    <a:solidFill>
                      <a:srgbClr val="13715B"/>
                    </a:solidFill>
                  </a:tcPr>
                </a:tc>
                <a:tc>
                  <a:txBody>
                    <a:bodyPr/>
                    <a:lstStyle/>
                    <a:p>
                      <a:r>
                        <a:rPr sz="1600" b="1">
                          <a:solidFill>
                            <a:srgbClr val="FFFFFF"/>
                          </a:solidFill>
                          <a:latin typeface="Inter"/>
                        </a:rPr>
                        <a:t>Bias mechanism</a:t>
                      </a:r>
                    </a:p>
                  </a:txBody>
                  <a:tcPr marT="54864" marB="54864" anchor="ctr">
                    <a:solidFill>
                      <a:srgbClr val="13715B"/>
                    </a:solidFill>
                  </a:tcPr>
                </a:tc>
                <a:tc>
                  <a:txBody>
                    <a:bodyPr/>
                    <a:lstStyle/>
                    <a:p>
                      <a:r>
                        <a:rPr sz="1600" b="1">
                          <a:solidFill>
                            <a:srgbClr val="FFFFFF"/>
                          </a:solidFill>
                          <a:latin typeface="Inter"/>
                        </a:rPr>
                        <a:t>Example</a:t>
                      </a:r>
                    </a:p>
                  </a:txBody>
                  <a:tcPr marT="54864" marB="54864" anchor="ctr">
                    <a:solidFill>
                      <a:srgbClr val="13715B"/>
                    </a:solidFill>
                  </a:tcPr>
                </a:tc>
                <a:extLst>
                  <a:ext uri="{0D108BD9-81ED-4DB2-BD59-A6C34878D82A}">
                    <a16:rowId xmlns:a16="http://schemas.microsoft.com/office/drawing/2014/main" val="10000"/>
                  </a:ext>
                </a:extLst>
              </a:tr>
              <a:tr h="391363">
                <a:tc>
                  <a:txBody>
                    <a:bodyPr/>
                    <a:lstStyle/>
                    <a:p>
                      <a:r>
                        <a:rPr sz="1600">
                          <a:solidFill>
                            <a:srgbClr val="1C2130"/>
                          </a:solidFill>
                          <a:latin typeface="Inter"/>
                        </a:rPr>
                        <a:t>Pre-training data</a:t>
                      </a:r>
                    </a:p>
                  </a:txBody>
                  <a:tcPr marT="54864" marB="54864" anchor="ctr">
                    <a:solidFill>
                      <a:srgbClr val="FFFFFF"/>
                    </a:solidFill>
                  </a:tcPr>
                </a:tc>
                <a:tc>
                  <a:txBody>
                    <a:bodyPr/>
                    <a:lstStyle/>
                    <a:p>
                      <a:r>
                        <a:rPr sz="1600">
                          <a:solidFill>
                            <a:srgbClr val="1C2130"/>
                          </a:solidFill>
                          <a:latin typeface="Inter"/>
                        </a:rPr>
                        <a:t>Web text reflects historical inequities</a:t>
                      </a:r>
                    </a:p>
                  </a:txBody>
                  <a:tcPr marT="54864" marB="54864" anchor="ctr">
                    <a:solidFill>
                      <a:srgbClr val="FFFFFF"/>
                    </a:solidFill>
                  </a:tcPr>
                </a:tc>
                <a:tc>
                  <a:txBody>
                    <a:bodyPr/>
                    <a:lstStyle/>
                    <a:p>
                      <a:r>
                        <a:rPr sz="1600">
                          <a:solidFill>
                            <a:srgbClr val="1C2130"/>
                          </a:solidFill>
                          <a:latin typeface="Inter"/>
                        </a:rPr>
                        <a:t>"nurse" → female, "engineer" → male</a:t>
                      </a:r>
                    </a:p>
                  </a:txBody>
                  <a:tcPr marT="54864" marB="54864" anchor="ctr">
                    <a:solidFill>
                      <a:srgbClr val="FFFFFF"/>
                    </a:solidFill>
                  </a:tcPr>
                </a:tc>
                <a:extLst>
                  <a:ext uri="{0D108BD9-81ED-4DB2-BD59-A6C34878D82A}">
                    <a16:rowId xmlns:a16="http://schemas.microsoft.com/office/drawing/2014/main" val="10001"/>
                  </a:ext>
                </a:extLst>
              </a:tr>
              <a:tr h="391363">
                <a:tc>
                  <a:txBody>
                    <a:bodyPr/>
                    <a:lstStyle/>
                    <a:p>
                      <a:r>
                        <a:rPr sz="1600">
                          <a:solidFill>
                            <a:srgbClr val="1C2130"/>
                          </a:solidFill>
                          <a:latin typeface="Inter"/>
                        </a:rPr>
                        <a:t>RLHF / fine-tuning</a:t>
                      </a:r>
                    </a:p>
                  </a:txBody>
                  <a:tcPr marT="54864" marB="54864" anchor="ctr">
                    <a:solidFill>
                      <a:srgbClr val="FFFFFF"/>
                    </a:solidFill>
                  </a:tcPr>
                </a:tc>
                <a:tc>
                  <a:txBody>
                    <a:bodyPr/>
                    <a:lstStyle/>
                    <a:p>
                      <a:r>
                        <a:rPr sz="1600">
                          <a:solidFill>
                            <a:srgbClr val="1C2130"/>
                          </a:solidFill>
                          <a:latin typeface="Inter"/>
                        </a:rPr>
                        <a:t>Human raters have cultural blind spots</a:t>
                      </a:r>
                    </a:p>
                  </a:txBody>
                  <a:tcPr marT="54864" marB="54864" anchor="ctr">
                    <a:solidFill>
                      <a:srgbClr val="FFFFFF"/>
                    </a:solidFill>
                  </a:tcPr>
                </a:tc>
                <a:tc>
                  <a:txBody>
                    <a:bodyPr/>
                    <a:lstStyle/>
                    <a:p>
                      <a:r>
                        <a:rPr sz="1600">
                          <a:solidFill>
                            <a:srgbClr val="1C2130"/>
                          </a:solidFill>
                          <a:latin typeface="Inter"/>
                        </a:rPr>
                        <a:t>Western communication styles rated higher</a:t>
                      </a:r>
                    </a:p>
                  </a:txBody>
                  <a:tcPr marT="54864" marB="54864" anchor="ctr">
                    <a:solidFill>
                      <a:srgbClr val="FFFFFF"/>
                    </a:solidFill>
                  </a:tcPr>
                </a:tc>
                <a:extLst>
                  <a:ext uri="{0D108BD9-81ED-4DB2-BD59-A6C34878D82A}">
                    <a16:rowId xmlns:a16="http://schemas.microsoft.com/office/drawing/2014/main" val="10002"/>
                  </a:ext>
                </a:extLst>
              </a:tr>
              <a:tr h="391363">
                <a:tc>
                  <a:txBody>
                    <a:bodyPr/>
                    <a:lstStyle/>
                    <a:p>
                      <a:r>
                        <a:rPr sz="1600">
                          <a:solidFill>
                            <a:srgbClr val="1C2130"/>
                          </a:solidFill>
                          <a:latin typeface="Inter"/>
                        </a:rPr>
                        <a:t>Prompt design</a:t>
                      </a:r>
                    </a:p>
                  </a:txBody>
                  <a:tcPr marT="54864" marB="54864" anchor="ctr">
                    <a:solidFill>
                      <a:srgbClr val="FFFFFF"/>
                    </a:solidFill>
                  </a:tcPr>
                </a:tc>
                <a:tc>
                  <a:txBody>
                    <a:bodyPr/>
                    <a:lstStyle/>
                    <a:p>
                      <a:r>
                        <a:rPr sz="1600">
                          <a:solidFill>
                            <a:srgbClr val="1C2130"/>
                          </a:solidFill>
                          <a:latin typeface="Inter"/>
                        </a:rPr>
                        <a:t>Framing effects shift output distributions</a:t>
                      </a:r>
                    </a:p>
                  </a:txBody>
                  <a:tcPr marT="54864" marB="54864" anchor="ctr">
                    <a:solidFill>
                      <a:srgbClr val="FFFFFF"/>
                    </a:solidFill>
                  </a:tcPr>
                </a:tc>
                <a:tc>
                  <a:txBody>
                    <a:bodyPr/>
                    <a:lstStyle/>
                    <a:p>
                      <a:r>
                        <a:rPr sz="1600">
                          <a:solidFill>
                            <a:srgbClr val="1C2130"/>
                          </a:solidFill>
                          <a:latin typeface="Inter"/>
                        </a:rPr>
                        <a:t>"Write about a doctor" → male by default</a:t>
                      </a:r>
                    </a:p>
                  </a:txBody>
                  <a:tcPr marT="54864" marB="54864" anchor="ctr">
                    <a:solidFill>
                      <a:srgbClr val="FFFFFF"/>
                    </a:solidFill>
                  </a:tcPr>
                </a:tc>
                <a:extLst>
                  <a:ext uri="{0D108BD9-81ED-4DB2-BD59-A6C34878D82A}">
                    <a16:rowId xmlns:a16="http://schemas.microsoft.com/office/drawing/2014/main" val="10003"/>
                  </a:ext>
                </a:extLst>
              </a:tr>
              <a:tr h="391363">
                <a:tc>
                  <a:txBody>
                    <a:bodyPr/>
                    <a:lstStyle/>
                    <a:p>
                      <a:r>
                        <a:rPr sz="1600">
                          <a:solidFill>
                            <a:srgbClr val="1C2130"/>
                          </a:solidFill>
                          <a:latin typeface="Inter"/>
                        </a:rPr>
                        <a:t>Deployment context</a:t>
                      </a:r>
                    </a:p>
                  </a:txBody>
                  <a:tcPr marT="54864" marB="54864" anchor="ctr">
                    <a:solidFill>
                      <a:srgbClr val="FFFFFF"/>
                    </a:solidFill>
                  </a:tcPr>
                </a:tc>
                <a:tc>
                  <a:txBody>
                    <a:bodyPr/>
                    <a:lstStyle/>
                    <a:p>
                      <a:r>
                        <a:rPr sz="1600">
                          <a:solidFill>
                            <a:srgbClr val="1C2130"/>
                          </a:solidFill>
                          <a:latin typeface="Inter"/>
                        </a:rPr>
                        <a:t>Unequal error rates across groups</a:t>
                      </a:r>
                    </a:p>
                  </a:txBody>
                  <a:tcPr marT="54864" marB="54864" anchor="ctr">
                    <a:solidFill>
                      <a:srgbClr val="FFFFFF"/>
                    </a:solidFill>
                  </a:tcPr>
                </a:tc>
                <a:tc>
                  <a:txBody>
                    <a:bodyPr/>
                    <a:lstStyle/>
                    <a:p>
                      <a:r>
                        <a:rPr sz="1600">
                          <a:solidFill>
                            <a:srgbClr val="1C2130"/>
                          </a:solidFill>
                          <a:latin typeface="Inter"/>
                        </a:rPr>
                        <a:t>Lower accuracy for non-native English speakers</a:t>
                      </a:r>
                    </a:p>
                  </a:txBody>
                  <a:tcPr marT="54864" marB="54864" anchor="ctr">
                    <a:solidFill>
                      <a:srgbClr val="FFFFFF"/>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548640" y="4197096"/>
            <a:ext cx="11094415" cy="1207008"/>
          </a:xfrm>
          <a:prstGeom prst="roundRect">
            <a:avLst>
              <a:gd name="adj" fmla="val 6000"/>
            </a:avLst>
          </a:prstGeom>
          <a:solidFill>
            <a:srgbClr val="EAF4F0"/>
          </a:solidFill>
          <a:ln w="15875">
            <a:solidFill>
              <a:srgbClr val="1371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39" y="4416552"/>
            <a:ext cx="10637215" cy="987552"/>
          </a:xfrm>
          <a:prstGeom prst="rect">
            <a:avLst/>
          </a:prstGeom>
          <a:noFill/>
        </p:spPr>
        <p:txBody>
          <a:bodyPr wrap="square" lIns="45720" tIns="18288" rIns="45720" bIns="18288" anchor="t">
            <a:spAutoFit/>
          </a:bodyPr>
          <a:lstStyle/>
          <a:p>
            <a:pPr algn="l"/>
            <a:r>
              <a:rPr sz="1600">
                <a:solidFill>
                  <a:srgbClr val="1C2130"/>
                </a:solidFill>
                <a:latin typeface="Inter"/>
              </a:rPr>
              <a:t>Bias in a model's outputs can constitute discrimination under EU AI Act Annex III (employment, credit, education). This is why bias audits are a compliance requirement, not just an ethical preference.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A taxonomy of LLM evaluations</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548640" y="1005840"/>
          <a:ext cx="11094414" cy="1956815"/>
        </p:xfrm>
        <a:graphic>
          <a:graphicData uri="http://schemas.openxmlformats.org/drawingml/2006/table">
            <a:tbl>
              <a:tblPr firstRow="1" bandRow="1">
                <a:tableStyleId>{5C22544A-7EE6-4342-B048-85BDC9FD1C3A}</a:tableStyleId>
              </a:tblPr>
              <a:tblGrid>
                <a:gridCol w="3550212">
                  <a:extLst>
                    <a:ext uri="{9D8B030D-6E8A-4147-A177-3AD203B41FA5}">
                      <a16:colId xmlns:a16="http://schemas.microsoft.com/office/drawing/2014/main" val="20000"/>
                    </a:ext>
                  </a:extLst>
                </a:gridCol>
                <a:gridCol w="3772101">
                  <a:extLst>
                    <a:ext uri="{9D8B030D-6E8A-4147-A177-3AD203B41FA5}">
                      <a16:colId xmlns:a16="http://schemas.microsoft.com/office/drawing/2014/main" val="20001"/>
                    </a:ext>
                  </a:extLst>
                </a:gridCol>
                <a:gridCol w="3772101">
                  <a:extLst>
                    <a:ext uri="{9D8B030D-6E8A-4147-A177-3AD203B41FA5}">
                      <a16:colId xmlns:a16="http://schemas.microsoft.com/office/drawing/2014/main" val="20002"/>
                    </a:ext>
                  </a:extLst>
                </a:gridCol>
              </a:tblGrid>
              <a:tr h="391363">
                <a:tc>
                  <a:txBody>
                    <a:bodyPr/>
                    <a:lstStyle/>
                    <a:p>
                      <a:r>
                        <a:rPr sz="1600" b="1">
                          <a:solidFill>
                            <a:srgbClr val="FFFFFF"/>
                          </a:solidFill>
                          <a:latin typeface="Inter"/>
                        </a:rPr>
                        <a:t>Axis</a:t>
                      </a:r>
                    </a:p>
                  </a:txBody>
                  <a:tcPr marT="54864" marB="54864" anchor="ctr">
                    <a:solidFill>
                      <a:srgbClr val="13715B"/>
                    </a:solidFill>
                  </a:tcPr>
                </a:tc>
                <a:tc>
                  <a:txBody>
                    <a:bodyPr/>
                    <a:lstStyle/>
                    <a:p>
                      <a:r>
                        <a:rPr sz="1600" b="1">
                          <a:solidFill>
                            <a:srgbClr val="FFFFFF"/>
                          </a:solidFill>
                          <a:latin typeface="Inter"/>
                        </a:rPr>
                        <a:t>Option A</a:t>
                      </a:r>
                    </a:p>
                  </a:txBody>
                  <a:tcPr marT="54864" marB="54864" anchor="ctr">
                    <a:solidFill>
                      <a:srgbClr val="13715B"/>
                    </a:solidFill>
                  </a:tcPr>
                </a:tc>
                <a:tc>
                  <a:txBody>
                    <a:bodyPr/>
                    <a:lstStyle/>
                    <a:p>
                      <a:r>
                        <a:rPr sz="1600" b="1">
                          <a:solidFill>
                            <a:srgbClr val="FFFFFF"/>
                          </a:solidFill>
                          <a:latin typeface="Inter"/>
                        </a:rPr>
                        <a:t>Option B</a:t>
                      </a:r>
                    </a:p>
                  </a:txBody>
                  <a:tcPr marT="54864" marB="54864" anchor="ctr">
                    <a:solidFill>
                      <a:srgbClr val="13715B"/>
                    </a:solidFill>
                  </a:tcPr>
                </a:tc>
                <a:extLst>
                  <a:ext uri="{0D108BD9-81ED-4DB2-BD59-A6C34878D82A}">
                    <a16:rowId xmlns:a16="http://schemas.microsoft.com/office/drawing/2014/main" val="10000"/>
                  </a:ext>
                </a:extLst>
              </a:tr>
              <a:tr h="391363">
                <a:tc>
                  <a:txBody>
                    <a:bodyPr/>
                    <a:lstStyle/>
                    <a:p>
                      <a:r>
                        <a:rPr sz="1600">
                          <a:solidFill>
                            <a:srgbClr val="1C2130"/>
                          </a:solidFill>
                          <a:latin typeface="Inter"/>
                        </a:rPr>
                        <a:t>Who scores?</a:t>
                      </a:r>
                    </a:p>
                  </a:txBody>
                  <a:tcPr marT="54864" marB="54864" anchor="ctr">
                    <a:solidFill>
                      <a:srgbClr val="FFFFFF"/>
                    </a:solidFill>
                  </a:tcPr>
                </a:tc>
                <a:tc>
                  <a:txBody>
                    <a:bodyPr/>
                    <a:lstStyle/>
                    <a:p>
                      <a:r>
                        <a:rPr sz="1600" b="1">
                          <a:solidFill>
                            <a:srgbClr val="1C2130"/>
                          </a:solidFill>
                          <a:latin typeface="Inter"/>
                        </a:rPr>
                        <a:t>Automated</a:t>
                      </a:r>
                      <a:r>
                        <a:rPr sz="1600">
                          <a:solidFill>
                            <a:srgbClr val="1C2130"/>
                          </a:solidFill>
                          <a:latin typeface="Inter"/>
                        </a:rPr>
                        <a:t> — fast, cheap, scalable</a:t>
                      </a:r>
                    </a:p>
                  </a:txBody>
                  <a:tcPr marT="54864" marB="54864" anchor="ctr">
                    <a:solidFill>
                      <a:srgbClr val="FFFFFF"/>
                    </a:solidFill>
                  </a:tcPr>
                </a:tc>
                <a:tc>
                  <a:txBody>
                    <a:bodyPr/>
                    <a:lstStyle/>
                    <a:p>
                      <a:r>
                        <a:rPr sz="1600" b="1">
                          <a:solidFill>
                            <a:srgbClr val="1C2130"/>
                          </a:solidFill>
                          <a:latin typeface="Inter"/>
                        </a:rPr>
                        <a:t>Human</a:t>
                      </a:r>
                      <a:r>
                        <a:rPr sz="1600">
                          <a:solidFill>
                            <a:srgbClr val="1C2130"/>
                          </a:solidFill>
                          <a:latin typeface="Inter"/>
                        </a:rPr>
                        <a:t> — gold standard, slow</a:t>
                      </a:r>
                    </a:p>
                  </a:txBody>
                  <a:tcPr marT="54864" marB="54864" anchor="ctr">
                    <a:solidFill>
                      <a:srgbClr val="FFFFFF"/>
                    </a:solidFill>
                  </a:tcPr>
                </a:tc>
                <a:extLst>
                  <a:ext uri="{0D108BD9-81ED-4DB2-BD59-A6C34878D82A}">
                    <a16:rowId xmlns:a16="http://schemas.microsoft.com/office/drawing/2014/main" val="10001"/>
                  </a:ext>
                </a:extLst>
              </a:tr>
              <a:tr h="391363">
                <a:tc>
                  <a:txBody>
                    <a:bodyPr/>
                    <a:lstStyle/>
                    <a:p>
                      <a:r>
                        <a:rPr sz="1600">
                          <a:solidFill>
                            <a:srgbClr val="1C2130"/>
                          </a:solidFill>
                          <a:latin typeface="Inter"/>
                        </a:rPr>
                        <a:t>What is scored?</a:t>
                      </a:r>
                    </a:p>
                  </a:txBody>
                  <a:tcPr marT="54864" marB="54864" anchor="ctr">
                    <a:solidFill>
                      <a:srgbClr val="FFFFFF"/>
                    </a:solidFill>
                  </a:tcPr>
                </a:tc>
                <a:tc>
                  <a:txBody>
                    <a:bodyPr/>
                    <a:lstStyle/>
                    <a:p>
                      <a:r>
                        <a:rPr sz="1600" b="1">
                          <a:solidFill>
                            <a:srgbClr val="1C2130"/>
                          </a:solidFill>
                          <a:latin typeface="Inter"/>
                        </a:rPr>
                        <a:t>Functional</a:t>
                      </a:r>
                      <a:r>
                        <a:rPr sz="1600">
                          <a:solidFill>
                            <a:srgbClr val="1C2130"/>
                          </a:solidFill>
                          <a:latin typeface="Inter"/>
                        </a:rPr>
                        <a:t> — did the task complete?</a:t>
                      </a:r>
                    </a:p>
                  </a:txBody>
                  <a:tcPr marT="54864" marB="54864" anchor="ctr">
                    <a:solidFill>
                      <a:srgbClr val="FFFFFF"/>
                    </a:solidFill>
                  </a:tcPr>
                </a:tc>
                <a:tc>
                  <a:txBody>
                    <a:bodyPr/>
                    <a:lstStyle/>
                    <a:p>
                      <a:r>
                        <a:rPr sz="1600" b="1">
                          <a:solidFill>
                            <a:srgbClr val="1C2130"/>
                          </a:solidFill>
                          <a:latin typeface="Inter"/>
                        </a:rPr>
                        <a:t>Quality</a:t>
                      </a:r>
                      <a:r>
                        <a:rPr sz="1600">
                          <a:solidFill>
                            <a:srgbClr val="1C2130"/>
                          </a:solidFill>
                          <a:latin typeface="Inter"/>
                        </a:rPr>
                        <a:t> — how well?</a:t>
                      </a:r>
                    </a:p>
                  </a:txBody>
                  <a:tcPr marT="54864" marB="54864" anchor="ctr">
                    <a:solidFill>
                      <a:srgbClr val="FFFFFF"/>
                    </a:solidFill>
                  </a:tcPr>
                </a:tc>
                <a:extLst>
                  <a:ext uri="{0D108BD9-81ED-4DB2-BD59-A6C34878D82A}">
                    <a16:rowId xmlns:a16="http://schemas.microsoft.com/office/drawing/2014/main" val="10002"/>
                  </a:ext>
                </a:extLst>
              </a:tr>
              <a:tr h="391363">
                <a:tc>
                  <a:txBody>
                    <a:bodyPr/>
                    <a:lstStyle/>
                    <a:p>
                      <a:r>
                        <a:rPr sz="1600">
                          <a:solidFill>
                            <a:srgbClr val="1C2130"/>
                          </a:solidFill>
                          <a:latin typeface="Inter"/>
                        </a:rPr>
                        <a:t>Scope</a:t>
                      </a:r>
                    </a:p>
                  </a:txBody>
                  <a:tcPr marT="54864" marB="54864" anchor="ctr">
                    <a:solidFill>
                      <a:srgbClr val="FFFFFF"/>
                    </a:solidFill>
                  </a:tcPr>
                </a:tc>
                <a:tc>
                  <a:txBody>
                    <a:bodyPr/>
                    <a:lstStyle/>
                    <a:p>
                      <a:r>
                        <a:rPr sz="1600" b="1">
                          <a:solidFill>
                            <a:srgbClr val="1C2130"/>
                          </a:solidFill>
                          <a:latin typeface="Inter"/>
                        </a:rPr>
                        <a:t>Unit</a:t>
                      </a:r>
                      <a:r>
                        <a:rPr sz="1600">
                          <a:solidFill>
                            <a:srgbClr val="1C2130"/>
                          </a:solidFill>
                          <a:latin typeface="Inter"/>
                        </a:rPr>
                        <a:t> — single prompt / component</a:t>
                      </a:r>
                    </a:p>
                  </a:txBody>
                  <a:tcPr marT="54864" marB="54864" anchor="ctr">
                    <a:solidFill>
                      <a:srgbClr val="FFFFFF"/>
                    </a:solidFill>
                  </a:tcPr>
                </a:tc>
                <a:tc>
                  <a:txBody>
                    <a:bodyPr/>
                    <a:lstStyle/>
                    <a:p>
                      <a:r>
                        <a:rPr sz="1600" b="1">
                          <a:solidFill>
                            <a:srgbClr val="1C2130"/>
                          </a:solidFill>
                          <a:latin typeface="Inter"/>
                        </a:rPr>
                        <a:t>End-to-end</a:t>
                      </a:r>
                      <a:r>
                        <a:rPr sz="1600">
                          <a:solidFill>
                            <a:srgbClr val="1C2130"/>
                          </a:solidFill>
                          <a:latin typeface="Inter"/>
                        </a:rPr>
                        <a:t> — full pipeline</a:t>
                      </a:r>
                    </a:p>
                  </a:txBody>
                  <a:tcPr marT="54864" marB="54864" anchor="ctr">
                    <a:solidFill>
                      <a:srgbClr val="FFFFFF"/>
                    </a:solidFill>
                  </a:tcPr>
                </a:tc>
                <a:extLst>
                  <a:ext uri="{0D108BD9-81ED-4DB2-BD59-A6C34878D82A}">
                    <a16:rowId xmlns:a16="http://schemas.microsoft.com/office/drawing/2014/main" val="10003"/>
                  </a:ext>
                </a:extLst>
              </a:tr>
              <a:tr h="391363">
                <a:tc>
                  <a:txBody>
                    <a:bodyPr/>
                    <a:lstStyle/>
                    <a:p>
                      <a:r>
                        <a:rPr sz="1600">
                          <a:solidFill>
                            <a:srgbClr val="1C2130"/>
                          </a:solidFill>
                          <a:latin typeface="Inter"/>
                        </a:rPr>
                        <a:t>Dataset</a:t>
                      </a:r>
                    </a:p>
                  </a:txBody>
                  <a:tcPr marT="54864" marB="54864" anchor="ctr">
                    <a:solidFill>
                      <a:srgbClr val="FFFFFF"/>
                    </a:solidFill>
                  </a:tcPr>
                </a:tc>
                <a:tc>
                  <a:txBody>
                    <a:bodyPr/>
                    <a:lstStyle/>
                    <a:p>
                      <a:r>
                        <a:rPr sz="1600" b="1">
                          <a:solidFill>
                            <a:srgbClr val="1C2130"/>
                          </a:solidFill>
                          <a:latin typeface="Inter"/>
                        </a:rPr>
                        <a:t>Benchmark</a:t>
                      </a:r>
                      <a:r>
                        <a:rPr sz="1600">
                          <a:solidFill>
                            <a:srgbClr val="1C2130"/>
                          </a:solidFill>
                          <a:latin typeface="Inter"/>
                        </a:rPr>
                        <a:t> — standard public sets</a:t>
                      </a:r>
                    </a:p>
                  </a:txBody>
                  <a:tcPr marT="54864" marB="54864" anchor="ctr">
                    <a:solidFill>
                      <a:srgbClr val="FFFFFF"/>
                    </a:solidFill>
                  </a:tcPr>
                </a:tc>
                <a:tc>
                  <a:txBody>
                    <a:bodyPr/>
                    <a:lstStyle/>
                    <a:p>
                      <a:r>
                        <a:rPr sz="1600" b="1">
                          <a:solidFill>
                            <a:srgbClr val="1C2130"/>
                          </a:solidFill>
                          <a:latin typeface="Inter"/>
                        </a:rPr>
                        <a:t>Slice</a:t>
                      </a:r>
                      <a:r>
                        <a:rPr sz="1600">
                          <a:solidFill>
                            <a:srgbClr val="1C2130"/>
                          </a:solidFill>
                          <a:latin typeface="Inter"/>
                        </a:rPr>
                        <a:t> — production data subsets</a:t>
                      </a:r>
                    </a:p>
                  </a:txBody>
                  <a:tcPr marT="54864" marB="54864" anchor="ctr">
                    <a:solidFill>
                      <a:srgbClr val="FFFFFF"/>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548640" y="3054095"/>
            <a:ext cx="11094415" cy="402336"/>
          </a:xfrm>
          <a:prstGeom prst="rect">
            <a:avLst/>
          </a:prstGeom>
          <a:noFill/>
        </p:spPr>
        <p:txBody>
          <a:bodyPr wrap="square" lIns="45720" tIns="18288" rIns="45720" bIns="18288" anchor="t">
            <a:spAutoFit/>
          </a:bodyPr>
          <a:lstStyle/>
          <a:p>
            <a:pPr algn="l"/>
            <a:r>
              <a:rPr sz="1800" b="1">
                <a:solidFill>
                  <a:srgbClr val="1C2130"/>
                </a:solidFill>
                <a:latin typeface="Inter"/>
              </a:rPr>
              <a:t>In practice:</a:t>
            </a:r>
            <a:r>
              <a:rPr sz="1800">
                <a:solidFill>
                  <a:srgbClr val="1C2130"/>
                </a:solidFill>
                <a:latin typeface="Inter"/>
              </a:rPr>
              <a:t> automate 90%, human-review 10% of edge cases and calibrate.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Key evaluation dimensions</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548640" y="1005840"/>
          <a:ext cx="11094414" cy="2739541"/>
        </p:xfrm>
        <a:graphic>
          <a:graphicData uri="http://schemas.openxmlformats.org/drawingml/2006/table">
            <a:tbl>
              <a:tblPr firstRow="1" bandRow="1">
                <a:tableStyleId>{5C22544A-7EE6-4342-B048-85BDC9FD1C3A}</a:tableStyleId>
              </a:tblPr>
              <a:tblGrid>
                <a:gridCol w="3550212">
                  <a:extLst>
                    <a:ext uri="{9D8B030D-6E8A-4147-A177-3AD203B41FA5}">
                      <a16:colId xmlns:a16="http://schemas.microsoft.com/office/drawing/2014/main" val="20000"/>
                    </a:ext>
                  </a:extLst>
                </a:gridCol>
                <a:gridCol w="3772101">
                  <a:extLst>
                    <a:ext uri="{9D8B030D-6E8A-4147-A177-3AD203B41FA5}">
                      <a16:colId xmlns:a16="http://schemas.microsoft.com/office/drawing/2014/main" val="20001"/>
                    </a:ext>
                  </a:extLst>
                </a:gridCol>
                <a:gridCol w="3772101">
                  <a:extLst>
                    <a:ext uri="{9D8B030D-6E8A-4147-A177-3AD203B41FA5}">
                      <a16:colId xmlns:a16="http://schemas.microsoft.com/office/drawing/2014/main" val="20002"/>
                    </a:ext>
                  </a:extLst>
                </a:gridCol>
              </a:tblGrid>
              <a:tr h="391363">
                <a:tc>
                  <a:txBody>
                    <a:bodyPr/>
                    <a:lstStyle/>
                    <a:p>
                      <a:r>
                        <a:rPr sz="1600" b="1">
                          <a:solidFill>
                            <a:srgbClr val="FFFFFF"/>
                          </a:solidFill>
                          <a:latin typeface="Inter"/>
                        </a:rPr>
                        <a:t>Dimension</a:t>
                      </a:r>
                    </a:p>
                  </a:txBody>
                  <a:tcPr marT="54864" marB="54864" anchor="ctr">
                    <a:solidFill>
                      <a:srgbClr val="13715B"/>
                    </a:solidFill>
                  </a:tcPr>
                </a:tc>
                <a:tc>
                  <a:txBody>
                    <a:bodyPr/>
                    <a:lstStyle/>
                    <a:p>
                      <a:r>
                        <a:rPr sz="1600" b="1">
                          <a:solidFill>
                            <a:srgbClr val="FFFFFF"/>
                          </a:solidFill>
                          <a:latin typeface="Inter"/>
                        </a:rPr>
                        <a:t>What you measure</a:t>
                      </a:r>
                    </a:p>
                  </a:txBody>
                  <a:tcPr marT="54864" marB="54864" anchor="ctr">
                    <a:solidFill>
                      <a:srgbClr val="13715B"/>
                    </a:solidFill>
                  </a:tcPr>
                </a:tc>
                <a:tc>
                  <a:txBody>
                    <a:bodyPr/>
                    <a:lstStyle/>
                    <a:p>
                      <a:r>
                        <a:rPr sz="1600" b="1">
                          <a:solidFill>
                            <a:srgbClr val="FFFFFF"/>
                          </a:solidFill>
                          <a:latin typeface="Inter"/>
                        </a:rPr>
                        <a:t>Example metric</a:t>
                      </a:r>
                    </a:p>
                  </a:txBody>
                  <a:tcPr marT="54864" marB="54864" anchor="ctr">
                    <a:solidFill>
                      <a:srgbClr val="13715B"/>
                    </a:solidFill>
                  </a:tcPr>
                </a:tc>
                <a:extLst>
                  <a:ext uri="{0D108BD9-81ED-4DB2-BD59-A6C34878D82A}">
                    <a16:rowId xmlns:a16="http://schemas.microsoft.com/office/drawing/2014/main" val="10000"/>
                  </a:ext>
                </a:extLst>
              </a:tr>
              <a:tr h="391363">
                <a:tc>
                  <a:txBody>
                    <a:bodyPr/>
                    <a:lstStyle/>
                    <a:p>
                      <a:r>
                        <a:rPr sz="1600">
                          <a:solidFill>
                            <a:srgbClr val="1C2130"/>
                          </a:solidFill>
                          <a:latin typeface="Inter"/>
                        </a:rPr>
                        <a:t>Correctness</a:t>
                      </a:r>
                    </a:p>
                  </a:txBody>
                  <a:tcPr marT="54864" marB="54864" anchor="ctr">
                    <a:solidFill>
                      <a:srgbClr val="FFFFFF"/>
                    </a:solidFill>
                  </a:tcPr>
                </a:tc>
                <a:tc>
                  <a:txBody>
                    <a:bodyPr/>
                    <a:lstStyle/>
                    <a:p>
                      <a:r>
                        <a:rPr sz="1600">
                          <a:solidFill>
                            <a:srgbClr val="1C2130"/>
                          </a:solidFill>
                          <a:latin typeface="Inter"/>
                        </a:rPr>
                        <a:t>Is the answer factually right?</a:t>
                      </a:r>
                    </a:p>
                  </a:txBody>
                  <a:tcPr marT="54864" marB="54864" anchor="ctr">
                    <a:solidFill>
                      <a:srgbClr val="FFFFFF"/>
                    </a:solidFill>
                  </a:tcPr>
                </a:tc>
                <a:tc>
                  <a:txBody>
                    <a:bodyPr/>
                    <a:lstStyle/>
                    <a:p>
                      <a:r>
                        <a:rPr sz="1600">
                          <a:solidFill>
                            <a:srgbClr val="1C2130"/>
                          </a:solidFill>
                          <a:latin typeface="Inter"/>
                        </a:rPr>
                        <a:t>Exact match, F1, BERTScore</a:t>
                      </a:r>
                    </a:p>
                  </a:txBody>
                  <a:tcPr marT="54864" marB="54864" anchor="ctr">
                    <a:solidFill>
                      <a:srgbClr val="FFFFFF"/>
                    </a:solidFill>
                  </a:tcPr>
                </a:tc>
                <a:extLst>
                  <a:ext uri="{0D108BD9-81ED-4DB2-BD59-A6C34878D82A}">
                    <a16:rowId xmlns:a16="http://schemas.microsoft.com/office/drawing/2014/main" val="10001"/>
                  </a:ext>
                </a:extLst>
              </a:tr>
              <a:tr h="391363">
                <a:tc>
                  <a:txBody>
                    <a:bodyPr/>
                    <a:lstStyle/>
                    <a:p>
                      <a:r>
                        <a:rPr sz="1600">
                          <a:solidFill>
                            <a:srgbClr val="1C2130"/>
                          </a:solidFill>
                          <a:latin typeface="Inter"/>
                        </a:rPr>
                        <a:t>Hallucination</a:t>
                      </a:r>
                    </a:p>
                  </a:txBody>
                  <a:tcPr marT="54864" marB="54864" anchor="ctr">
                    <a:solidFill>
                      <a:srgbClr val="FFFFFF"/>
                    </a:solidFill>
                  </a:tcPr>
                </a:tc>
                <a:tc>
                  <a:txBody>
                    <a:bodyPr/>
                    <a:lstStyle/>
                    <a:p>
                      <a:r>
                        <a:rPr sz="1600">
                          <a:solidFill>
                            <a:srgbClr val="1C2130"/>
                          </a:solidFill>
                          <a:latin typeface="Inter"/>
                        </a:rPr>
                        <a:t>Does the model fabricate facts?</a:t>
                      </a:r>
                    </a:p>
                  </a:txBody>
                  <a:tcPr marT="54864" marB="54864" anchor="ctr">
                    <a:solidFill>
                      <a:srgbClr val="FFFFFF"/>
                    </a:solidFill>
                  </a:tcPr>
                </a:tc>
                <a:tc>
                  <a:txBody>
                    <a:bodyPr/>
                    <a:lstStyle/>
                    <a:p>
                      <a:r>
                        <a:rPr sz="1600">
                          <a:solidFill>
                            <a:srgbClr val="1C2130"/>
                          </a:solidFill>
                          <a:latin typeface="Inter"/>
                        </a:rPr>
                        <a:t>FActScore, citation hit rate</a:t>
                      </a:r>
                    </a:p>
                  </a:txBody>
                  <a:tcPr marT="54864" marB="54864" anchor="ctr">
                    <a:solidFill>
                      <a:srgbClr val="FFFFFF"/>
                    </a:solidFill>
                  </a:tcPr>
                </a:tc>
                <a:extLst>
                  <a:ext uri="{0D108BD9-81ED-4DB2-BD59-A6C34878D82A}">
                    <a16:rowId xmlns:a16="http://schemas.microsoft.com/office/drawing/2014/main" val="10002"/>
                  </a:ext>
                </a:extLst>
              </a:tr>
              <a:tr h="391363">
                <a:tc>
                  <a:txBody>
                    <a:bodyPr/>
                    <a:lstStyle/>
                    <a:p>
                      <a:r>
                        <a:rPr sz="1600">
                          <a:solidFill>
                            <a:srgbClr val="1C2130"/>
                          </a:solidFill>
                          <a:latin typeface="Inter"/>
                        </a:rPr>
                        <a:t>Completeness</a:t>
                      </a:r>
                    </a:p>
                  </a:txBody>
                  <a:tcPr marT="54864" marB="54864" anchor="ctr">
                    <a:solidFill>
                      <a:srgbClr val="FFFFFF"/>
                    </a:solidFill>
                  </a:tcPr>
                </a:tc>
                <a:tc>
                  <a:txBody>
                    <a:bodyPr/>
                    <a:lstStyle/>
                    <a:p>
                      <a:r>
                        <a:rPr sz="1600">
                          <a:solidFill>
                            <a:srgbClr val="1C2130"/>
                          </a:solidFill>
                          <a:latin typeface="Inter"/>
                        </a:rPr>
                        <a:t>Does it address the full question?</a:t>
                      </a:r>
                    </a:p>
                  </a:txBody>
                  <a:tcPr marT="54864" marB="54864" anchor="ctr">
                    <a:solidFill>
                      <a:srgbClr val="FFFFFF"/>
                    </a:solidFill>
                  </a:tcPr>
                </a:tc>
                <a:tc>
                  <a:txBody>
                    <a:bodyPr/>
                    <a:lstStyle/>
                    <a:p>
                      <a:r>
                        <a:rPr sz="1600">
                          <a:solidFill>
                            <a:srgbClr val="1C2130"/>
                          </a:solidFill>
                          <a:latin typeface="Inter"/>
                        </a:rPr>
                        <a:t>Coverage score (LLM-as-judge)</a:t>
                      </a:r>
                    </a:p>
                  </a:txBody>
                  <a:tcPr marT="54864" marB="54864" anchor="ctr">
                    <a:solidFill>
                      <a:srgbClr val="FFFFFF"/>
                    </a:solidFill>
                  </a:tcPr>
                </a:tc>
                <a:extLst>
                  <a:ext uri="{0D108BD9-81ED-4DB2-BD59-A6C34878D82A}">
                    <a16:rowId xmlns:a16="http://schemas.microsoft.com/office/drawing/2014/main" val="10003"/>
                  </a:ext>
                </a:extLst>
              </a:tr>
              <a:tr h="391363">
                <a:tc>
                  <a:txBody>
                    <a:bodyPr/>
                    <a:lstStyle/>
                    <a:p>
                      <a:r>
                        <a:rPr sz="1600">
                          <a:solidFill>
                            <a:srgbClr val="1C2130"/>
                          </a:solidFill>
                          <a:latin typeface="Inter"/>
                        </a:rPr>
                        <a:t>Answer relevancy</a:t>
                      </a:r>
                    </a:p>
                  </a:txBody>
                  <a:tcPr marT="54864" marB="54864" anchor="ctr">
                    <a:solidFill>
                      <a:srgbClr val="FFFFFF"/>
                    </a:solidFill>
                  </a:tcPr>
                </a:tc>
                <a:tc>
                  <a:txBody>
                    <a:bodyPr/>
                    <a:lstStyle/>
                    <a:p>
                      <a:r>
                        <a:rPr sz="1600">
                          <a:solidFill>
                            <a:srgbClr val="1C2130"/>
                          </a:solidFill>
                          <a:latin typeface="Inter"/>
                        </a:rPr>
                        <a:t>Is the response on-topic?</a:t>
                      </a:r>
                    </a:p>
                  </a:txBody>
                  <a:tcPr marT="54864" marB="54864" anchor="ctr">
                    <a:solidFill>
                      <a:srgbClr val="FFFFFF"/>
                    </a:solidFill>
                  </a:tcPr>
                </a:tc>
                <a:tc>
                  <a:txBody>
                    <a:bodyPr/>
                    <a:lstStyle/>
                    <a:p>
                      <a:r>
                        <a:rPr sz="1600">
                          <a:solidFill>
                            <a:srgbClr val="1C2130"/>
                          </a:solidFill>
                          <a:latin typeface="Inter"/>
                        </a:rPr>
                        <a:t>Cosine similarity to question</a:t>
                      </a:r>
                    </a:p>
                  </a:txBody>
                  <a:tcPr marT="54864" marB="54864" anchor="ctr">
                    <a:solidFill>
                      <a:srgbClr val="FFFFFF"/>
                    </a:solidFill>
                  </a:tcPr>
                </a:tc>
                <a:extLst>
                  <a:ext uri="{0D108BD9-81ED-4DB2-BD59-A6C34878D82A}">
                    <a16:rowId xmlns:a16="http://schemas.microsoft.com/office/drawing/2014/main" val="10004"/>
                  </a:ext>
                </a:extLst>
              </a:tr>
              <a:tr h="391363">
                <a:tc>
                  <a:txBody>
                    <a:bodyPr/>
                    <a:lstStyle/>
                    <a:p>
                      <a:r>
                        <a:rPr sz="1600">
                          <a:solidFill>
                            <a:srgbClr val="1C2130"/>
                          </a:solidFill>
                          <a:latin typeface="Inter"/>
                        </a:rPr>
                        <a:t>Safety / harm</a:t>
                      </a:r>
                    </a:p>
                  </a:txBody>
                  <a:tcPr marT="54864" marB="54864" anchor="ctr">
                    <a:solidFill>
                      <a:srgbClr val="FFFFFF"/>
                    </a:solidFill>
                  </a:tcPr>
                </a:tc>
                <a:tc>
                  <a:txBody>
                    <a:bodyPr/>
                    <a:lstStyle/>
                    <a:p>
                      <a:r>
                        <a:rPr sz="1600">
                          <a:solidFill>
                            <a:srgbClr val="1C2130"/>
                          </a:solidFill>
                          <a:latin typeface="Inter"/>
                        </a:rPr>
                        <a:t>Does it produce unsafe content?</a:t>
                      </a:r>
                    </a:p>
                  </a:txBody>
                  <a:tcPr marT="54864" marB="54864" anchor="ctr">
                    <a:solidFill>
                      <a:srgbClr val="FFFFFF"/>
                    </a:solidFill>
                  </a:tcPr>
                </a:tc>
                <a:tc>
                  <a:txBody>
                    <a:bodyPr/>
                    <a:lstStyle/>
                    <a:p>
                      <a:r>
                        <a:rPr sz="1600">
                          <a:solidFill>
                            <a:srgbClr val="1C2130"/>
                          </a:solidFill>
                          <a:latin typeface="Inter"/>
                        </a:rPr>
                        <a:t>Refusal rate, toxicity classifier</a:t>
                      </a:r>
                    </a:p>
                  </a:txBody>
                  <a:tcPr marT="54864" marB="54864" anchor="ctr">
                    <a:solidFill>
                      <a:srgbClr val="FFFFFF"/>
                    </a:solidFill>
                  </a:tcPr>
                </a:tc>
                <a:extLst>
                  <a:ext uri="{0D108BD9-81ED-4DB2-BD59-A6C34878D82A}">
                    <a16:rowId xmlns:a16="http://schemas.microsoft.com/office/drawing/2014/main" val="10005"/>
                  </a:ext>
                </a:extLst>
              </a:tr>
              <a:tr h="391363">
                <a:tc>
                  <a:txBody>
                    <a:bodyPr/>
                    <a:lstStyle/>
                    <a:p>
                      <a:r>
                        <a:rPr sz="1600">
                          <a:solidFill>
                            <a:srgbClr val="1C2130"/>
                          </a:solidFill>
                          <a:latin typeface="Inter"/>
                        </a:rPr>
                        <a:t>Instruction following</a:t>
                      </a:r>
                    </a:p>
                  </a:txBody>
                  <a:tcPr marT="54864" marB="54864" anchor="ctr">
                    <a:solidFill>
                      <a:srgbClr val="FFFFFF"/>
                    </a:solidFill>
                  </a:tcPr>
                </a:tc>
                <a:tc>
                  <a:txBody>
                    <a:bodyPr/>
                    <a:lstStyle/>
                    <a:p>
                      <a:r>
                        <a:rPr sz="1600">
                          <a:solidFill>
                            <a:srgbClr val="1C2130"/>
                          </a:solidFill>
                          <a:latin typeface="Inter"/>
                        </a:rPr>
                        <a:t>Does it comply with the prompt?</a:t>
                      </a:r>
                    </a:p>
                  </a:txBody>
                  <a:tcPr marT="54864" marB="54864" anchor="ctr">
                    <a:solidFill>
                      <a:srgbClr val="FFFFFF"/>
                    </a:solidFill>
                  </a:tcPr>
                </a:tc>
                <a:tc>
                  <a:txBody>
                    <a:bodyPr/>
                    <a:lstStyle/>
                    <a:p>
                      <a:r>
                        <a:rPr sz="1600">
                          <a:solidFill>
                            <a:srgbClr val="1C2130"/>
                          </a:solidFill>
                          <a:latin typeface="Inter"/>
                        </a:rPr>
                        <a:t>IFEval pass rate</a:t>
                      </a:r>
                    </a:p>
                  </a:txBody>
                  <a:tcPr marT="54864" marB="54864" anchor="ctr">
                    <a:solidFill>
                      <a:srgbClr val="FFFFFF"/>
                    </a:solidFill>
                  </a:tcPr>
                </a:tc>
                <a:extLst>
                  <a:ext uri="{0D108BD9-81ED-4DB2-BD59-A6C34878D82A}">
                    <a16:rowId xmlns:a16="http://schemas.microsoft.com/office/drawing/2014/main" val="10006"/>
                  </a:ext>
                </a:extLst>
              </a:tr>
            </a:tbl>
          </a:graphicData>
        </a:graphic>
      </p:graphicFrame>
      <p:sp>
        <p:nvSpPr>
          <p:cNvPr id="7" name="Rounded Rectangle 6"/>
          <p:cNvSpPr/>
          <p:nvPr/>
        </p:nvSpPr>
        <p:spPr>
          <a:xfrm>
            <a:off x="548640" y="3836821"/>
            <a:ext cx="11094415" cy="585216"/>
          </a:xfrm>
          <a:prstGeom prst="roundRect">
            <a:avLst>
              <a:gd name="adj" fmla="val 6000"/>
            </a:avLst>
          </a:prstGeom>
          <a:solidFill>
            <a:srgbClr val="EAF4F0"/>
          </a:solidFill>
          <a:ln w="15875">
            <a:solidFill>
              <a:srgbClr val="1371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3946549"/>
            <a:ext cx="10637215" cy="365760"/>
          </a:xfrm>
          <a:prstGeom prst="rect">
            <a:avLst/>
          </a:prstGeom>
          <a:noFill/>
        </p:spPr>
        <p:txBody>
          <a:bodyPr wrap="square" lIns="45720" tIns="18288" rIns="45720" bIns="18288" anchor="t">
            <a:spAutoFit/>
          </a:bodyPr>
          <a:lstStyle/>
          <a:p>
            <a:pPr algn="l"/>
            <a:r>
              <a:rPr sz="1600">
                <a:solidFill>
                  <a:srgbClr val="1C2130"/>
                </a:solidFill>
                <a:latin typeface="Inter"/>
              </a:rPr>
              <a:t>Start with the 2–3 dimensions most critical to your use case, not all six at once.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Evaluation methods</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005840"/>
            <a:ext cx="11094415" cy="1389888"/>
          </a:xfrm>
          <a:prstGeom prst="rect">
            <a:avLst/>
          </a:prstGeom>
          <a:noFill/>
        </p:spPr>
        <p:txBody>
          <a:bodyPr wrap="square" lIns="45720" tIns="18288" rIns="45720" bIns="18288" anchor="t">
            <a:spAutoFit/>
          </a:bodyPr>
          <a:lstStyle/>
          <a:p>
            <a:pPr algn="l"/>
            <a:r>
              <a:rPr sz="1800" b="1">
                <a:solidFill>
                  <a:srgbClr val="1C2130"/>
                </a:solidFill>
                <a:latin typeface="Inter"/>
              </a:rPr>
              <a:t>Reference-based</a:t>
            </a:r>
            <a:r>
              <a:rPr sz="1800">
                <a:solidFill>
                  <a:srgbClr val="1C2130"/>
                </a:solidFill>
                <a:latin typeface="Inter"/>
              </a:rPr>
              <a:t> — compare output against a known-correct answer
</a:t>
            </a:r>
            <a:r>
              <a:rPr sz="1700">
                <a:solidFill>
                  <a:srgbClr val="0F5A47"/>
                </a:solidFill>
                <a:latin typeface="Menlo"/>
              </a:rPr>
              <a:t>Exact match · ROUGE · BLEU · BERTScore</a:t>
            </a:r>
            <a:r>
              <a:rPr sz="1800">
                <a:solidFill>
                  <a:srgbClr val="1C2130"/>
                </a:solidFill>
                <a:latin typeface="Inter"/>
              </a:rPr>
              <a:t>
Best for: Q&amp;A with ground truth, translation, structured extraction</a:t>
            </a:r>
          </a:p>
        </p:txBody>
      </p:sp>
      <p:sp>
        <p:nvSpPr>
          <p:cNvPr id="7" name="TextBox 6"/>
          <p:cNvSpPr txBox="1"/>
          <p:nvPr/>
        </p:nvSpPr>
        <p:spPr>
          <a:xfrm>
            <a:off x="548640" y="2441448"/>
            <a:ext cx="11094415" cy="1719072"/>
          </a:xfrm>
          <a:prstGeom prst="rect">
            <a:avLst/>
          </a:prstGeom>
          <a:noFill/>
        </p:spPr>
        <p:txBody>
          <a:bodyPr wrap="square" lIns="45720" tIns="18288" rIns="45720" bIns="18288" anchor="t">
            <a:spAutoFit/>
          </a:bodyPr>
          <a:lstStyle/>
          <a:p>
            <a:pPr algn="l"/>
            <a:r>
              <a:rPr sz="1800" b="1">
                <a:solidFill>
                  <a:srgbClr val="1C2130"/>
                </a:solidFill>
                <a:latin typeface="Inter"/>
              </a:rPr>
              <a:t>LLM-as-judge</a:t>
            </a:r>
            <a:r>
              <a:rPr sz="1800">
                <a:solidFill>
                  <a:srgbClr val="1C2130"/>
                </a:solidFill>
                <a:latin typeface="Inter"/>
              </a:rPr>
              <a:t> — use a stronger model to score on a rubric
</a:t>
            </a:r>
            <a:r>
              <a:rPr sz="1700">
                <a:solidFill>
                  <a:srgbClr val="0F5A47"/>
                </a:solidFill>
                <a:latin typeface="Menlo"/>
              </a:rPr>
              <a:t>GPT-4o as judge · Structured 1–5 rubric · Chain-of-thought reasoning</a:t>
            </a:r>
            <a:r>
              <a:rPr sz="1800">
                <a:solidFill>
                  <a:srgbClr val="1C2130"/>
                </a:solidFill>
                <a:latin typeface="Inter"/>
              </a:rPr>
              <a:t>
Best for: open-ended generation, helpfulness, tone — where no single correct answer exists</a:t>
            </a:r>
          </a:p>
        </p:txBody>
      </p:sp>
      <p:sp>
        <p:nvSpPr>
          <p:cNvPr id="8" name="TextBox 7"/>
          <p:cNvSpPr txBox="1"/>
          <p:nvPr/>
        </p:nvSpPr>
        <p:spPr>
          <a:xfrm>
            <a:off x="548640" y="4206240"/>
            <a:ext cx="11094415" cy="1719072"/>
          </a:xfrm>
          <a:prstGeom prst="rect">
            <a:avLst/>
          </a:prstGeom>
          <a:noFill/>
        </p:spPr>
        <p:txBody>
          <a:bodyPr wrap="square" lIns="45720" tIns="18288" rIns="45720" bIns="18288" anchor="t">
            <a:spAutoFit/>
          </a:bodyPr>
          <a:lstStyle/>
          <a:p>
            <a:pPr algn="l"/>
            <a:r>
              <a:rPr sz="1800" b="1">
                <a:solidFill>
                  <a:srgbClr val="1C2130"/>
                </a:solidFill>
                <a:latin typeface="Inter"/>
              </a:rPr>
              <a:t>Execution-based</a:t>
            </a:r>
            <a:r>
              <a:rPr sz="1800">
                <a:solidFill>
                  <a:srgbClr val="1C2130"/>
                </a:solidFill>
                <a:latin typeface="Inter"/>
              </a:rPr>
              <a:t> — run the generated code or SQL and verify correctness
</a:t>
            </a:r>
            <a:r>
              <a:rPr sz="1700">
                <a:solidFill>
                  <a:srgbClr val="0F5A47"/>
                </a:solidFill>
                <a:latin typeface="Menlo"/>
              </a:rPr>
              <a:t>HumanEval pass@k · SQL query result match</a:t>
            </a:r>
            <a:r>
              <a:rPr sz="1800">
                <a:solidFill>
                  <a:srgbClr val="1C2130"/>
                </a:solidFill>
                <a:latin typeface="Inter"/>
              </a:rPr>
              <a:t>
Best for: coding assistants, data pipelines, tool-calling agents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LLM-as-judge — formulas vs language models</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005840"/>
            <a:ext cx="11094415" cy="731519"/>
          </a:xfrm>
          <a:prstGeom prst="rect">
            <a:avLst/>
          </a:prstGeom>
          <a:noFill/>
        </p:spPr>
        <p:txBody>
          <a:bodyPr wrap="square" lIns="45720" tIns="18288" rIns="45720" bIns="18288" anchor="t">
            <a:spAutoFit/>
          </a:bodyPr>
          <a:lstStyle/>
          <a:p>
            <a:pPr algn="l"/>
            <a:r>
              <a:rPr sz="1800">
                <a:solidFill>
                  <a:srgbClr val="1C2130"/>
                </a:solidFill>
                <a:latin typeface="Inter"/>
              </a:rPr>
              <a:t>Traditional metrics use </a:t>
            </a:r>
            <a:r>
              <a:rPr sz="1800" b="1">
                <a:solidFill>
                  <a:srgbClr val="1C2130"/>
                </a:solidFill>
                <a:latin typeface="Inter"/>
              </a:rPr>
              <a:t>formulas</a:t>
            </a:r>
            <a:r>
              <a:rPr sz="1800">
                <a:solidFill>
                  <a:srgbClr val="1C2130"/>
                </a:solidFill>
                <a:latin typeface="Inter"/>
              </a:rPr>
              <a:t> on text tokens. LLM-as-judge uses a </a:t>
            </a:r>
            <a:r>
              <a:rPr sz="1800" b="1">
                <a:solidFill>
                  <a:srgbClr val="1C2130"/>
                </a:solidFill>
                <a:latin typeface="Inter"/>
              </a:rPr>
              <a:t>language model</a:t>
            </a:r>
            <a:r>
              <a:rPr sz="1800">
                <a:solidFill>
                  <a:srgbClr val="1C2130"/>
                </a:solidFill>
                <a:latin typeface="Inter"/>
              </a:rPr>
              <a:t> to reason about quality the way a human reviewer would.</a:t>
            </a:r>
          </a:p>
        </p:txBody>
      </p:sp>
      <p:graphicFrame>
        <p:nvGraphicFramePr>
          <p:cNvPr id="7" name="Table 6"/>
          <p:cNvGraphicFramePr>
            <a:graphicFrameLocks noGrp="1"/>
          </p:cNvGraphicFramePr>
          <p:nvPr>
            <p:extLst>
              <p:ext uri="{D42A27DB-BD31-4B8C-83A1-F6EECF244321}">
                <p14:modId xmlns:p14="http://schemas.microsoft.com/office/powerpoint/2010/main" val="237276552"/>
              </p:ext>
            </p:extLst>
          </p:nvPr>
        </p:nvGraphicFramePr>
        <p:xfrm>
          <a:off x="548640" y="1783079"/>
          <a:ext cx="11094414" cy="2673705"/>
        </p:xfrm>
        <a:graphic>
          <a:graphicData uri="http://schemas.openxmlformats.org/drawingml/2006/table">
            <a:tbl>
              <a:tblPr firstRow="1" bandRow="1">
                <a:tableStyleId>{5C22544A-7EE6-4342-B048-85BDC9FD1C3A}</a:tableStyleId>
              </a:tblPr>
              <a:tblGrid>
                <a:gridCol w="3550212">
                  <a:extLst>
                    <a:ext uri="{9D8B030D-6E8A-4147-A177-3AD203B41FA5}">
                      <a16:colId xmlns:a16="http://schemas.microsoft.com/office/drawing/2014/main" val="20000"/>
                    </a:ext>
                  </a:extLst>
                </a:gridCol>
                <a:gridCol w="3772101">
                  <a:extLst>
                    <a:ext uri="{9D8B030D-6E8A-4147-A177-3AD203B41FA5}">
                      <a16:colId xmlns:a16="http://schemas.microsoft.com/office/drawing/2014/main" val="20001"/>
                    </a:ext>
                  </a:extLst>
                </a:gridCol>
                <a:gridCol w="3772101">
                  <a:extLst>
                    <a:ext uri="{9D8B030D-6E8A-4147-A177-3AD203B41FA5}">
                      <a16:colId xmlns:a16="http://schemas.microsoft.com/office/drawing/2014/main" val="20002"/>
                    </a:ext>
                  </a:extLst>
                </a:gridCol>
              </a:tblGrid>
              <a:tr h="424281">
                <a:tc>
                  <a:txBody>
                    <a:bodyPr/>
                    <a:lstStyle/>
                    <a:p>
                      <a:r>
                        <a:rPr sz="1800" b="1">
                          <a:solidFill>
                            <a:srgbClr val="FFFFFF"/>
                          </a:solidFill>
                          <a:latin typeface="Inter"/>
                        </a:rPr>
                        <a:t>Approach</a:t>
                      </a:r>
                    </a:p>
                  </a:txBody>
                  <a:tcPr marT="54864" marB="54864" anchor="ctr">
                    <a:solidFill>
                      <a:srgbClr val="13715B"/>
                    </a:solidFill>
                  </a:tcPr>
                </a:tc>
                <a:tc>
                  <a:txBody>
                    <a:bodyPr/>
                    <a:lstStyle/>
                    <a:p>
                      <a:r>
                        <a:rPr sz="1800" b="1">
                          <a:solidFill>
                            <a:srgbClr val="FFFFFF"/>
                          </a:solidFill>
                          <a:latin typeface="Inter"/>
                        </a:rPr>
                        <a:t>How the score is computed</a:t>
                      </a:r>
                    </a:p>
                  </a:txBody>
                  <a:tcPr marT="54864" marB="54864" anchor="ctr">
                    <a:solidFill>
                      <a:srgbClr val="13715B"/>
                    </a:solidFill>
                  </a:tcPr>
                </a:tc>
                <a:tc>
                  <a:txBody>
                    <a:bodyPr/>
                    <a:lstStyle/>
                    <a:p>
                      <a:r>
                        <a:rPr sz="1800" b="1">
                          <a:solidFill>
                            <a:srgbClr val="FFFFFF"/>
                          </a:solidFill>
                          <a:latin typeface="Inter"/>
                        </a:rPr>
                        <a:t>Example</a:t>
                      </a:r>
                    </a:p>
                  </a:txBody>
                  <a:tcPr marT="54864" marB="54864" anchor="ctr">
                    <a:solidFill>
                      <a:srgbClr val="13715B"/>
                    </a:solidFill>
                  </a:tcPr>
                </a:tc>
                <a:extLst>
                  <a:ext uri="{0D108BD9-81ED-4DB2-BD59-A6C34878D82A}">
                    <a16:rowId xmlns:a16="http://schemas.microsoft.com/office/drawing/2014/main" val="10000"/>
                  </a:ext>
                </a:extLst>
              </a:tr>
              <a:tr h="424281">
                <a:tc>
                  <a:txBody>
                    <a:bodyPr/>
                    <a:lstStyle/>
                    <a:p>
                      <a:r>
                        <a:rPr sz="1800">
                          <a:solidFill>
                            <a:srgbClr val="1C2130"/>
                          </a:solidFill>
                          <a:latin typeface="Inter"/>
                        </a:rPr>
                        <a:t>Formula-based</a:t>
                      </a:r>
                    </a:p>
                  </a:txBody>
                  <a:tcPr marT="54864" marB="54864" anchor="ctr">
                    <a:solidFill>
                      <a:srgbClr val="FFFFFF"/>
                    </a:solidFill>
                  </a:tcPr>
                </a:tc>
                <a:tc>
                  <a:txBody>
                    <a:bodyPr/>
                    <a:lstStyle/>
                    <a:p>
                      <a:r>
                        <a:rPr sz="1800">
                          <a:solidFill>
                            <a:srgbClr val="1C2130"/>
                          </a:solidFill>
                          <a:latin typeface="Inter"/>
                        </a:rPr>
                        <a:t>Mathematical comparison of tokens</a:t>
                      </a:r>
                    </a:p>
                  </a:txBody>
                  <a:tcPr marT="54864" marB="54864" anchor="ctr">
                    <a:solidFill>
                      <a:srgbClr val="FFFFFF"/>
                    </a:solidFill>
                  </a:tcPr>
                </a:tc>
                <a:tc>
                  <a:txBody>
                    <a:bodyPr/>
                    <a:lstStyle/>
                    <a:p>
                      <a:r>
                        <a:rPr sz="1800">
                          <a:solidFill>
                            <a:srgbClr val="1C2130"/>
                          </a:solidFill>
                          <a:latin typeface="Inter"/>
                        </a:rPr>
                        <a:t>BLEU counts n-gram overlaps; ROUGE counts reference word recall</a:t>
                      </a:r>
                    </a:p>
                  </a:txBody>
                  <a:tcPr marT="54864" marB="54864" anchor="ctr">
                    <a:solidFill>
                      <a:srgbClr val="FFFFFF"/>
                    </a:solidFill>
                  </a:tcPr>
                </a:tc>
                <a:extLst>
                  <a:ext uri="{0D108BD9-81ED-4DB2-BD59-A6C34878D82A}">
                    <a16:rowId xmlns:a16="http://schemas.microsoft.com/office/drawing/2014/main" val="10001"/>
                  </a:ext>
                </a:extLst>
              </a:tr>
              <a:tr h="424281">
                <a:tc>
                  <a:txBody>
                    <a:bodyPr/>
                    <a:lstStyle/>
                    <a:p>
                      <a:r>
                        <a:rPr sz="1800">
                          <a:solidFill>
                            <a:srgbClr val="1C2130"/>
                          </a:solidFill>
                          <a:latin typeface="Inter"/>
                        </a:rPr>
                        <a:t>Statistical (fairlearn)</a:t>
                      </a:r>
                    </a:p>
                  </a:txBody>
                  <a:tcPr marT="54864" marB="54864" anchor="ctr">
                    <a:solidFill>
                      <a:srgbClr val="FFFFFF"/>
                    </a:solidFill>
                  </a:tcPr>
                </a:tc>
                <a:tc>
                  <a:txBody>
                    <a:bodyPr/>
                    <a:lstStyle/>
                    <a:p>
                      <a:r>
                        <a:rPr sz="1800">
                          <a:solidFill>
                            <a:srgbClr val="1C2130"/>
                          </a:solidFill>
                          <a:latin typeface="Inter"/>
                        </a:rPr>
                        <a:t>Disparity ratios across demographic groups</a:t>
                      </a:r>
                    </a:p>
                  </a:txBody>
                  <a:tcPr marT="54864" marB="54864" anchor="ctr">
                    <a:solidFill>
                      <a:srgbClr val="FFFFFF"/>
                    </a:solidFill>
                  </a:tcPr>
                </a:tc>
                <a:tc>
                  <a:txBody>
                    <a:bodyPr/>
                    <a:lstStyle/>
                    <a:p>
                      <a:r>
                        <a:rPr sz="1800" dirty="0">
                          <a:solidFill>
                            <a:srgbClr val="1C2130"/>
                          </a:solidFill>
                          <a:latin typeface="Inter"/>
                        </a:rPr>
                        <a:t>Demographic parity = P(</a:t>
                      </a:r>
                      <a:r>
                        <a:rPr sz="1800" dirty="0" err="1">
                          <a:solidFill>
                            <a:srgbClr val="1C2130"/>
                          </a:solidFill>
                          <a:latin typeface="Inter"/>
                        </a:rPr>
                        <a:t>ŷ</a:t>
                      </a:r>
                      <a:r>
                        <a:rPr sz="1800" dirty="0">
                          <a:solidFill>
                            <a:srgbClr val="1C2130"/>
                          </a:solidFill>
                          <a:latin typeface="Inter"/>
                        </a:rPr>
                        <a:t>=1</a:t>
                      </a:r>
                      <a:r>
                        <a:rPr lang="en-US" sz="1800" dirty="0">
                          <a:solidFill>
                            <a:srgbClr val="1C2130"/>
                          </a:solidFill>
                          <a:latin typeface="Inter"/>
                        </a:rPr>
                        <a:t>)</a:t>
                      </a:r>
                      <a:endParaRPr sz="1800" dirty="0">
                        <a:solidFill>
                          <a:srgbClr val="1C2130"/>
                        </a:solidFill>
                        <a:latin typeface="Inter"/>
                      </a:endParaRPr>
                    </a:p>
                  </a:txBody>
                  <a:tcPr marT="54864" marB="54864" anchor="ctr">
                    <a:solidFill>
                      <a:srgbClr val="FFFFFF"/>
                    </a:solidFill>
                  </a:tcPr>
                </a:tc>
                <a:extLst>
                  <a:ext uri="{0D108BD9-81ED-4DB2-BD59-A6C34878D82A}">
                    <a16:rowId xmlns:a16="http://schemas.microsoft.com/office/drawing/2014/main" val="10002"/>
                  </a:ext>
                </a:extLst>
              </a:tr>
              <a:tr h="424281">
                <a:tc>
                  <a:txBody>
                    <a:bodyPr/>
                    <a:lstStyle/>
                    <a:p>
                      <a:r>
                        <a:rPr sz="1800">
                          <a:solidFill>
                            <a:srgbClr val="1C2130"/>
                          </a:solidFill>
                          <a:latin typeface="Inter"/>
                        </a:rPr>
                        <a:t>LLM-as-judge</a:t>
                      </a:r>
                    </a:p>
                  </a:txBody>
                  <a:tcPr marT="54864" marB="54864" anchor="ctr">
                    <a:solidFill>
                      <a:srgbClr val="FFFFFF"/>
                    </a:solidFill>
                  </a:tcPr>
                </a:tc>
                <a:tc>
                  <a:txBody>
                    <a:bodyPr/>
                    <a:lstStyle/>
                    <a:p>
                      <a:r>
                        <a:rPr sz="1800">
                          <a:solidFill>
                            <a:srgbClr val="1C2130"/>
                          </a:solidFill>
                          <a:latin typeface="Inter"/>
                        </a:rPr>
                        <a:t>Judge reads question + answer + rubric → score + reasoning</a:t>
                      </a:r>
                    </a:p>
                  </a:txBody>
                  <a:tcPr marT="54864" marB="54864" anchor="ctr">
                    <a:solidFill>
                      <a:srgbClr val="FFFFFF"/>
                    </a:solidFill>
                  </a:tcPr>
                </a:tc>
                <a:tc>
                  <a:txBody>
                    <a:bodyPr/>
                    <a:lstStyle/>
                    <a:p>
                      <a:r>
                        <a:rPr sz="1800" dirty="0">
                          <a:solidFill>
                            <a:srgbClr val="1C2130"/>
                          </a:solidFill>
                          <a:latin typeface="Inter"/>
                        </a:rPr>
                        <a:t>"Rate 1–5: does the answer fully address the question without false information?"</a:t>
                      </a:r>
                    </a:p>
                  </a:txBody>
                  <a:tcPr marT="54864" marB="54864" anchor="ctr">
                    <a:solidFill>
                      <a:srgbClr val="FFFFFF"/>
                    </a:solidFill>
                  </a:tcPr>
                </a:tc>
                <a:extLst>
                  <a:ext uri="{0D108BD9-81ED-4DB2-BD59-A6C34878D82A}">
                    <a16:rowId xmlns:a16="http://schemas.microsoft.com/office/drawing/2014/main" val="10003"/>
                  </a:ext>
                </a:extLst>
              </a:tr>
            </a:tbl>
          </a:graphicData>
        </a:graphic>
      </p:graphicFrame>
      <p:sp>
        <p:nvSpPr>
          <p:cNvPr id="8" name="Rounded Rectangle 7"/>
          <p:cNvSpPr/>
          <p:nvPr/>
        </p:nvSpPr>
        <p:spPr>
          <a:xfrm>
            <a:off x="548640" y="3571643"/>
            <a:ext cx="11094415" cy="896112"/>
          </a:xfrm>
          <a:prstGeom prst="roundRect">
            <a:avLst>
              <a:gd name="adj" fmla="val 6000"/>
            </a:avLst>
          </a:prstGeom>
          <a:solidFill>
            <a:srgbClr val="EAF4F0"/>
          </a:solidFill>
          <a:ln w="15875">
            <a:solidFill>
              <a:srgbClr val="1371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3681371"/>
            <a:ext cx="10637215" cy="676656"/>
          </a:xfrm>
          <a:prstGeom prst="rect">
            <a:avLst/>
          </a:prstGeom>
          <a:noFill/>
        </p:spPr>
        <p:txBody>
          <a:bodyPr wrap="square" lIns="45720" tIns="18288" rIns="45720" bIns="18288" anchor="t">
            <a:spAutoFit/>
          </a:bodyPr>
          <a:lstStyle/>
          <a:p>
            <a:pPr algn="l"/>
            <a:r>
              <a:rPr sz="1600">
                <a:solidFill>
                  <a:srgbClr val="1C2130"/>
                </a:solidFill>
                <a:latin typeface="Inter"/>
              </a:rPr>
              <a:t>BLEU scores "A cat was sitting on a mat" low vs "The cat sat on the mat" — purely lexical. A judge model reads both, understands they mean the same thing, and scores them equally.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LLM-as-judge — what the judge actually does</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005840"/>
            <a:ext cx="11094415" cy="731519"/>
          </a:xfrm>
          <a:prstGeom prst="rect">
            <a:avLst/>
          </a:prstGeom>
          <a:noFill/>
        </p:spPr>
        <p:txBody>
          <a:bodyPr wrap="square" lIns="45720" tIns="18288" rIns="45720" bIns="18288" anchor="t">
            <a:spAutoFit/>
          </a:bodyPr>
          <a:lstStyle/>
          <a:p>
            <a:pPr algn="l"/>
            <a:r>
              <a:rPr sz="1800">
                <a:solidFill>
                  <a:srgbClr val="1C2130"/>
                </a:solidFill>
                <a:latin typeface="Inter"/>
              </a:rPr>
              <a:t>The judge is just another LLM call. For each row in your dataset it receives a structured prompt and returns a structured score.</a:t>
            </a:r>
          </a:p>
        </p:txBody>
      </p:sp>
      <p:sp>
        <p:nvSpPr>
          <p:cNvPr id="7" name="TextBox 6"/>
          <p:cNvSpPr txBox="1"/>
          <p:nvPr/>
        </p:nvSpPr>
        <p:spPr>
          <a:xfrm>
            <a:off x="548640" y="1783079"/>
            <a:ext cx="11094415" cy="2377440"/>
          </a:xfrm>
          <a:prstGeom prst="rect">
            <a:avLst/>
          </a:prstGeom>
          <a:noFill/>
        </p:spPr>
        <p:txBody>
          <a:bodyPr wrap="square" lIns="45720" tIns="18288" rIns="45720" bIns="18288" anchor="t">
            <a:spAutoFit/>
          </a:bodyPr>
          <a:lstStyle/>
          <a:p>
            <a:pPr algn="l"/>
            <a:r>
              <a:rPr sz="1800" b="1">
                <a:solidFill>
                  <a:srgbClr val="1C2130"/>
                </a:solidFill>
                <a:latin typeface="Inter"/>
              </a:rPr>
              <a:t>Judge input (sent automatically by VerifyWise):</a:t>
            </a:r>
            <a:r>
              <a:rPr sz="1800">
                <a:solidFill>
                  <a:srgbClr val="1C2130"/>
                </a:solidFill>
                <a:latin typeface="Inter"/>
              </a:rPr>
              <a:t>
- The original question from the dataset
- The model's response
- The expected output (if provided)
- The scoring rubric for the metric (e.g. correctness, hallucination)</a:t>
            </a:r>
          </a:p>
        </p:txBody>
      </p:sp>
      <p:sp>
        <p:nvSpPr>
          <p:cNvPr id="8" name="TextBox 7"/>
          <p:cNvSpPr txBox="1"/>
          <p:nvPr/>
        </p:nvSpPr>
        <p:spPr>
          <a:xfrm>
            <a:off x="548639" y="3429000"/>
            <a:ext cx="11094415" cy="1060704"/>
          </a:xfrm>
          <a:prstGeom prst="rect">
            <a:avLst/>
          </a:prstGeom>
          <a:noFill/>
        </p:spPr>
        <p:txBody>
          <a:bodyPr wrap="square" lIns="45720" tIns="18288" rIns="45720" bIns="18288" anchor="t">
            <a:spAutoFit/>
          </a:bodyPr>
          <a:lstStyle/>
          <a:p>
            <a:pPr algn="l"/>
            <a:r>
              <a:rPr sz="1800" b="1" dirty="0">
                <a:solidFill>
                  <a:srgbClr val="1C2130"/>
                </a:solidFill>
                <a:latin typeface="Inter"/>
              </a:rPr>
              <a:t>Judge output:</a:t>
            </a:r>
            <a:r>
              <a:rPr sz="1800" dirty="0">
                <a:solidFill>
                  <a:srgbClr val="1C2130"/>
                </a:solidFill>
                <a:latin typeface="Inter"/>
              </a:rPr>
              <a:t>
</a:t>
            </a:r>
            <a:r>
              <a:rPr sz="1700" dirty="0">
                <a:solidFill>
                  <a:srgbClr val="0F5A47"/>
                </a:solidFill>
                <a:latin typeface="Menlo"/>
              </a:rPr>
              <a:t>{"score": 0.8, "reason": "Answer is accurate but omits the deadline requirement."}</a:t>
            </a:r>
          </a:p>
        </p:txBody>
      </p:sp>
      <p:sp>
        <p:nvSpPr>
          <p:cNvPr id="9" name="TextBox 8"/>
          <p:cNvSpPr txBox="1"/>
          <p:nvPr/>
        </p:nvSpPr>
        <p:spPr>
          <a:xfrm>
            <a:off x="548639" y="4259488"/>
            <a:ext cx="11094415" cy="1133857"/>
          </a:xfrm>
          <a:prstGeom prst="rect">
            <a:avLst/>
          </a:prstGeom>
          <a:noFill/>
        </p:spPr>
        <p:txBody>
          <a:bodyPr wrap="square" lIns="45720" tIns="18288" rIns="45720" bIns="18288" anchor="t">
            <a:spAutoFit/>
          </a:bodyPr>
          <a:lstStyle/>
          <a:p>
            <a:pPr algn="l"/>
            <a:r>
              <a:rPr sz="1800" b="1">
                <a:solidFill>
                  <a:srgbClr val="1C2130"/>
                </a:solidFill>
                <a:latin typeface="Inter"/>
              </a:rPr>
              <a:t>Why this beats formulas for quality metrics:</a:t>
            </a:r>
            <a:r>
              <a:rPr sz="1800">
                <a:solidFill>
                  <a:srgbClr val="1C2130"/>
                </a:solidFill>
                <a:latin typeface="Inter"/>
              </a:rPr>
              <a:t>
Formulas cannot tell you whether an answer is </a:t>
            </a:r>
            <a:r>
              <a:rPr sz="1800" i="1">
                <a:solidFill>
                  <a:srgbClr val="1C2130"/>
                </a:solidFill>
                <a:latin typeface="Inter"/>
              </a:rPr>
              <a:t>helpful</a:t>
            </a:r>
            <a:r>
              <a:rPr sz="1800">
                <a:solidFill>
                  <a:srgbClr val="1C2130"/>
                </a:solidFill>
                <a:latin typeface="Inter"/>
              </a:rPr>
              <a:t>, </a:t>
            </a:r>
            <a:r>
              <a:rPr sz="1800" i="1">
                <a:solidFill>
                  <a:srgbClr val="1C2130"/>
                </a:solidFill>
                <a:latin typeface="Inter"/>
              </a:rPr>
              <a:t>complete</a:t>
            </a:r>
            <a:r>
              <a:rPr sz="1800">
                <a:solidFill>
                  <a:srgbClr val="1C2130"/>
                </a:solidFill>
                <a:latin typeface="Inter"/>
              </a:rPr>
              <a:t>, or </a:t>
            </a:r>
            <a:r>
              <a:rPr sz="1800" i="1">
                <a:solidFill>
                  <a:srgbClr val="1C2130"/>
                </a:solidFill>
                <a:latin typeface="Inter"/>
              </a:rPr>
              <a:t>hallucinated</a:t>
            </a:r>
            <a:r>
              <a:rPr sz="1800">
                <a:solidFill>
                  <a:srgbClr val="1C2130"/>
                </a:solidFill>
                <a:latin typeface="Inter"/>
              </a:rPr>
              <a:t> without an exact reference string. The judge reads the answer semantically — it can spot fabricated facts even when the wording sounds confident and fluent.</a:t>
            </a:r>
          </a:p>
        </p:txBody>
      </p:sp>
      <p:sp>
        <p:nvSpPr>
          <p:cNvPr id="10" name="Rounded Rectangle 9"/>
          <p:cNvSpPr/>
          <p:nvPr/>
        </p:nvSpPr>
        <p:spPr>
          <a:xfrm>
            <a:off x="562365" y="5545566"/>
            <a:ext cx="11094415" cy="962809"/>
          </a:xfrm>
          <a:prstGeom prst="roundRect">
            <a:avLst>
              <a:gd name="adj" fmla="val 6000"/>
            </a:avLst>
          </a:prstGeom>
          <a:solidFill>
            <a:srgbClr val="EAF4F0"/>
          </a:solidFill>
          <a:ln w="15875">
            <a:solidFill>
              <a:srgbClr val="1371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0966" y="5645077"/>
            <a:ext cx="10637215" cy="54864"/>
          </a:xfrm>
          <a:prstGeom prst="rect">
            <a:avLst/>
          </a:prstGeom>
          <a:noFill/>
        </p:spPr>
        <p:txBody>
          <a:bodyPr wrap="square" lIns="45720" tIns="18288" rIns="45720" bIns="18288" anchor="t">
            <a:spAutoFit/>
          </a:bodyPr>
          <a:lstStyle/>
          <a:p>
            <a:pPr algn="l"/>
            <a:r>
              <a:rPr sz="1600" dirty="0">
                <a:solidFill>
                  <a:srgbClr val="1C2130"/>
                </a:solidFill>
                <a:latin typeface="Inter"/>
              </a:rPr>
              <a:t>Known biases to watch: verbosity bias (longer answers score higher), position bias (judge </a:t>
            </a:r>
            <a:r>
              <a:rPr sz="1600" dirty="0" err="1">
                <a:solidFill>
                  <a:srgbClr val="1C2130"/>
                </a:solidFill>
                <a:latin typeface="Inter"/>
              </a:rPr>
              <a:t>favours</a:t>
            </a:r>
            <a:r>
              <a:rPr sz="1600" dirty="0">
                <a:solidFill>
                  <a:srgbClr val="1C2130"/>
                </a:solidFill>
                <a:latin typeface="Inter"/>
              </a:rPr>
              <a:t> the first option in pairwise). </a:t>
            </a:r>
            <a:r>
              <a:rPr sz="1600" dirty="0" err="1">
                <a:solidFill>
                  <a:srgbClr val="1C2130"/>
                </a:solidFill>
                <a:latin typeface="Inter"/>
              </a:rPr>
              <a:t>VerifyWise</a:t>
            </a:r>
            <a:r>
              <a:rPr sz="1600" dirty="0">
                <a:solidFill>
                  <a:srgbClr val="1C2130"/>
                </a:solidFill>
                <a:latin typeface="Inter"/>
              </a:rPr>
              <a:t> mitigates with structured JSON output and chain-of-thought before the score.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The eval pipeline — 5 steps</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005840"/>
            <a:ext cx="11094415" cy="2029968"/>
          </a:xfrm>
          <a:prstGeom prst="rect">
            <a:avLst/>
          </a:prstGeom>
          <a:noFill/>
        </p:spPr>
        <p:txBody>
          <a:bodyPr wrap="square" lIns="45720">
            <a:spAutoFit/>
          </a:bodyPr>
          <a:lstStyle/>
          <a:p>
            <a:pPr>
              <a:spcAft>
                <a:spcPts val="400"/>
              </a:spcAft>
            </a:pPr>
            <a:r>
              <a:rPr sz="1800">
                <a:solidFill>
                  <a:srgbClr val="1C2130"/>
                </a:solidFill>
                <a:latin typeface="Inter"/>
              </a:rPr>
              <a:t>1.  </a:t>
            </a:r>
            <a:r>
              <a:rPr sz="1800" b="1">
                <a:solidFill>
                  <a:srgbClr val="1C2130"/>
                </a:solidFill>
                <a:latin typeface="Inter"/>
              </a:rPr>
              <a:t>Define tasks</a:t>
            </a:r>
            <a:r>
              <a:rPr sz="1800">
                <a:solidFill>
                  <a:srgbClr val="1C2130"/>
                </a:solidFill>
                <a:latin typeface="Inter"/>
              </a:rPr>
              <a:t> — what should the model do in specific, testable terms?</a:t>
            </a:r>
          </a:p>
          <a:p>
            <a:pPr>
              <a:spcAft>
                <a:spcPts val="400"/>
              </a:spcAft>
            </a:pPr>
            <a:r>
              <a:rPr sz="1800">
                <a:solidFill>
                  <a:srgbClr val="1C2130"/>
                </a:solidFill>
                <a:latin typeface="Inter"/>
              </a:rPr>
              <a:t>2.  </a:t>
            </a:r>
            <a:r>
              <a:rPr sz="1800" b="1">
                <a:solidFill>
                  <a:srgbClr val="1C2130"/>
                </a:solidFill>
                <a:latin typeface="Inter"/>
              </a:rPr>
              <a:t>Collect dataset</a:t>
            </a:r>
            <a:r>
              <a:rPr sz="1800">
                <a:solidFill>
                  <a:srgbClr val="1C2130"/>
                </a:solidFill>
                <a:latin typeface="Inter"/>
              </a:rPr>
              <a:t> — seed examples + production logs + synthetic pairs</a:t>
            </a:r>
          </a:p>
          <a:p>
            <a:pPr>
              <a:spcAft>
                <a:spcPts val="400"/>
              </a:spcAft>
            </a:pPr>
            <a:r>
              <a:rPr sz="1800">
                <a:solidFill>
                  <a:srgbClr val="1C2130"/>
                </a:solidFill>
                <a:latin typeface="Inter"/>
              </a:rPr>
              <a:t>3.  </a:t>
            </a:r>
            <a:r>
              <a:rPr sz="1800" b="1">
                <a:solidFill>
                  <a:srgbClr val="1C2130"/>
                </a:solidFill>
                <a:latin typeface="Inter"/>
              </a:rPr>
              <a:t>Choose metrics</a:t>
            </a:r>
            <a:r>
              <a:rPr sz="1800">
                <a:solidFill>
                  <a:srgbClr val="1C2130"/>
                </a:solidFill>
                <a:latin typeface="Inter"/>
              </a:rPr>
              <a:t> — 2–3 per task; align with business impact, not academic prestige</a:t>
            </a:r>
          </a:p>
          <a:p>
            <a:pPr>
              <a:spcAft>
                <a:spcPts val="400"/>
              </a:spcAft>
            </a:pPr>
            <a:r>
              <a:rPr sz="1800">
                <a:solidFill>
                  <a:srgbClr val="1C2130"/>
                </a:solidFill>
                <a:latin typeface="Inter"/>
              </a:rPr>
              <a:t>4.  </a:t>
            </a:r>
            <a:r>
              <a:rPr sz="1800" b="1">
                <a:solidFill>
                  <a:srgbClr val="1C2130"/>
                </a:solidFill>
                <a:latin typeface="Inter"/>
              </a:rPr>
              <a:t>Run evaluator</a:t>
            </a:r>
            <a:r>
              <a:rPr sz="1800">
                <a:solidFill>
                  <a:srgbClr val="1C2130"/>
                </a:solidFill>
                <a:latin typeface="Inter"/>
              </a:rPr>
              <a:t> — automated scoring, then sample human review of failures</a:t>
            </a:r>
          </a:p>
          <a:p>
            <a:pPr>
              <a:spcAft>
                <a:spcPts val="400"/>
              </a:spcAft>
            </a:pPr>
            <a:r>
              <a:rPr sz="1800">
                <a:solidFill>
                  <a:srgbClr val="1C2130"/>
                </a:solidFill>
                <a:latin typeface="Inter"/>
              </a:rPr>
              <a:t>5.  </a:t>
            </a:r>
            <a:r>
              <a:rPr sz="1800" b="1">
                <a:solidFill>
                  <a:srgbClr val="1C2130"/>
                </a:solidFill>
                <a:latin typeface="Inter"/>
              </a:rPr>
              <a:t>Track &amp; gate</a:t>
            </a:r>
            <a:r>
              <a:rPr sz="1800">
                <a:solidFill>
                  <a:srgbClr val="1C2130"/>
                </a:solidFill>
                <a:latin typeface="Inter"/>
              </a:rPr>
              <a:t> — CI threshold gates block regressions before deployment</a:t>
            </a:r>
          </a:p>
        </p:txBody>
      </p:sp>
      <p:sp>
        <p:nvSpPr>
          <p:cNvPr id="7" name="Rounded Rectangle 6"/>
          <p:cNvSpPr/>
          <p:nvPr/>
        </p:nvSpPr>
        <p:spPr>
          <a:xfrm>
            <a:off x="548640" y="3108960"/>
            <a:ext cx="11094415" cy="585216"/>
          </a:xfrm>
          <a:prstGeom prst="roundRect">
            <a:avLst>
              <a:gd name="adj" fmla="val 6000"/>
            </a:avLst>
          </a:prstGeom>
          <a:solidFill>
            <a:srgbClr val="EAF4F0"/>
          </a:solidFill>
          <a:ln w="15875">
            <a:solidFill>
              <a:srgbClr val="1371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3218688"/>
            <a:ext cx="10637215" cy="365760"/>
          </a:xfrm>
          <a:prstGeom prst="rect">
            <a:avLst/>
          </a:prstGeom>
          <a:noFill/>
        </p:spPr>
        <p:txBody>
          <a:bodyPr wrap="square" lIns="45720" tIns="18288" rIns="45720" bIns="18288" anchor="t">
            <a:spAutoFit/>
          </a:bodyPr>
          <a:lstStyle/>
          <a:p>
            <a:pPr algn="l"/>
            <a:r>
              <a:rPr sz="1600">
                <a:solidFill>
                  <a:srgbClr val="1C2130"/>
                </a:solidFill>
                <a:latin typeface="Inter"/>
              </a:rPr>
              <a:t>The pipeline only works if it runs on every change. Treat evals like unit tests.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3715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A4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2"/>
          <a:stretch>
            <a:fillRect/>
          </a:stretch>
        </p:blipFill>
        <p:spPr>
          <a:xfrm>
            <a:off x="10180015" y="274320"/>
            <a:ext cx="1645920" cy="309981"/>
          </a:xfrm>
          <a:noFill/>
        </p:spPr>
      </p:pic>
      <p:sp>
        <p:nvSpPr>
          <p:cNvPr id="4" name="TextBox 3"/>
          <p:cNvSpPr txBox="1"/>
          <p:nvPr/>
        </p:nvSpPr>
        <p:spPr>
          <a:xfrm>
            <a:off x="548640" y="2103120"/>
            <a:ext cx="11094415" cy="1097280"/>
          </a:xfrm>
          <a:prstGeom prst="rect">
            <a:avLst/>
          </a:prstGeom>
          <a:noFill/>
        </p:spPr>
        <p:txBody>
          <a:bodyPr wrap="square" lIns="45720" tIns="18288" rIns="45720" bIns="18288" anchor="t">
            <a:spAutoFit/>
          </a:bodyPr>
          <a:lstStyle/>
          <a:p>
            <a:pPr algn="ctr"/>
            <a:r>
              <a:rPr sz="6800" b="1">
                <a:solidFill>
                  <a:srgbClr val="FFFFFF"/>
                </a:solidFill>
                <a:latin typeface="Inter"/>
              </a:rPr>
              <a:t>Part 2</a:t>
            </a:r>
          </a:p>
        </p:txBody>
      </p:sp>
      <p:sp>
        <p:nvSpPr>
          <p:cNvPr id="5" name="TextBox 4"/>
          <p:cNvSpPr txBox="1"/>
          <p:nvPr/>
        </p:nvSpPr>
        <p:spPr>
          <a:xfrm>
            <a:off x="548640" y="3337560"/>
            <a:ext cx="11094415" cy="548640"/>
          </a:xfrm>
          <a:prstGeom prst="rect">
            <a:avLst/>
          </a:prstGeom>
          <a:noFill/>
        </p:spPr>
        <p:txBody>
          <a:bodyPr wrap="square" lIns="45720" tIns="18288" rIns="45720" bIns="18288" anchor="t">
            <a:spAutoFit/>
          </a:bodyPr>
          <a:lstStyle/>
          <a:p>
            <a:pPr algn="ctr"/>
            <a:r>
              <a:rPr sz="2600">
                <a:solidFill>
                  <a:srgbClr val="D1F0E8"/>
                </a:solidFill>
                <a:latin typeface="Inter"/>
              </a:rPr>
              <a:t>LLM Evals in VerifyWise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Learning objectives — Part 2</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005840"/>
            <a:ext cx="11094415" cy="402336"/>
          </a:xfrm>
          <a:prstGeom prst="rect">
            <a:avLst/>
          </a:prstGeom>
          <a:noFill/>
        </p:spPr>
        <p:txBody>
          <a:bodyPr wrap="square" lIns="45720" tIns="18288" rIns="45720" bIns="18288" anchor="t">
            <a:spAutoFit/>
          </a:bodyPr>
          <a:lstStyle/>
          <a:p>
            <a:pPr algn="l"/>
            <a:r>
              <a:rPr sz="1800">
                <a:solidFill>
                  <a:srgbClr val="1C2130"/>
                </a:solidFill>
                <a:latin typeface="Inter"/>
              </a:rPr>
              <a:t>By the end of this section you will be able to:</a:t>
            </a:r>
          </a:p>
        </p:txBody>
      </p:sp>
      <p:sp>
        <p:nvSpPr>
          <p:cNvPr id="7" name="TextBox 6"/>
          <p:cNvSpPr txBox="1"/>
          <p:nvPr/>
        </p:nvSpPr>
        <p:spPr>
          <a:xfrm>
            <a:off x="548640" y="1453896"/>
            <a:ext cx="11094415" cy="2029968"/>
          </a:xfrm>
          <a:prstGeom prst="rect">
            <a:avLst/>
          </a:prstGeom>
          <a:noFill/>
        </p:spPr>
        <p:txBody>
          <a:bodyPr wrap="square" lIns="45720" tIns="18288">
            <a:spAutoFit/>
          </a:bodyPr>
          <a:lstStyle/>
          <a:p>
            <a:pPr>
              <a:spcAft>
                <a:spcPts val="400"/>
              </a:spcAft>
            </a:pPr>
            <a:r>
              <a:rPr sz="1800">
                <a:solidFill>
                  <a:srgbClr val="1C2130"/>
                </a:solidFill>
                <a:latin typeface="Inter"/>
              </a:rPr>
              <a:t>•  </a:t>
            </a:r>
            <a:r>
              <a:rPr sz="1800" b="1">
                <a:solidFill>
                  <a:srgbClr val="1C2130"/>
                </a:solidFill>
                <a:latin typeface="Inter"/>
              </a:rPr>
              <a:t>Add</a:t>
            </a:r>
            <a:r>
              <a:rPr sz="1800">
                <a:solidFill>
                  <a:srgbClr val="1C2130"/>
                </a:solidFill>
                <a:latin typeface="Inter"/>
              </a:rPr>
              <a:t> a model configuration in VerifyWise (provider, model name, API key)</a:t>
            </a:r>
          </a:p>
          <a:p>
            <a:pPr>
              <a:spcAft>
                <a:spcPts val="400"/>
              </a:spcAft>
            </a:pPr>
            <a:r>
              <a:rPr sz="1800">
                <a:solidFill>
                  <a:srgbClr val="1C2130"/>
                </a:solidFill>
                <a:latin typeface="Inter"/>
              </a:rPr>
              <a:t>•  </a:t>
            </a:r>
            <a:r>
              <a:rPr sz="1800" b="1">
                <a:solidFill>
                  <a:srgbClr val="1C2130"/>
                </a:solidFill>
                <a:latin typeface="Inter"/>
              </a:rPr>
              <a:t>Upload</a:t>
            </a:r>
            <a:r>
              <a:rPr sz="1800">
                <a:solidFill>
                  <a:srgbClr val="1C2130"/>
                </a:solidFill>
                <a:latin typeface="Inter"/>
              </a:rPr>
              <a:t> a dataset of question-answer pairs for evaluation</a:t>
            </a:r>
          </a:p>
          <a:p>
            <a:pPr>
              <a:spcAft>
                <a:spcPts val="400"/>
              </a:spcAft>
            </a:pPr>
            <a:r>
              <a:rPr sz="1800">
                <a:solidFill>
                  <a:srgbClr val="1C2130"/>
                </a:solidFill>
                <a:latin typeface="Inter"/>
              </a:rPr>
              <a:t>•  </a:t>
            </a:r>
            <a:r>
              <a:rPr sz="1800" b="1">
                <a:solidFill>
                  <a:srgbClr val="1C2130"/>
                </a:solidFill>
                <a:latin typeface="Inter"/>
              </a:rPr>
              <a:t>Configure</a:t>
            </a:r>
            <a:r>
              <a:rPr sz="1800">
                <a:solidFill>
                  <a:srgbClr val="1C2130"/>
                </a:solidFill>
                <a:latin typeface="Inter"/>
              </a:rPr>
              <a:t> a judge model and select evaluation metrics</a:t>
            </a:r>
          </a:p>
          <a:p>
            <a:pPr>
              <a:spcAft>
                <a:spcPts val="400"/>
              </a:spcAft>
            </a:pPr>
            <a:r>
              <a:rPr sz="1800">
                <a:solidFill>
                  <a:srgbClr val="1C2130"/>
                </a:solidFill>
                <a:latin typeface="Inter"/>
              </a:rPr>
              <a:t>•  </a:t>
            </a:r>
            <a:r>
              <a:rPr sz="1800" b="1">
                <a:solidFill>
                  <a:srgbClr val="1C2130"/>
                </a:solidFill>
                <a:latin typeface="Inter"/>
              </a:rPr>
              <a:t>Run</a:t>
            </a:r>
            <a:r>
              <a:rPr sz="1800">
                <a:solidFill>
                  <a:srgbClr val="1C2130"/>
                </a:solidFill>
                <a:latin typeface="Inter"/>
              </a:rPr>
              <a:t> an experiment and read the per-metric results</a:t>
            </a:r>
          </a:p>
          <a:p>
            <a:pPr>
              <a:spcAft>
                <a:spcPts val="400"/>
              </a:spcAft>
            </a:pPr>
            <a:r>
              <a:rPr sz="1800">
                <a:solidFill>
                  <a:srgbClr val="1C2130"/>
                </a:solidFill>
                <a:latin typeface="Inter"/>
              </a:rPr>
              <a:t>•  </a:t>
            </a:r>
            <a:r>
              <a:rPr sz="1800" b="1">
                <a:solidFill>
                  <a:srgbClr val="1C2130"/>
                </a:solidFill>
                <a:latin typeface="Inter"/>
              </a:rPr>
              <a:t>Interpret</a:t>
            </a:r>
            <a:r>
              <a:rPr sz="1800">
                <a:solidFill>
                  <a:srgbClr val="1C2130"/>
                </a:solidFill>
                <a:latin typeface="Inter"/>
              </a:rPr>
              <a:t> pass/fail thresholds and understand what the scores mean</a:t>
            </a:r>
          </a:p>
        </p:txBody>
      </p:sp>
      <p:pic>
        <p:nvPicPr>
          <p:cNvPr id="8" name="Picture 7">
            <a:extLst>
              <a:ext uri="{FF2B5EF4-FFF2-40B4-BE49-F238E27FC236}">
                <a16:creationId xmlns:a16="http://schemas.microsoft.com/office/drawing/2014/main" id="{22CFD9C7-FDDD-EE83-E36C-73DA58AE6C45}"/>
              </a:ext>
            </a:extLst>
          </p:cNvPr>
          <p:cNvPicPr>
            <a:picLocks noChangeAspect="1"/>
          </p:cNvPicPr>
          <p:nvPr/>
        </p:nvPicPr>
        <p:blipFill>
          <a:blip r:embed="rId4"/>
          <a:stretch>
            <a:fillRect/>
          </a:stretch>
        </p:blipFill>
        <p:spPr>
          <a:xfrm>
            <a:off x="2209647" y="3095755"/>
            <a:ext cx="7772400" cy="353364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Demo — Step 1: Add a model</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948285"/>
            <a:ext cx="11094415" cy="402336"/>
          </a:xfrm>
          <a:prstGeom prst="rect">
            <a:avLst/>
          </a:prstGeom>
          <a:noFill/>
        </p:spPr>
        <p:txBody>
          <a:bodyPr wrap="square" lIns="45720" tIns="18288" rIns="45720" bIns="18288" anchor="t">
            <a:spAutoFit/>
          </a:bodyPr>
          <a:lstStyle/>
          <a:p>
            <a:pPr algn="l"/>
            <a:r>
              <a:rPr sz="1800" b="1">
                <a:solidFill>
                  <a:srgbClr val="1C2130"/>
                </a:solidFill>
                <a:latin typeface="Inter"/>
              </a:rPr>
              <a:t>What you're doing:</a:t>
            </a:r>
            <a:r>
              <a:rPr sz="1800">
                <a:solidFill>
                  <a:srgbClr val="1C2130"/>
                </a:solidFill>
                <a:latin typeface="Inter"/>
              </a:rPr>
              <a:t> Registering the LLM you want to evaluate against your dataset.</a:t>
            </a:r>
          </a:p>
        </p:txBody>
      </p:sp>
      <p:sp>
        <p:nvSpPr>
          <p:cNvPr id="8" name="TextBox 7"/>
          <p:cNvSpPr txBox="1"/>
          <p:nvPr/>
        </p:nvSpPr>
        <p:spPr>
          <a:xfrm>
            <a:off x="548640" y="1245732"/>
            <a:ext cx="11094415" cy="1326517"/>
          </a:xfrm>
          <a:prstGeom prst="rect">
            <a:avLst/>
          </a:prstGeom>
          <a:noFill/>
        </p:spPr>
        <p:txBody>
          <a:bodyPr wrap="square" lIns="45720" tIns="18288">
            <a:spAutoFit/>
          </a:bodyPr>
          <a:lstStyle/>
          <a:p>
            <a:pPr>
              <a:spcAft>
                <a:spcPts val="400"/>
              </a:spcAft>
            </a:pPr>
            <a:r>
              <a:rPr sz="1800" dirty="0">
                <a:solidFill>
                  <a:srgbClr val="1C2130"/>
                </a:solidFill>
                <a:latin typeface="Inter"/>
              </a:rPr>
              <a:t>•  Navigate to </a:t>
            </a:r>
            <a:r>
              <a:rPr sz="1800" b="1" dirty="0">
                <a:solidFill>
                  <a:srgbClr val="1C2130"/>
                </a:solidFill>
                <a:latin typeface="Inter"/>
              </a:rPr>
              <a:t>LLM Evals → </a:t>
            </a:r>
            <a:r>
              <a:rPr lang="en-US" b="1" dirty="0">
                <a:solidFill>
                  <a:srgbClr val="1C2130"/>
                </a:solidFill>
                <a:latin typeface="Inter"/>
              </a:rPr>
              <a:t>Experiments</a:t>
            </a:r>
            <a:endParaRPr sz="1800" b="1" dirty="0">
              <a:solidFill>
                <a:srgbClr val="1C2130"/>
              </a:solidFill>
              <a:latin typeface="Inter"/>
            </a:endParaRPr>
          </a:p>
          <a:p>
            <a:pPr>
              <a:spcAft>
                <a:spcPts val="400"/>
              </a:spcAft>
            </a:pPr>
            <a:r>
              <a:rPr sz="1800" dirty="0">
                <a:solidFill>
                  <a:srgbClr val="1C2130"/>
                </a:solidFill>
                <a:latin typeface="Inter"/>
              </a:rPr>
              <a:t>•  Click </a:t>
            </a:r>
            <a:r>
              <a:rPr lang="en-US" sz="1800" b="1" dirty="0">
                <a:solidFill>
                  <a:srgbClr val="1C2130"/>
                </a:solidFill>
                <a:latin typeface="Inter"/>
              </a:rPr>
              <a:t>New Experiment</a:t>
            </a:r>
            <a:endParaRPr sz="1800" b="1" dirty="0">
              <a:solidFill>
                <a:srgbClr val="1C2130"/>
              </a:solidFill>
              <a:latin typeface="Inter"/>
            </a:endParaRPr>
          </a:p>
          <a:p>
            <a:pPr>
              <a:spcAft>
                <a:spcPts val="400"/>
              </a:spcAft>
            </a:pPr>
            <a:r>
              <a:rPr sz="1800" dirty="0">
                <a:solidFill>
                  <a:srgbClr val="1C2130"/>
                </a:solidFill>
                <a:latin typeface="Inter"/>
              </a:rPr>
              <a:t>•  </a:t>
            </a:r>
            <a:r>
              <a:rPr lang="en-US" sz="1800" dirty="0">
                <a:solidFill>
                  <a:srgbClr val="1C2130"/>
                </a:solidFill>
                <a:latin typeface="Inter"/>
              </a:rPr>
              <a:t>In the menu for model </a:t>
            </a:r>
            <a:r>
              <a:rPr lang="en-US" dirty="0">
                <a:solidFill>
                  <a:srgbClr val="1C2130"/>
                </a:solidFill>
                <a:latin typeface="Inter"/>
              </a:rPr>
              <a:t>s</a:t>
            </a:r>
            <a:r>
              <a:rPr sz="1800" dirty="0">
                <a:solidFill>
                  <a:srgbClr val="1C2130"/>
                </a:solidFill>
                <a:latin typeface="Inter"/>
              </a:rPr>
              <a:t>elect provider (OpenAI, Anthropic, etc.) and enter the model name</a:t>
            </a:r>
          </a:p>
          <a:p>
            <a:pPr>
              <a:spcAft>
                <a:spcPts val="400"/>
              </a:spcAft>
            </a:pPr>
            <a:r>
              <a:rPr sz="1800" dirty="0">
                <a:solidFill>
                  <a:srgbClr val="1C2130"/>
                </a:solidFill>
                <a:latin typeface="Inter"/>
              </a:rPr>
              <a:t>•  Add your API key — stored encrypted, never logged</a:t>
            </a:r>
          </a:p>
        </p:txBody>
      </p:sp>
      <p:sp>
        <p:nvSpPr>
          <p:cNvPr id="9" name="Rounded Rectangle 8"/>
          <p:cNvSpPr/>
          <p:nvPr/>
        </p:nvSpPr>
        <p:spPr>
          <a:xfrm>
            <a:off x="548640" y="5621948"/>
            <a:ext cx="11094415" cy="896112"/>
          </a:xfrm>
          <a:prstGeom prst="roundRect">
            <a:avLst>
              <a:gd name="adj" fmla="val 6000"/>
            </a:avLst>
          </a:prstGeom>
          <a:solidFill>
            <a:srgbClr val="EAF4F0"/>
          </a:solidFill>
          <a:ln w="15875">
            <a:solidFill>
              <a:srgbClr val="1371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5731673"/>
            <a:ext cx="10637215" cy="676656"/>
          </a:xfrm>
          <a:prstGeom prst="rect">
            <a:avLst/>
          </a:prstGeom>
          <a:noFill/>
        </p:spPr>
        <p:txBody>
          <a:bodyPr wrap="square" lIns="45720" tIns="18288" rIns="45720" bIns="18288" anchor="t">
            <a:spAutoFit/>
          </a:bodyPr>
          <a:lstStyle/>
          <a:p>
            <a:pPr algn="l"/>
            <a:r>
              <a:rPr sz="1600">
                <a:solidFill>
                  <a:srgbClr val="1C2130"/>
                </a:solidFill>
                <a:latin typeface="Inter"/>
              </a:rPr>
              <a:t>The model you add here is the </a:t>
            </a:r>
            <a:r>
              <a:rPr sz="1600" i="1">
                <a:solidFill>
                  <a:srgbClr val="1C2130"/>
                </a:solidFill>
                <a:latin typeface="Inter"/>
              </a:rPr>
              <a:t>system under test</a:t>
            </a:r>
            <a:r>
              <a:rPr sz="1600">
                <a:solidFill>
                  <a:srgbClr val="1C2130"/>
                </a:solidFill>
                <a:latin typeface="Inter"/>
              </a:rPr>
              <a:t> — the one your application actually calls. The judge model is configured separately in the experiment.</a:t>
            </a:r>
          </a:p>
        </p:txBody>
      </p:sp>
      <p:pic>
        <p:nvPicPr>
          <p:cNvPr id="14" name="Picture 13">
            <a:extLst>
              <a:ext uri="{FF2B5EF4-FFF2-40B4-BE49-F238E27FC236}">
                <a16:creationId xmlns:a16="http://schemas.microsoft.com/office/drawing/2014/main" id="{B0D0AC2D-690D-846E-5462-BC9B26233918}"/>
              </a:ext>
            </a:extLst>
          </p:cNvPr>
          <p:cNvPicPr>
            <a:picLocks noChangeAspect="1"/>
          </p:cNvPicPr>
          <p:nvPr/>
        </p:nvPicPr>
        <p:blipFill>
          <a:blip r:embed="rId4"/>
          <a:stretch>
            <a:fillRect/>
          </a:stretch>
        </p:blipFill>
        <p:spPr>
          <a:xfrm>
            <a:off x="2601072" y="2542348"/>
            <a:ext cx="6532350" cy="296986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Demo — Step 2: Add a dataset</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014984"/>
            <a:ext cx="11094415" cy="731519"/>
          </a:xfrm>
          <a:prstGeom prst="rect">
            <a:avLst/>
          </a:prstGeom>
          <a:noFill/>
        </p:spPr>
        <p:txBody>
          <a:bodyPr wrap="square" lIns="45720" tIns="18288" rIns="45720" bIns="18288" anchor="t">
            <a:spAutoFit/>
          </a:bodyPr>
          <a:lstStyle/>
          <a:p>
            <a:pPr algn="l"/>
            <a:r>
              <a:rPr sz="1800" b="1">
                <a:solidFill>
                  <a:srgbClr val="1C2130"/>
                </a:solidFill>
                <a:latin typeface="Inter"/>
              </a:rPr>
              <a:t>What you're doing:</a:t>
            </a:r>
            <a:r>
              <a:rPr sz="1800">
                <a:solidFill>
                  <a:srgbClr val="1C2130"/>
                </a:solidFill>
                <a:latin typeface="Inter"/>
              </a:rPr>
              <a:t> Providing the questions (and optionally expected answers) the model will be tested on.</a:t>
            </a:r>
          </a:p>
        </p:txBody>
      </p:sp>
      <p:sp>
        <p:nvSpPr>
          <p:cNvPr id="8" name="TextBox 7"/>
          <p:cNvSpPr txBox="1"/>
          <p:nvPr/>
        </p:nvSpPr>
        <p:spPr>
          <a:xfrm>
            <a:off x="548640" y="1439909"/>
            <a:ext cx="11094415" cy="998222"/>
          </a:xfrm>
          <a:prstGeom prst="rect">
            <a:avLst/>
          </a:prstGeom>
          <a:noFill/>
        </p:spPr>
        <p:txBody>
          <a:bodyPr wrap="square" lIns="45720" tIns="18288">
            <a:spAutoFit/>
          </a:bodyPr>
          <a:lstStyle/>
          <a:p>
            <a:pPr>
              <a:spcAft>
                <a:spcPts val="400"/>
              </a:spcAft>
            </a:pPr>
            <a:r>
              <a:rPr lang="en-TR" sz="1800" dirty="0">
                <a:solidFill>
                  <a:srgbClr val="1C2130"/>
                </a:solidFill>
                <a:latin typeface="Inter"/>
              </a:rPr>
              <a:t>• </a:t>
            </a:r>
            <a:r>
              <a:rPr sz="1800" dirty="0">
                <a:solidFill>
                  <a:srgbClr val="1C2130"/>
                </a:solidFill>
                <a:latin typeface="Inter"/>
              </a:rPr>
              <a:t> </a:t>
            </a:r>
            <a:r>
              <a:rPr lang="en-US" sz="1800" dirty="0">
                <a:solidFill>
                  <a:srgbClr val="1C2130"/>
                </a:solidFill>
                <a:latin typeface="Inter"/>
              </a:rPr>
              <a:t>In the menu either upload your own dataset or choose from the default templates for your use case.</a:t>
            </a:r>
          </a:p>
          <a:p>
            <a:pPr>
              <a:spcAft>
                <a:spcPts val="400"/>
              </a:spcAft>
            </a:pPr>
            <a:r>
              <a:rPr lang="en-TR" dirty="0">
                <a:solidFill>
                  <a:srgbClr val="1C2130"/>
                </a:solidFill>
                <a:latin typeface="Inter"/>
              </a:rPr>
              <a:t>•  </a:t>
            </a:r>
            <a:r>
              <a:rPr lang="en-US" dirty="0">
                <a:solidFill>
                  <a:srgbClr val="1C2130"/>
                </a:solidFill>
                <a:latin typeface="Inter"/>
              </a:rPr>
              <a:t>The datasets have 2 different formats, single and multi turn. Multi-turn just has a multiple inputs for each index.</a:t>
            </a:r>
            <a:endParaRPr sz="1800" b="1" dirty="0">
              <a:solidFill>
                <a:srgbClr val="1C2130"/>
              </a:solidFill>
              <a:latin typeface="Inter"/>
            </a:endParaRPr>
          </a:p>
          <a:p>
            <a:pPr>
              <a:spcAft>
                <a:spcPts val="400"/>
              </a:spcAft>
            </a:pPr>
            <a:r>
              <a:rPr sz="1800" dirty="0">
                <a:solidFill>
                  <a:srgbClr val="1C2130"/>
                </a:solidFill>
                <a:latin typeface="Inter"/>
              </a:rPr>
              <a:t>•  </a:t>
            </a:r>
            <a:r>
              <a:rPr lang="en-US" sz="1800" dirty="0">
                <a:solidFill>
                  <a:srgbClr val="1C2130"/>
                </a:solidFill>
                <a:latin typeface="Inter"/>
              </a:rPr>
              <a:t>For the </a:t>
            </a:r>
            <a:r>
              <a:rPr lang="en-US" dirty="0">
                <a:solidFill>
                  <a:srgbClr val="1C2130"/>
                </a:solidFill>
                <a:latin typeface="Inter"/>
              </a:rPr>
              <a:t>u</a:t>
            </a:r>
            <a:r>
              <a:rPr sz="1800" dirty="0">
                <a:solidFill>
                  <a:srgbClr val="1C2130"/>
                </a:solidFill>
                <a:latin typeface="Inter"/>
              </a:rPr>
              <a:t>pload</a:t>
            </a:r>
            <a:r>
              <a:rPr lang="en-US" sz="1800" dirty="0">
                <a:solidFill>
                  <a:srgbClr val="1C2130"/>
                </a:solidFill>
                <a:latin typeface="Inter"/>
              </a:rPr>
              <a:t>, you can upload</a:t>
            </a:r>
            <a:r>
              <a:rPr sz="1800" dirty="0">
                <a:solidFill>
                  <a:srgbClr val="1C2130"/>
                </a:solidFill>
                <a:latin typeface="Inter"/>
              </a:rPr>
              <a:t> a JSON file — each row needs at minimum an </a:t>
            </a:r>
            <a:r>
              <a:rPr sz="1700" dirty="0">
                <a:solidFill>
                  <a:srgbClr val="0F5A47"/>
                </a:solidFill>
                <a:latin typeface="Menlo"/>
              </a:rPr>
              <a:t>input</a:t>
            </a:r>
            <a:r>
              <a:rPr sz="1800" dirty="0">
                <a:solidFill>
                  <a:srgbClr val="1C2130"/>
                </a:solidFill>
                <a:latin typeface="Inter"/>
              </a:rPr>
              <a:t> field</a:t>
            </a:r>
          </a:p>
        </p:txBody>
      </p:sp>
      <p:sp>
        <p:nvSpPr>
          <p:cNvPr id="10" name="Rectangle 9"/>
          <p:cNvSpPr/>
          <p:nvPr/>
        </p:nvSpPr>
        <p:spPr>
          <a:xfrm>
            <a:off x="581525" y="5759558"/>
            <a:ext cx="11094415" cy="998222"/>
          </a:xfrm>
          <a:prstGeom prst="rect">
            <a:avLst/>
          </a:prstGeom>
          <a:solidFill>
            <a:srgbClr val="F0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798" y="5850815"/>
            <a:ext cx="10820095" cy="1115568"/>
          </a:xfrm>
          <a:prstGeom prst="rect">
            <a:avLst/>
          </a:prstGeom>
          <a:noFill/>
        </p:spPr>
        <p:txBody>
          <a:bodyPr wrap="square">
            <a:spAutoFit/>
          </a:bodyPr>
          <a:lstStyle/>
          <a:p>
            <a:pPr>
              <a:spcAft>
                <a:spcPts val="0"/>
              </a:spcAft>
            </a:pPr>
            <a:r>
              <a:rPr sz="1300" dirty="0">
                <a:solidFill>
                  <a:srgbClr val="0F5A47"/>
                </a:solidFill>
                <a:latin typeface="Menlo"/>
              </a:rPr>
              <a:t>[</a:t>
            </a:r>
          </a:p>
          <a:p>
            <a:pPr>
              <a:spcAft>
                <a:spcPts val="0"/>
              </a:spcAft>
            </a:pPr>
            <a:r>
              <a:rPr sz="1300" dirty="0">
                <a:solidFill>
                  <a:srgbClr val="0F5A47"/>
                </a:solidFill>
                <a:latin typeface="Menlo"/>
              </a:rPr>
              <a:t>  { "input": "What is the capital of France?", "</a:t>
            </a:r>
            <a:r>
              <a:rPr sz="1300" dirty="0" err="1">
                <a:solidFill>
                  <a:srgbClr val="0F5A47"/>
                </a:solidFill>
                <a:latin typeface="Menlo"/>
              </a:rPr>
              <a:t>expected_output</a:t>
            </a:r>
            <a:r>
              <a:rPr sz="1300" dirty="0">
                <a:solidFill>
                  <a:srgbClr val="0F5A47"/>
                </a:solidFill>
                <a:latin typeface="Menlo"/>
              </a:rPr>
              <a:t>": "Paris" },</a:t>
            </a:r>
          </a:p>
          <a:p>
            <a:pPr>
              <a:spcAft>
                <a:spcPts val="0"/>
              </a:spcAft>
            </a:pPr>
            <a:r>
              <a:rPr sz="1300" dirty="0">
                <a:solidFill>
                  <a:srgbClr val="0F5A47"/>
                </a:solidFill>
                <a:latin typeface="Menlo"/>
              </a:rPr>
              <a:t>  { "input": "</a:t>
            </a:r>
            <a:r>
              <a:rPr sz="1300" dirty="0" err="1">
                <a:solidFill>
                  <a:srgbClr val="0F5A47"/>
                </a:solidFill>
                <a:latin typeface="Menlo"/>
              </a:rPr>
              <a:t>Summarise</a:t>
            </a:r>
            <a:r>
              <a:rPr sz="1300" dirty="0">
                <a:solidFill>
                  <a:srgbClr val="0F5A47"/>
                </a:solidFill>
                <a:latin typeface="Menlo"/>
              </a:rPr>
              <a:t> the GDPR in one sentence.", "</a:t>
            </a:r>
            <a:r>
              <a:rPr sz="1300" dirty="0" err="1">
                <a:solidFill>
                  <a:srgbClr val="0F5A47"/>
                </a:solidFill>
                <a:latin typeface="Menlo"/>
              </a:rPr>
              <a:t>expected_output</a:t>
            </a:r>
            <a:r>
              <a:rPr sz="1300" dirty="0">
                <a:solidFill>
                  <a:srgbClr val="0F5A47"/>
                </a:solidFill>
                <a:latin typeface="Menlo"/>
              </a:rPr>
              <a:t>": "..." }</a:t>
            </a:r>
          </a:p>
          <a:p>
            <a:pPr>
              <a:spcAft>
                <a:spcPts val="0"/>
              </a:spcAft>
            </a:pPr>
            <a:r>
              <a:rPr sz="1300" dirty="0">
                <a:solidFill>
                  <a:srgbClr val="0F5A47"/>
                </a:solidFill>
                <a:latin typeface="Menlo"/>
              </a:rPr>
              <a:t>]</a:t>
            </a:r>
          </a:p>
        </p:txBody>
      </p:sp>
      <p:pic>
        <p:nvPicPr>
          <p:cNvPr id="15" name="Picture 14">
            <a:extLst>
              <a:ext uri="{FF2B5EF4-FFF2-40B4-BE49-F238E27FC236}">
                <a16:creationId xmlns:a16="http://schemas.microsoft.com/office/drawing/2014/main" id="{83455CDB-D42A-A342-1A88-591870BB866F}"/>
              </a:ext>
            </a:extLst>
          </p:cNvPr>
          <p:cNvPicPr>
            <a:picLocks noChangeAspect="1"/>
          </p:cNvPicPr>
          <p:nvPr/>
        </p:nvPicPr>
        <p:blipFill>
          <a:blip r:embed="rId4"/>
          <a:stretch>
            <a:fillRect/>
          </a:stretch>
        </p:blipFill>
        <p:spPr>
          <a:xfrm>
            <a:off x="2535192" y="2438131"/>
            <a:ext cx="7187080" cy="326753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Demo — Step 3: Configure the judge</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926765"/>
            <a:ext cx="11094415" cy="402336"/>
          </a:xfrm>
          <a:prstGeom prst="rect">
            <a:avLst/>
          </a:prstGeom>
          <a:noFill/>
        </p:spPr>
        <p:txBody>
          <a:bodyPr wrap="square" lIns="45720" tIns="18288" rIns="45720" bIns="18288" anchor="t">
            <a:spAutoFit/>
          </a:bodyPr>
          <a:lstStyle/>
          <a:p>
            <a:pPr algn="l"/>
            <a:r>
              <a:rPr sz="1800" b="1">
                <a:solidFill>
                  <a:srgbClr val="1C2130"/>
                </a:solidFill>
                <a:latin typeface="Inter"/>
              </a:rPr>
              <a:t>What you're doing:</a:t>
            </a:r>
            <a:r>
              <a:rPr sz="1800">
                <a:solidFill>
                  <a:srgbClr val="1C2130"/>
                </a:solidFill>
                <a:latin typeface="Inter"/>
              </a:rPr>
              <a:t> Telling VerifyWise how to score each model response.</a:t>
            </a:r>
          </a:p>
        </p:txBody>
      </p:sp>
      <p:sp>
        <p:nvSpPr>
          <p:cNvPr id="8" name="TextBox 7"/>
          <p:cNvSpPr txBox="1"/>
          <p:nvPr/>
        </p:nvSpPr>
        <p:spPr>
          <a:xfrm>
            <a:off x="637530" y="1296831"/>
            <a:ext cx="11094415" cy="669927"/>
          </a:xfrm>
          <a:prstGeom prst="rect">
            <a:avLst/>
          </a:prstGeom>
          <a:noFill/>
        </p:spPr>
        <p:txBody>
          <a:bodyPr wrap="square" lIns="45720" tIns="18288">
            <a:spAutoFit/>
          </a:bodyPr>
          <a:lstStyle/>
          <a:p>
            <a:pPr>
              <a:spcAft>
                <a:spcPts val="400"/>
              </a:spcAft>
            </a:pPr>
            <a:r>
              <a:rPr sz="1800" dirty="0">
                <a:solidFill>
                  <a:srgbClr val="1C2130"/>
                </a:solidFill>
                <a:latin typeface="Inter"/>
              </a:rPr>
              <a:t>•  Choose the </a:t>
            </a:r>
            <a:r>
              <a:rPr sz="1800" b="1" dirty="0">
                <a:solidFill>
                  <a:srgbClr val="1C2130"/>
                </a:solidFill>
                <a:latin typeface="Inter"/>
              </a:rPr>
              <a:t>judge model</a:t>
            </a:r>
            <a:r>
              <a:rPr sz="1800" dirty="0">
                <a:solidFill>
                  <a:srgbClr val="1C2130"/>
                </a:solidFill>
                <a:latin typeface="Inter"/>
              </a:rPr>
              <a:t> — the LLM that scores responses</a:t>
            </a:r>
            <a:r>
              <a:rPr lang="en-US" sz="1800" dirty="0">
                <a:solidFill>
                  <a:srgbClr val="1C2130"/>
                </a:solidFill>
                <a:latin typeface="Inter"/>
              </a:rPr>
              <a:t>, </a:t>
            </a:r>
            <a:r>
              <a:rPr sz="1800" dirty="0">
                <a:solidFill>
                  <a:srgbClr val="1C2130"/>
                </a:solidFill>
                <a:latin typeface="Inter"/>
              </a:rPr>
              <a:t>(default: GPT-4o)</a:t>
            </a:r>
          </a:p>
          <a:p>
            <a:pPr>
              <a:spcAft>
                <a:spcPts val="400"/>
              </a:spcAft>
            </a:pPr>
            <a:r>
              <a:rPr sz="1800" dirty="0">
                <a:solidFill>
                  <a:srgbClr val="1C2130"/>
                </a:solidFill>
                <a:latin typeface="Inter"/>
              </a:rPr>
              <a:t>• </a:t>
            </a:r>
            <a:r>
              <a:rPr lang="en-US" sz="1800" dirty="0">
                <a:solidFill>
                  <a:srgbClr val="1C2130"/>
                </a:solidFill>
                <a:latin typeface="Inter"/>
              </a:rPr>
              <a:t> T</a:t>
            </a:r>
            <a:r>
              <a:rPr lang="en-US" dirty="0">
                <a:solidFill>
                  <a:srgbClr val="1C2130"/>
                </a:solidFill>
                <a:latin typeface="Inter"/>
              </a:rPr>
              <a:t>his model should be a larger, more intelligent model since it is responsible for evaluation.</a:t>
            </a:r>
            <a:endParaRPr sz="1700" dirty="0">
              <a:solidFill>
                <a:srgbClr val="0F5A47"/>
              </a:solidFill>
              <a:latin typeface="Menlo"/>
            </a:endParaRPr>
          </a:p>
        </p:txBody>
      </p:sp>
      <p:sp>
        <p:nvSpPr>
          <p:cNvPr id="9" name="Rounded Rectangle 8"/>
          <p:cNvSpPr/>
          <p:nvPr/>
        </p:nvSpPr>
        <p:spPr>
          <a:xfrm>
            <a:off x="408929" y="5733288"/>
            <a:ext cx="11094415" cy="896112"/>
          </a:xfrm>
          <a:prstGeom prst="roundRect">
            <a:avLst>
              <a:gd name="adj" fmla="val 6000"/>
            </a:avLst>
          </a:prstGeom>
          <a:solidFill>
            <a:srgbClr val="EAF4F0"/>
          </a:solidFill>
          <a:ln w="15875">
            <a:solidFill>
              <a:srgbClr val="1371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8656" y="5859272"/>
            <a:ext cx="10637215" cy="676656"/>
          </a:xfrm>
          <a:prstGeom prst="rect">
            <a:avLst/>
          </a:prstGeom>
          <a:noFill/>
        </p:spPr>
        <p:txBody>
          <a:bodyPr wrap="square" lIns="45720" tIns="18288" rIns="45720" bIns="18288" anchor="t">
            <a:spAutoFit/>
          </a:bodyPr>
          <a:lstStyle/>
          <a:p>
            <a:pPr algn="l"/>
            <a:r>
              <a:rPr sz="1600" dirty="0">
                <a:solidFill>
                  <a:srgbClr val="1C2130"/>
                </a:solidFill>
                <a:latin typeface="Inter"/>
              </a:rPr>
              <a:t>The judge reads each </a:t>
            </a:r>
            <a:r>
              <a:rPr sz="1500" dirty="0">
                <a:solidFill>
                  <a:srgbClr val="0F5A47"/>
                </a:solidFill>
                <a:latin typeface="Menlo"/>
              </a:rPr>
              <a:t>{question, </a:t>
            </a:r>
            <a:r>
              <a:rPr sz="1500" dirty="0" err="1">
                <a:solidFill>
                  <a:srgbClr val="0F5A47"/>
                </a:solidFill>
                <a:latin typeface="Menlo"/>
              </a:rPr>
              <a:t>model_answer</a:t>
            </a:r>
            <a:r>
              <a:rPr sz="1500" dirty="0">
                <a:solidFill>
                  <a:srgbClr val="0F5A47"/>
                </a:solidFill>
                <a:latin typeface="Menlo"/>
              </a:rPr>
              <a:t>, </a:t>
            </a:r>
            <a:r>
              <a:rPr sz="1500" dirty="0" err="1">
                <a:solidFill>
                  <a:srgbClr val="0F5A47"/>
                </a:solidFill>
                <a:latin typeface="Menlo"/>
              </a:rPr>
              <a:t>expected_answer</a:t>
            </a:r>
            <a:r>
              <a:rPr sz="1500" dirty="0">
                <a:solidFill>
                  <a:srgbClr val="0F5A47"/>
                </a:solidFill>
                <a:latin typeface="Menlo"/>
              </a:rPr>
              <a:t>}</a:t>
            </a:r>
            <a:r>
              <a:rPr sz="1600" dirty="0">
                <a:solidFill>
                  <a:srgbClr val="1C2130"/>
                </a:solidFill>
                <a:latin typeface="Inter"/>
              </a:rPr>
              <a:t> triple and scores each metric independently using a structured rubric — not a formula.</a:t>
            </a:r>
          </a:p>
        </p:txBody>
      </p:sp>
      <p:pic>
        <p:nvPicPr>
          <p:cNvPr id="12" name="Picture 11">
            <a:extLst>
              <a:ext uri="{FF2B5EF4-FFF2-40B4-BE49-F238E27FC236}">
                <a16:creationId xmlns:a16="http://schemas.microsoft.com/office/drawing/2014/main" id="{B72BF16A-ED80-7CE3-55F6-925B62599C6A}"/>
              </a:ext>
            </a:extLst>
          </p:cNvPr>
          <p:cNvPicPr>
            <a:picLocks noChangeAspect="1"/>
          </p:cNvPicPr>
          <p:nvPr/>
        </p:nvPicPr>
        <p:blipFill>
          <a:blip r:embed="rId4"/>
          <a:stretch>
            <a:fillRect/>
          </a:stretch>
        </p:blipFill>
        <p:spPr>
          <a:xfrm>
            <a:off x="2389184" y="2271321"/>
            <a:ext cx="7236158" cy="328984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Demo — Step 4: Run the evaluation</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959043"/>
            <a:ext cx="11094415" cy="731519"/>
          </a:xfrm>
          <a:prstGeom prst="rect">
            <a:avLst/>
          </a:prstGeom>
          <a:noFill/>
        </p:spPr>
        <p:txBody>
          <a:bodyPr wrap="square" lIns="45720" tIns="18288" rIns="45720" bIns="18288" anchor="t">
            <a:spAutoFit/>
          </a:bodyPr>
          <a:lstStyle/>
          <a:p>
            <a:pPr algn="l"/>
            <a:r>
              <a:rPr sz="1800" b="1">
                <a:solidFill>
                  <a:srgbClr val="1C2130"/>
                </a:solidFill>
                <a:latin typeface="Inter"/>
              </a:rPr>
              <a:t>What you're doing:</a:t>
            </a:r>
            <a:r>
              <a:rPr sz="1800">
                <a:solidFill>
                  <a:srgbClr val="1C2130"/>
                </a:solidFill>
                <a:latin typeface="Inter"/>
              </a:rPr>
              <a:t> VerifyWise sends each dataset row to the model, collects responses, then sends each response to the judge for scoring.</a:t>
            </a:r>
          </a:p>
        </p:txBody>
      </p:sp>
      <p:sp>
        <p:nvSpPr>
          <p:cNvPr id="8" name="TextBox 7"/>
          <p:cNvSpPr txBox="1"/>
          <p:nvPr/>
        </p:nvSpPr>
        <p:spPr>
          <a:xfrm>
            <a:off x="548640" y="1585670"/>
            <a:ext cx="11094415" cy="402336"/>
          </a:xfrm>
          <a:prstGeom prst="rect">
            <a:avLst/>
          </a:prstGeom>
          <a:noFill/>
        </p:spPr>
        <p:txBody>
          <a:bodyPr wrap="square" lIns="45720" tIns="18288" rIns="45720" bIns="18288" anchor="t">
            <a:spAutoFit/>
          </a:bodyPr>
          <a:lstStyle/>
          <a:p>
            <a:pPr algn="l"/>
            <a:r>
              <a:rPr sz="1800" b="1">
                <a:solidFill>
                  <a:srgbClr val="1C2130"/>
                </a:solidFill>
                <a:latin typeface="Inter"/>
              </a:rPr>
              <a:t>What happens under the hood:</a:t>
            </a:r>
          </a:p>
        </p:txBody>
      </p:sp>
      <p:sp>
        <p:nvSpPr>
          <p:cNvPr id="9" name="TextBox 8"/>
          <p:cNvSpPr txBox="1"/>
          <p:nvPr/>
        </p:nvSpPr>
        <p:spPr>
          <a:xfrm>
            <a:off x="548640" y="1861605"/>
            <a:ext cx="11094415" cy="2029968"/>
          </a:xfrm>
          <a:prstGeom prst="rect">
            <a:avLst/>
          </a:prstGeom>
          <a:noFill/>
        </p:spPr>
        <p:txBody>
          <a:bodyPr wrap="square" lIns="45720">
            <a:spAutoFit/>
          </a:bodyPr>
          <a:lstStyle/>
          <a:p>
            <a:pPr>
              <a:spcAft>
                <a:spcPts val="400"/>
              </a:spcAft>
            </a:pPr>
            <a:r>
              <a:rPr sz="1800" dirty="0">
                <a:solidFill>
                  <a:srgbClr val="1C2130"/>
                </a:solidFill>
                <a:latin typeface="Inter"/>
              </a:rPr>
              <a:t>1.  For each row in the dataset, the model generates a response</a:t>
            </a:r>
          </a:p>
          <a:p>
            <a:pPr>
              <a:spcAft>
                <a:spcPts val="400"/>
              </a:spcAft>
            </a:pPr>
            <a:r>
              <a:rPr sz="1800" dirty="0">
                <a:solidFill>
                  <a:srgbClr val="1C2130"/>
                </a:solidFill>
                <a:latin typeface="Inter"/>
              </a:rPr>
              <a:t>2.  The judge model receives: </a:t>
            </a:r>
            <a:r>
              <a:rPr sz="1700" dirty="0">
                <a:solidFill>
                  <a:srgbClr val="0F5A47"/>
                </a:solidFill>
                <a:latin typeface="Menlo"/>
              </a:rPr>
              <a:t>question + </a:t>
            </a:r>
            <a:r>
              <a:rPr sz="1700" dirty="0" err="1">
                <a:solidFill>
                  <a:srgbClr val="0F5A47"/>
                </a:solidFill>
                <a:latin typeface="Menlo"/>
              </a:rPr>
              <a:t>model_response</a:t>
            </a:r>
            <a:r>
              <a:rPr sz="1700" dirty="0">
                <a:solidFill>
                  <a:srgbClr val="0F5A47"/>
                </a:solidFill>
                <a:latin typeface="Menlo"/>
              </a:rPr>
              <a:t> + </a:t>
            </a:r>
            <a:r>
              <a:rPr sz="1700" dirty="0" err="1">
                <a:solidFill>
                  <a:srgbClr val="0F5A47"/>
                </a:solidFill>
                <a:latin typeface="Menlo"/>
              </a:rPr>
              <a:t>expected_output</a:t>
            </a:r>
            <a:r>
              <a:rPr sz="1700" dirty="0">
                <a:solidFill>
                  <a:srgbClr val="0F5A47"/>
                </a:solidFill>
                <a:latin typeface="Menlo"/>
              </a:rPr>
              <a:t> (if present)</a:t>
            </a:r>
          </a:p>
          <a:p>
            <a:pPr>
              <a:spcAft>
                <a:spcPts val="400"/>
              </a:spcAft>
            </a:pPr>
            <a:r>
              <a:rPr sz="1800" dirty="0">
                <a:solidFill>
                  <a:srgbClr val="1C2130"/>
                </a:solidFill>
                <a:latin typeface="Inter"/>
              </a:rPr>
              <a:t>3.  The judge scores each metric on a 0–1 scale with a chain-of-thought explanation</a:t>
            </a:r>
          </a:p>
          <a:p>
            <a:pPr>
              <a:spcAft>
                <a:spcPts val="400"/>
              </a:spcAft>
            </a:pPr>
            <a:r>
              <a:rPr sz="1800" dirty="0">
                <a:solidFill>
                  <a:srgbClr val="1C2130"/>
                </a:solidFill>
                <a:latin typeface="Inter"/>
              </a:rPr>
              <a:t>4.  Scores are aggregated per metric across all rows</a:t>
            </a:r>
          </a:p>
          <a:p>
            <a:pPr>
              <a:spcAft>
                <a:spcPts val="400"/>
              </a:spcAft>
            </a:pPr>
            <a:r>
              <a:rPr sz="1800" dirty="0">
                <a:solidFill>
                  <a:srgbClr val="1C2130"/>
                </a:solidFill>
                <a:latin typeface="Inter"/>
              </a:rPr>
              <a:t>5.  Each metric is compared to the threshold → pass or fail</a:t>
            </a:r>
          </a:p>
        </p:txBody>
      </p:sp>
      <p:pic>
        <p:nvPicPr>
          <p:cNvPr id="17" name="Picture 16">
            <a:extLst>
              <a:ext uri="{FF2B5EF4-FFF2-40B4-BE49-F238E27FC236}">
                <a16:creationId xmlns:a16="http://schemas.microsoft.com/office/drawing/2014/main" id="{B3BCA14A-A542-90B1-96AD-A88CB0208150}"/>
              </a:ext>
            </a:extLst>
          </p:cNvPr>
          <p:cNvPicPr>
            <a:picLocks noChangeAspect="1"/>
          </p:cNvPicPr>
          <p:nvPr/>
        </p:nvPicPr>
        <p:blipFill>
          <a:blip r:embed="rId4"/>
          <a:stretch>
            <a:fillRect/>
          </a:stretch>
        </p:blipFill>
        <p:spPr>
          <a:xfrm>
            <a:off x="2568016" y="3539509"/>
            <a:ext cx="7055967" cy="320792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93FFE34-16FF-0F4C-215D-6A57FA92FD7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62A4E7C-C3C1-13C7-68AD-5EE3D626DECB}"/>
              </a:ext>
            </a:extLst>
          </p:cNvPr>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a:extLst>
              <a:ext uri="{FF2B5EF4-FFF2-40B4-BE49-F238E27FC236}">
                <a16:creationId xmlns:a16="http://schemas.microsoft.com/office/drawing/2014/main" id="{06E6BB55-CC83-0147-3C6D-028AB0B5997A}"/>
              </a:ext>
            </a:extLst>
          </p:cNvPr>
          <p:cNvPicPr>
            <a:picLocks noChangeAspect="1"/>
          </p:cNvPicPr>
          <p:nvPr/>
        </p:nvPicPr>
        <p:blipFill>
          <a:blip r:embed="rId3"/>
          <a:stretch>
            <a:fillRect/>
          </a:stretch>
        </p:blipFill>
        <p:spPr>
          <a:xfrm>
            <a:off x="11406666" y="0"/>
            <a:ext cx="693589" cy="128016"/>
          </a:xfrm>
          <a:noFill/>
        </p:spPr>
      </p:pic>
      <p:sp>
        <p:nvSpPr>
          <p:cNvPr id="4" name="TextBox 3">
            <a:extLst>
              <a:ext uri="{FF2B5EF4-FFF2-40B4-BE49-F238E27FC236}">
                <a16:creationId xmlns:a16="http://schemas.microsoft.com/office/drawing/2014/main" id="{6B4C4052-8892-E570-EF12-084CCD00715C}"/>
              </a:ext>
            </a:extLst>
          </p:cNvPr>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Demo — Step 4: Run the evaluation</a:t>
            </a:r>
          </a:p>
        </p:txBody>
      </p:sp>
      <p:sp>
        <p:nvSpPr>
          <p:cNvPr id="5" name="Rectangle 4">
            <a:extLst>
              <a:ext uri="{FF2B5EF4-FFF2-40B4-BE49-F238E27FC236}">
                <a16:creationId xmlns:a16="http://schemas.microsoft.com/office/drawing/2014/main" id="{87D122F1-5D20-D85C-0B33-9726A61D35C1}"/>
              </a:ext>
            </a:extLst>
          </p:cNvPr>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a:extLst>
              <a:ext uri="{FF2B5EF4-FFF2-40B4-BE49-F238E27FC236}">
                <a16:creationId xmlns:a16="http://schemas.microsoft.com/office/drawing/2014/main" id="{20CC27E2-3155-8D86-073A-45271E04155B}"/>
              </a:ext>
            </a:extLst>
          </p:cNvPr>
          <p:cNvSpPr/>
          <p:nvPr/>
        </p:nvSpPr>
        <p:spPr>
          <a:xfrm>
            <a:off x="548639" y="1120947"/>
            <a:ext cx="11094415" cy="896112"/>
          </a:xfrm>
          <a:prstGeom prst="roundRect">
            <a:avLst>
              <a:gd name="adj" fmla="val 6000"/>
            </a:avLst>
          </a:prstGeom>
          <a:solidFill>
            <a:srgbClr val="EAF4F0"/>
          </a:solidFill>
          <a:ln w="15875">
            <a:solidFill>
              <a:srgbClr val="1371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B06A4FD6-595B-758D-529D-720C4AE7F72D}"/>
              </a:ext>
            </a:extLst>
          </p:cNvPr>
          <p:cNvSpPr txBox="1"/>
          <p:nvPr/>
        </p:nvSpPr>
        <p:spPr>
          <a:xfrm>
            <a:off x="691179" y="1294144"/>
            <a:ext cx="10637215" cy="283154"/>
          </a:xfrm>
          <a:prstGeom prst="rect">
            <a:avLst/>
          </a:prstGeom>
          <a:noFill/>
        </p:spPr>
        <p:txBody>
          <a:bodyPr wrap="square" lIns="45720" tIns="18288" rIns="45720" bIns="18288" anchor="t">
            <a:spAutoFit/>
          </a:bodyPr>
          <a:lstStyle/>
          <a:p>
            <a:pPr algn="l"/>
            <a:r>
              <a:rPr lang="en-US" sz="1600" dirty="0">
                <a:solidFill>
                  <a:srgbClr val="1C2130"/>
                </a:solidFill>
                <a:latin typeface="Inter"/>
              </a:rPr>
              <a:t>The exact outputs and the evaluation metrics with the judge’s reasoning are displayed for each sample.</a:t>
            </a:r>
            <a:endParaRPr sz="1600" dirty="0">
              <a:solidFill>
                <a:srgbClr val="1C2130"/>
              </a:solidFill>
              <a:latin typeface="Inter"/>
            </a:endParaRPr>
          </a:p>
        </p:txBody>
      </p:sp>
      <p:pic>
        <p:nvPicPr>
          <p:cNvPr id="14" name="Picture 13">
            <a:extLst>
              <a:ext uri="{FF2B5EF4-FFF2-40B4-BE49-F238E27FC236}">
                <a16:creationId xmlns:a16="http://schemas.microsoft.com/office/drawing/2014/main" id="{D869A26D-ADC7-E32C-6117-6DF4F7C41274}"/>
              </a:ext>
            </a:extLst>
          </p:cNvPr>
          <p:cNvPicPr>
            <a:picLocks noChangeAspect="1"/>
          </p:cNvPicPr>
          <p:nvPr/>
        </p:nvPicPr>
        <p:blipFill>
          <a:blip r:embed="rId4"/>
          <a:stretch>
            <a:fillRect/>
          </a:stretch>
        </p:blipFill>
        <p:spPr>
          <a:xfrm>
            <a:off x="1157874" y="2139400"/>
            <a:ext cx="9875943" cy="4490000"/>
          </a:xfrm>
          <a:prstGeom prst="rect">
            <a:avLst/>
          </a:prstGeom>
        </p:spPr>
      </p:pic>
    </p:spTree>
    <p:extLst>
      <p:ext uri="{BB962C8B-B14F-4D97-AF65-F5344CB8AC3E}">
        <p14:creationId xmlns:p14="http://schemas.microsoft.com/office/powerpoint/2010/main" val="17092987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Demo — Step 5: Reading the results</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518442"/>
            <a:ext cx="11094415" cy="402336"/>
          </a:xfrm>
          <a:prstGeom prst="rect">
            <a:avLst/>
          </a:prstGeom>
          <a:noFill/>
        </p:spPr>
        <p:txBody>
          <a:bodyPr wrap="square" lIns="45720" tIns="18288" rIns="45720" bIns="18288" anchor="t">
            <a:spAutoFit/>
          </a:bodyPr>
          <a:lstStyle/>
          <a:p>
            <a:pPr algn="l"/>
            <a:r>
              <a:rPr sz="1800" b="1">
                <a:solidFill>
                  <a:srgbClr val="1C2130"/>
                </a:solidFill>
                <a:latin typeface="Inter"/>
              </a:rPr>
              <a:t>What each number means:</a:t>
            </a:r>
          </a:p>
        </p:txBody>
      </p:sp>
      <p:graphicFrame>
        <p:nvGraphicFramePr>
          <p:cNvPr id="8" name="Table 7"/>
          <p:cNvGraphicFramePr>
            <a:graphicFrameLocks noGrp="1"/>
          </p:cNvGraphicFramePr>
          <p:nvPr>
            <p:extLst>
              <p:ext uri="{D42A27DB-BD31-4B8C-83A1-F6EECF244321}">
                <p14:modId xmlns:p14="http://schemas.microsoft.com/office/powerpoint/2010/main" val="3650181475"/>
              </p:ext>
            </p:extLst>
          </p:nvPr>
        </p:nvGraphicFramePr>
        <p:xfrm>
          <a:off x="548640" y="2009528"/>
          <a:ext cx="11094415" cy="1956815"/>
        </p:xfrm>
        <a:graphic>
          <a:graphicData uri="http://schemas.openxmlformats.org/drawingml/2006/table">
            <a:tbl>
              <a:tblPr firstRow="1" bandRow="1">
                <a:tableStyleId>{5C22544A-7EE6-4342-B048-85BDC9FD1C3A}</a:tableStyleId>
              </a:tblPr>
              <a:tblGrid>
                <a:gridCol w="3550212">
                  <a:extLst>
                    <a:ext uri="{9D8B030D-6E8A-4147-A177-3AD203B41FA5}">
                      <a16:colId xmlns:a16="http://schemas.microsoft.com/office/drawing/2014/main" val="20000"/>
                    </a:ext>
                  </a:extLst>
                </a:gridCol>
                <a:gridCol w="7544203">
                  <a:extLst>
                    <a:ext uri="{9D8B030D-6E8A-4147-A177-3AD203B41FA5}">
                      <a16:colId xmlns:a16="http://schemas.microsoft.com/office/drawing/2014/main" val="20001"/>
                    </a:ext>
                  </a:extLst>
                </a:gridCol>
              </a:tblGrid>
              <a:tr h="391363">
                <a:tc>
                  <a:txBody>
                    <a:bodyPr/>
                    <a:lstStyle/>
                    <a:p>
                      <a:r>
                        <a:rPr sz="1600" b="1">
                          <a:solidFill>
                            <a:srgbClr val="FFFFFF"/>
                          </a:solidFill>
                          <a:latin typeface="Inter"/>
                        </a:rPr>
                        <a:t>Result element</a:t>
                      </a:r>
                    </a:p>
                  </a:txBody>
                  <a:tcPr marT="54864" marB="54864" anchor="ctr">
                    <a:solidFill>
                      <a:srgbClr val="13715B"/>
                    </a:solidFill>
                  </a:tcPr>
                </a:tc>
                <a:tc>
                  <a:txBody>
                    <a:bodyPr/>
                    <a:lstStyle/>
                    <a:p>
                      <a:r>
                        <a:rPr sz="1600" b="1">
                          <a:solidFill>
                            <a:srgbClr val="FFFFFF"/>
                          </a:solidFill>
                          <a:latin typeface="Inter"/>
                        </a:rPr>
                        <a:t>What it tells you</a:t>
                      </a:r>
                    </a:p>
                  </a:txBody>
                  <a:tcPr marT="54864" marB="54864" anchor="ctr">
                    <a:solidFill>
                      <a:srgbClr val="13715B"/>
                    </a:solidFill>
                  </a:tcPr>
                </a:tc>
                <a:extLst>
                  <a:ext uri="{0D108BD9-81ED-4DB2-BD59-A6C34878D82A}">
                    <a16:rowId xmlns:a16="http://schemas.microsoft.com/office/drawing/2014/main" val="10000"/>
                  </a:ext>
                </a:extLst>
              </a:tr>
              <a:tr h="391363">
                <a:tc>
                  <a:txBody>
                    <a:bodyPr/>
                    <a:lstStyle/>
                    <a:p>
                      <a:r>
                        <a:rPr sz="1600">
                          <a:solidFill>
                            <a:srgbClr val="1C2130"/>
                          </a:solidFill>
                          <a:latin typeface="Inter"/>
                        </a:rPr>
                        <a:t>Overall: PASS / FAIL</a:t>
                      </a:r>
                    </a:p>
                  </a:txBody>
                  <a:tcPr marT="54864" marB="54864" anchor="ctr">
                    <a:solidFill>
                      <a:srgbClr val="FFFFFF"/>
                    </a:solidFill>
                  </a:tcPr>
                </a:tc>
                <a:tc>
                  <a:txBody>
                    <a:bodyPr/>
                    <a:lstStyle/>
                    <a:p>
                      <a:r>
                        <a:rPr sz="1600">
                          <a:solidFill>
                            <a:srgbClr val="1C2130"/>
                          </a:solidFill>
                          <a:latin typeface="Inter"/>
                        </a:rPr>
                        <a:t>Did every metric meet the threshold?</a:t>
                      </a:r>
                    </a:p>
                  </a:txBody>
                  <a:tcPr marT="54864" marB="54864" anchor="ctr">
                    <a:solidFill>
                      <a:srgbClr val="FFFFFF"/>
                    </a:solidFill>
                  </a:tcPr>
                </a:tc>
                <a:extLst>
                  <a:ext uri="{0D108BD9-81ED-4DB2-BD59-A6C34878D82A}">
                    <a16:rowId xmlns:a16="http://schemas.microsoft.com/office/drawing/2014/main" val="10001"/>
                  </a:ext>
                </a:extLst>
              </a:tr>
              <a:tr h="391363">
                <a:tc>
                  <a:txBody>
                    <a:bodyPr/>
                    <a:lstStyle/>
                    <a:p>
                      <a:r>
                        <a:rPr sz="1600">
                          <a:solidFill>
                            <a:srgbClr val="1C2130"/>
                          </a:solidFill>
                          <a:latin typeface="Inter"/>
                        </a:rPr>
                        <a:t>Per-metric score (e.g. correctness: 0.84)</a:t>
                      </a:r>
                    </a:p>
                  </a:txBody>
                  <a:tcPr marT="54864" marB="54864" anchor="ctr">
                    <a:solidFill>
                      <a:srgbClr val="FFFFFF"/>
                    </a:solidFill>
                  </a:tcPr>
                </a:tc>
                <a:tc>
                  <a:txBody>
                    <a:bodyPr/>
                    <a:lstStyle/>
                    <a:p>
                      <a:r>
                        <a:rPr sz="1600">
                          <a:solidFill>
                            <a:srgbClr val="1C2130"/>
                          </a:solidFill>
                          <a:latin typeface="Inter"/>
                        </a:rPr>
                        <a:t>Average judge score for that dimension across all rows</a:t>
                      </a:r>
                    </a:p>
                  </a:txBody>
                  <a:tcPr marT="54864" marB="54864" anchor="ctr">
                    <a:solidFill>
                      <a:srgbClr val="FFFFFF"/>
                    </a:solidFill>
                  </a:tcPr>
                </a:tc>
                <a:extLst>
                  <a:ext uri="{0D108BD9-81ED-4DB2-BD59-A6C34878D82A}">
                    <a16:rowId xmlns:a16="http://schemas.microsoft.com/office/drawing/2014/main" val="10002"/>
                  </a:ext>
                </a:extLst>
              </a:tr>
              <a:tr h="391363">
                <a:tc>
                  <a:txBody>
                    <a:bodyPr/>
                    <a:lstStyle/>
                    <a:p>
                      <a:r>
                        <a:rPr sz="1600">
                          <a:solidFill>
                            <a:srgbClr val="1C2130"/>
                          </a:solidFill>
                          <a:latin typeface="Inter"/>
                        </a:rPr>
                        <a:t>Per-row breakdown</a:t>
                      </a:r>
                    </a:p>
                  </a:txBody>
                  <a:tcPr marT="54864" marB="54864" anchor="ctr">
                    <a:solidFill>
                      <a:srgbClr val="FFFFFF"/>
                    </a:solidFill>
                  </a:tcPr>
                </a:tc>
                <a:tc>
                  <a:txBody>
                    <a:bodyPr/>
                    <a:lstStyle/>
                    <a:p>
                      <a:r>
                        <a:rPr sz="1600">
                          <a:solidFill>
                            <a:srgbClr val="1C2130"/>
                          </a:solidFill>
                          <a:latin typeface="Inter"/>
                        </a:rPr>
                        <a:t>Which specific questions the model struggled with</a:t>
                      </a:r>
                    </a:p>
                  </a:txBody>
                  <a:tcPr marT="54864" marB="54864" anchor="ctr">
                    <a:solidFill>
                      <a:srgbClr val="FFFFFF"/>
                    </a:solidFill>
                  </a:tcPr>
                </a:tc>
                <a:extLst>
                  <a:ext uri="{0D108BD9-81ED-4DB2-BD59-A6C34878D82A}">
                    <a16:rowId xmlns:a16="http://schemas.microsoft.com/office/drawing/2014/main" val="10003"/>
                  </a:ext>
                </a:extLst>
              </a:tr>
              <a:tr h="391363">
                <a:tc>
                  <a:txBody>
                    <a:bodyPr/>
                    <a:lstStyle/>
                    <a:p>
                      <a:r>
                        <a:rPr sz="1600" dirty="0">
                          <a:solidFill>
                            <a:srgbClr val="1C2130"/>
                          </a:solidFill>
                          <a:latin typeface="Inter"/>
                        </a:rPr>
                        <a:t>Judge reasoning</a:t>
                      </a:r>
                    </a:p>
                  </a:txBody>
                  <a:tcPr marT="54864" marB="54864" anchor="ctr">
                    <a:solidFill>
                      <a:srgbClr val="FFFFFF"/>
                    </a:solidFill>
                  </a:tcPr>
                </a:tc>
                <a:tc>
                  <a:txBody>
                    <a:bodyPr/>
                    <a:lstStyle/>
                    <a:p>
                      <a:r>
                        <a:rPr sz="1600" dirty="0">
                          <a:solidFill>
                            <a:srgbClr val="1C2130"/>
                          </a:solidFill>
                          <a:latin typeface="Inter"/>
                        </a:rPr>
                        <a:t>Why the judge gave that score — the chain-of-thought explanation</a:t>
                      </a:r>
                    </a:p>
                  </a:txBody>
                  <a:tcPr marT="54864" marB="54864" anchor="ctr">
                    <a:solidFill>
                      <a:srgbClr val="FFFFFF"/>
                    </a:solidFill>
                  </a:tcPr>
                </a:tc>
                <a:extLst>
                  <a:ext uri="{0D108BD9-81ED-4DB2-BD59-A6C34878D82A}">
                    <a16:rowId xmlns:a16="http://schemas.microsoft.com/office/drawing/2014/main" val="10004"/>
                  </a:ext>
                </a:extLst>
              </a:tr>
            </a:tbl>
          </a:graphicData>
        </a:graphic>
      </p:graphicFrame>
      <p:sp>
        <p:nvSpPr>
          <p:cNvPr id="9" name="Rounded Rectangle 8"/>
          <p:cNvSpPr/>
          <p:nvPr/>
        </p:nvSpPr>
        <p:spPr>
          <a:xfrm>
            <a:off x="548639" y="4808128"/>
            <a:ext cx="11094415" cy="1207008"/>
          </a:xfrm>
          <a:prstGeom prst="roundRect">
            <a:avLst>
              <a:gd name="adj" fmla="val 6000"/>
            </a:avLst>
          </a:prstGeom>
          <a:solidFill>
            <a:srgbClr val="EAF4F0"/>
          </a:solidFill>
          <a:ln w="15875">
            <a:solidFill>
              <a:srgbClr val="1371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9451" y="5091592"/>
            <a:ext cx="10637215" cy="987552"/>
          </a:xfrm>
          <a:prstGeom prst="rect">
            <a:avLst/>
          </a:prstGeom>
          <a:noFill/>
        </p:spPr>
        <p:txBody>
          <a:bodyPr wrap="square" lIns="45720" tIns="18288" rIns="45720" bIns="18288" anchor="t">
            <a:spAutoFit/>
          </a:bodyPr>
          <a:lstStyle/>
          <a:p>
            <a:pPr algn="l"/>
            <a:r>
              <a:rPr sz="1600" dirty="0">
                <a:solidFill>
                  <a:srgbClr val="1C2130"/>
                </a:solidFill>
                <a:latin typeface="Inter"/>
              </a:rPr>
              <a:t>A score of 0.84 on correctness means: across your dataset, the judge rated the model's answers as 84% correct on average. Drill into the per-row view to see exactly which questions failed and why.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Model arena — side-by-side comparison</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005840"/>
            <a:ext cx="11094415" cy="731519"/>
          </a:xfrm>
          <a:prstGeom prst="rect">
            <a:avLst/>
          </a:prstGeom>
          <a:noFill/>
        </p:spPr>
        <p:txBody>
          <a:bodyPr wrap="square" lIns="45720" tIns="18288" rIns="45720" bIns="18288" anchor="t">
            <a:spAutoFit/>
          </a:bodyPr>
          <a:lstStyle/>
          <a:p>
            <a:pPr algn="l"/>
            <a:r>
              <a:rPr sz="1800">
                <a:solidFill>
                  <a:srgbClr val="1C2130"/>
                </a:solidFill>
                <a:latin typeface="Inter"/>
              </a:rPr>
              <a:t>Arena runs the same dataset against </a:t>
            </a:r>
            <a:r>
              <a:rPr sz="1800" b="1">
                <a:solidFill>
                  <a:srgbClr val="1C2130"/>
                </a:solidFill>
                <a:latin typeface="Inter"/>
              </a:rPr>
              <a:t>multiple model configurations simultaneously</a:t>
            </a:r>
            <a:r>
              <a:rPr sz="1800">
                <a:solidFill>
                  <a:srgbClr val="1C2130"/>
                </a:solidFill>
                <a:latin typeface="Inter"/>
              </a:rPr>
              <a:t> and uses a judge model to produce a head-to-head ranking.</a:t>
            </a:r>
          </a:p>
        </p:txBody>
      </p:sp>
      <p:sp>
        <p:nvSpPr>
          <p:cNvPr id="7" name="Rectangle 6"/>
          <p:cNvSpPr/>
          <p:nvPr/>
        </p:nvSpPr>
        <p:spPr>
          <a:xfrm>
            <a:off x="548640" y="1783079"/>
            <a:ext cx="11094415" cy="2578608"/>
          </a:xfrm>
          <a:prstGeom prst="rect">
            <a:avLst/>
          </a:prstGeom>
          <a:solidFill>
            <a:srgbClr val="F0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874519"/>
            <a:ext cx="10820095" cy="2395728"/>
          </a:xfrm>
          <a:prstGeom prst="rect">
            <a:avLst/>
          </a:prstGeom>
          <a:noFill/>
        </p:spPr>
        <p:txBody>
          <a:bodyPr wrap="square">
            <a:spAutoFit/>
          </a:bodyPr>
          <a:lstStyle/>
          <a:p>
            <a:pPr>
              <a:spcAft>
                <a:spcPts val="0"/>
              </a:spcAft>
            </a:pPr>
            <a:r>
              <a:rPr sz="1300">
                <a:solidFill>
                  <a:srgbClr val="0F5A47"/>
                </a:solidFill>
                <a:latin typeface="Menlo"/>
              </a:rPr>
              <a:t>results = client.arena.compare_and_wait(</a:t>
            </a:r>
          </a:p>
          <a:p>
            <a:pPr>
              <a:spcAft>
                <a:spcPts val="0"/>
              </a:spcAft>
            </a:pPr>
            <a:r>
              <a:rPr sz="1300">
                <a:solidFill>
                  <a:srgbClr val="0F5A47"/>
                </a:solidFill>
                <a:latin typeface="Menlo"/>
              </a:rPr>
              <a:t>    contestants=[</a:t>
            </a:r>
          </a:p>
          <a:p>
            <a:pPr>
              <a:spcAft>
                <a:spcPts val="0"/>
              </a:spcAft>
            </a:pPr>
            <a:r>
              <a:rPr sz="1300">
                <a:solidFill>
                  <a:srgbClr val="0F5A47"/>
                </a:solidFill>
                <a:latin typeface="Menlo"/>
              </a:rPr>
              <a:t>        {"name": "GPT-4o-mini",  "hyperparameters": {"provider": "openai",     "model": "gpt-4o-mini"}},</a:t>
            </a:r>
          </a:p>
          <a:p>
            <a:pPr>
              <a:spcAft>
                <a:spcPts val="0"/>
              </a:spcAft>
            </a:pPr>
            <a:r>
              <a:rPr sz="1300">
                <a:solidFill>
                  <a:srgbClr val="0F5A47"/>
                </a:solidFill>
                <a:latin typeface="Menlo"/>
              </a:rPr>
              <a:t>        {"name": "Claude Haiku", "hyperparameters": {"provider": "anthropic", "model": "claude-3-5-haiku-20241022"}},</a:t>
            </a:r>
          </a:p>
          <a:p>
            <a:pPr>
              <a:spcAft>
                <a:spcPts val="0"/>
              </a:spcAft>
            </a:pPr>
            <a:r>
              <a:rPr sz="1300">
                <a:solidFill>
                  <a:srgbClr val="0F5A47"/>
                </a:solidFill>
                <a:latin typeface="Menlo"/>
              </a:rPr>
              <a:t>    ],</a:t>
            </a:r>
          </a:p>
          <a:p>
            <a:pPr>
              <a:spcAft>
                <a:spcPts val="0"/>
              </a:spcAft>
            </a:pPr>
            <a:r>
              <a:rPr sz="1300">
                <a:solidFill>
                  <a:srgbClr val="0F5A47"/>
                </a:solidFill>
                <a:latin typeface="Menlo"/>
              </a:rPr>
              <a:t>    dataset_id="2",</a:t>
            </a:r>
          </a:p>
          <a:p>
            <a:pPr>
              <a:spcAft>
                <a:spcPts val="0"/>
              </a:spcAft>
            </a:pPr>
            <a:r>
              <a:rPr sz="1300">
                <a:solidFill>
                  <a:srgbClr val="0F5A47"/>
                </a:solidFill>
                <a:latin typeface="Menlo"/>
              </a:rPr>
              <a:t>    judge_model="gpt-4o",</a:t>
            </a:r>
          </a:p>
          <a:p>
            <a:pPr>
              <a:spcAft>
                <a:spcPts val="0"/>
              </a:spcAft>
            </a:pPr>
            <a:r>
              <a:rPr sz="1300">
                <a:solidFill>
                  <a:srgbClr val="0F5A47"/>
                </a:solidFill>
                <a:latin typeface="Menlo"/>
              </a:rPr>
              <a:t>    timeout_minutes=15,</a:t>
            </a:r>
          </a:p>
          <a:p>
            <a:pPr>
              <a:spcAft>
                <a:spcPts val="0"/>
              </a:spcAft>
            </a:pPr>
            <a:r>
              <a:rPr sz="1300">
                <a:solidFill>
                  <a:srgbClr val="0F5A47"/>
                </a:solidFill>
                <a:latin typeface="Menlo"/>
              </a:rPr>
              <a:t>)</a:t>
            </a:r>
          </a:p>
        </p:txBody>
      </p:sp>
      <p:sp>
        <p:nvSpPr>
          <p:cNvPr id="9" name="TextBox 8"/>
          <p:cNvSpPr txBox="1"/>
          <p:nvPr/>
        </p:nvSpPr>
        <p:spPr>
          <a:xfrm>
            <a:off x="548640" y="4453127"/>
            <a:ext cx="11094415" cy="731519"/>
          </a:xfrm>
          <a:prstGeom prst="rect">
            <a:avLst/>
          </a:prstGeom>
          <a:noFill/>
        </p:spPr>
        <p:txBody>
          <a:bodyPr wrap="square" lIns="45720" tIns="18288" rIns="45720" bIns="18288" anchor="t">
            <a:spAutoFit/>
          </a:bodyPr>
          <a:lstStyle/>
          <a:p>
            <a:pPr algn="l"/>
            <a:r>
              <a:rPr sz="1800">
                <a:solidFill>
                  <a:srgbClr val="1C2130"/>
                </a:solidFill>
                <a:latin typeface="Inter"/>
              </a:rPr>
              <a:t>Use arena when: selecting a model for a new feature · validating a fine-tuned model against its base · benchmarking after a provider update.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CI/CD integration — Python SDK</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005840"/>
            <a:ext cx="11094415" cy="731519"/>
          </a:xfrm>
          <a:prstGeom prst="rect">
            <a:avLst/>
          </a:prstGeom>
          <a:noFill/>
        </p:spPr>
        <p:txBody>
          <a:bodyPr wrap="square" lIns="45720" tIns="18288" rIns="45720" bIns="18288" anchor="t">
            <a:spAutoFit/>
          </a:bodyPr>
          <a:lstStyle/>
          <a:p>
            <a:pPr algn="l"/>
            <a:r>
              <a:rPr sz="1800">
                <a:solidFill>
                  <a:srgbClr val="1C2130"/>
                </a:solidFill>
                <a:latin typeface="Inter"/>
              </a:rPr>
              <a:t>Gate deployments automatically: if evals fail, the pipeline exits non-zero and the deploy is blocked.</a:t>
            </a:r>
          </a:p>
        </p:txBody>
      </p:sp>
      <p:sp>
        <p:nvSpPr>
          <p:cNvPr id="7" name="Rectangle 6"/>
          <p:cNvSpPr/>
          <p:nvPr/>
        </p:nvSpPr>
        <p:spPr>
          <a:xfrm>
            <a:off x="548640" y="1783079"/>
            <a:ext cx="11094415" cy="4626864"/>
          </a:xfrm>
          <a:prstGeom prst="rect">
            <a:avLst/>
          </a:prstGeom>
          <a:solidFill>
            <a:srgbClr val="F0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874519"/>
            <a:ext cx="10820095" cy="4443984"/>
          </a:xfrm>
          <a:prstGeom prst="rect">
            <a:avLst/>
          </a:prstGeom>
          <a:noFill/>
        </p:spPr>
        <p:txBody>
          <a:bodyPr wrap="square">
            <a:spAutoFit/>
          </a:bodyPr>
          <a:lstStyle/>
          <a:p>
            <a:pPr>
              <a:spcAft>
                <a:spcPts val="0"/>
              </a:spcAft>
            </a:pPr>
            <a:r>
              <a:rPr sz="1300">
                <a:solidFill>
                  <a:srgbClr val="0F5A47"/>
                </a:solidFill>
                <a:latin typeface="Menlo"/>
              </a:rPr>
              <a:t>import sys</a:t>
            </a:r>
          </a:p>
          <a:p>
            <a:pPr>
              <a:spcAft>
                <a:spcPts val="0"/>
              </a:spcAft>
            </a:pPr>
            <a:r>
              <a:rPr sz="1300">
                <a:solidFill>
                  <a:srgbClr val="0F5A47"/>
                </a:solidFill>
                <a:latin typeface="Menlo"/>
              </a:rPr>
              <a:t>from verifywise import VerifyWiseClient</a:t>
            </a:r>
          </a:p>
          <a:p>
            <a:pPr>
              <a:spcAft>
                <a:spcPts val="0"/>
              </a:spcAft>
            </a:pPr>
            <a:endParaRPr sz="1300">
              <a:solidFill>
                <a:srgbClr val="0F5A47"/>
              </a:solidFill>
              <a:latin typeface="Menlo"/>
            </a:endParaRPr>
          </a:p>
          <a:p>
            <a:pPr>
              <a:spcAft>
                <a:spcPts val="0"/>
              </a:spcAft>
            </a:pPr>
            <a:r>
              <a:rPr sz="1300">
                <a:solidFill>
                  <a:srgbClr val="0F5A47"/>
                </a:solidFill>
                <a:latin typeface="Menlo"/>
              </a:rPr>
              <a:t>client = VerifyWiseClient(api_url=os.environ["VW_API_URL"], token=os.environ["VW_API_TOKEN"])</a:t>
            </a:r>
          </a:p>
          <a:p>
            <a:pPr>
              <a:spcAft>
                <a:spcPts val="0"/>
              </a:spcAft>
            </a:pPr>
            <a:endParaRPr sz="1300">
              <a:solidFill>
                <a:srgbClr val="0F5A47"/>
              </a:solidFill>
              <a:latin typeface="Menlo"/>
            </a:endParaRPr>
          </a:p>
          <a:p>
            <a:pPr>
              <a:spcAft>
                <a:spcPts val="0"/>
              </a:spcAft>
            </a:pPr>
            <a:r>
              <a:rPr sz="1300">
                <a:solidFill>
                  <a:srgbClr val="0F5A47"/>
                </a:solidFill>
                <a:latin typeface="Menlo"/>
              </a:rPr>
              <a:t>results = client.experiments.run_and_wait(</a:t>
            </a:r>
          </a:p>
          <a:p>
            <a:pPr>
              <a:spcAft>
                <a:spcPts val="0"/>
              </a:spcAft>
            </a:pPr>
            <a:r>
              <a:rPr sz="1300">
                <a:solidFill>
                  <a:srgbClr val="0F5A47"/>
                </a:solidFill>
                <a:latin typeface="Menlo"/>
              </a:rPr>
              <a:t>    project_id=os.environ["VW_PROJECT_ID"],</a:t>
            </a:r>
          </a:p>
          <a:p>
            <a:pPr>
              <a:spcAft>
                <a:spcPts val="0"/>
              </a:spcAft>
            </a:pPr>
            <a:r>
              <a:rPr sz="1300">
                <a:solidFill>
                  <a:srgbClr val="0F5A47"/>
                </a:solidFill>
                <a:latin typeface="Menlo"/>
              </a:rPr>
              <a:t>    name=f"CI — {os.environ.get('GITHUB_SHA', 'local')[:8]}",</a:t>
            </a:r>
          </a:p>
          <a:p>
            <a:pPr>
              <a:spcAft>
                <a:spcPts val="0"/>
              </a:spcAft>
            </a:pPr>
            <a:r>
              <a:rPr sz="1300">
                <a:solidFill>
                  <a:srgbClr val="0F5A47"/>
                </a:solidFill>
                <a:latin typeface="Menlo"/>
              </a:rPr>
              <a:t>    model_name="gpt-4o-mini",</a:t>
            </a:r>
          </a:p>
          <a:p>
            <a:pPr>
              <a:spcAft>
                <a:spcPts val="0"/>
              </a:spcAft>
            </a:pPr>
            <a:r>
              <a:rPr sz="1300">
                <a:solidFill>
                  <a:srgbClr val="0F5A47"/>
                </a:solidFill>
                <a:latin typeface="Menlo"/>
              </a:rPr>
              <a:t>    model_provider="openai",</a:t>
            </a:r>
          </a:p>
          <a:p>
            <a:pPr>
              <a:spcAft>
                <a:spcPts val="0"/>
              </a:spcAft>
            </a:pPr>
            <a:r>
              <a:rPr sz="1300">
                <a:solidFill>
                  <a:srgbClr val="0F5A47"/>
                </a:solidFill>
                <a:latin typeface="Menlo"/>
              </a:rPr>
              <a:t>    dataset_id=os.environ["VW_DATASET_ID"],</a:t>
            </a:r>
          </a:p>
          <a:p>
            <a:pPr>
              <a:spcAft>
                <a:spcPts val="0"/>
              </a:spcAft>
            </a:pPr>
            <a:r>
              <a:rPr sz="1300">
                <a:solidFill>
                  <a:srgbClr val="0F5A47"/>
                </a:solidFill>
                <a:latin typeface="Menlo"/>
              </a:rPr>
              <a:t>    metrics=["correctness", "completeness", "hallucination"],</a:t>
            </a:r>
          </a:p>
          <a:p>
            <a:pPr>
              <a:spcAft>
                <a:spcPts val="0"/>
              </a:spcAft>
            </a:pPr>
            <a:r>
              <a:rPr sz="1300">
                <a:solidFill>
                  <a:srgbClr val="0F5A47"/>
                </a:solidFill>
                <a:latin typeface="Menlo"/>
              </a:rPr>
              <a:t>    threshold=0.7,</a:t>
            </a:r>
          </a:p>
          <a:p>
            <a:pPr>
              <a:spcAft>
                <a:spcPts val="0"/>
              </a:spcAft>
            </a:pPr>
            <a:r>
              <a:rPr sz="1300">
                <a:solidFill>
                  <a:srgbClr val="0F5A47"/>
                </a:solidFill>
                <a:latin typeface="Menlo"/>
              </a:rPr>
              <a:t>)</a:t>
            </a:r>
          </a:p>
          <a:p>
            <a:pPr>
              <a:spcAft>
                <a:spcPts val="0"/>
              </a:spcAft>
            </a:pPr>
            <a:endParaRPr sz="1300">
              <a:solidFill>
                <a:srgbClr val="0F5A47"/>
              </a:solidFill>
              <a:latin typeface="Menlo"/>
            </a:endParaRPr>
          </a:p>
          <a:p>
            <a:pPr>
              <a:spcAft>
                <a:spcPts val="0"/>
              </a:spcAft>
            </a:pPr>
            <a:r>
              <a:rPr sz="1300">
                <a:solidFill>
                  <a:srgbClr val="0F5A47"/>
                </a:solidFill>
                <a:latin typeface="Menlo"/>
              </a:rPr>
              <a:t>if not results.passed:</a:t>
            </a:r>
          </a:p>
          <a:p>
            <a:pPr>
              <a:spcAft>
                <a:spcPts val="0"/>
              </a:spcAft>
            </a:pPr>
            <a:r>
              <a:rPr sz="1300">
                <a:solidFill>
                  <a:srgbClr val="0F5A47"/>
                </a:solidFill>
                <a:latin typeface="Menlo"/>
              </a:rPr>
              <a:t>    sys.exit(1)   # Block the deployment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11406666" y="0"/>
            <a:ext cx="693589" cy="128016"/>
          </a:xfrm>
          <a:noFill/>
        </p:spPr>
      </p:pic>
      <p:sp>
        <p:nvSpPr>
          <p:cNvPr id="4" name="TextBox 3"/>
          <p:cNvSpPr txBox="1"/>
          <p:nvPr/>
        </p:nvSpPr>
        <p:spPr>
          <a:xfrm>
            <a:off x="548640" y="228600"/>
            <a:ext cx="10637215" cy="640080"/>
          </a:xfrm>
          <a:prstGeom prst="rect">
            <a:avLst/>
          </a:prstGeom>
          <a:noFill/>
        </p:spPr>
        <p:txBody>
          <a:bodyPr wrap="square" lIns="45720" tIns="18288" rIns="45720" bIns="18288" anchor="t">
            <a:spAutoFit/>
          </a:bodyPr>
          <a:lstStyle/>
          <a:p>
            <a:pPr algn="l"/>
            <a:r>
              <a:rPr sz="3000" b="1">
                <a:solidFill>
                  <a:srgbClr val="13715B"/>
                </a:solidFill>
                <a:latin typeface="Inter"/>
              </a:rPr>
              <a:t>Key takeaways</a:t>
            </a:r>
          </a:p>
        </p:txBody>
      </p:sp>
      <p:sp>
        <p:nvSpPr>
          <p:cNvPr id="5" name="Rectangle 4"/>
          <p:cNvSpPr/>
          <p:nvPr/>
        </p:nvSpPr>
        <p:spPr>
          <a:xfrm>
            <a:off x="548640" y="868680"/>
            <a:ext cx="1097280" cy="36576"/>
          </a:xfrm>
          <a:prstGeom prst="rect">
            <a:avLst/>
          </a:prstGeom>
          <a:solidFill>
            <a:srgbClr val="137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548640" y="1005840"/>
          <a:ext cx="11094415" cy="2348178"/>
        </p:xfrm>
        <a:graphic>
          <a:graphicData uri="http://schemas.openxmlformats.org/drawingml/2006/table">
            <a:tbl>
              <a:tblPr firstRow="1" bandRow="1">
                <a:tableStyleId>{5C22544A-7EE6-4342-B048-85BDC9FD1C3A}</a:tableStyleId>
              </a:tblPr>
              <a:tblGrid>
                <a:gridCol w="3550212">
                  <a:extLst>
                    <a:ext uri="{9D8B030D-6E8A-4147-A177-3AD203B41FA5}">
                      <a16:colId xmlns:a16="http://schemas.microsoft.com/office/drawing/2014/main" val="20000"/>
                    </a:ext>
                  </a:extLst>
                </a:gridCol>
                <a:gridCol w="7544203">
                  <a:extLst>
                    <a:ext uri="{9D8B030D-6E8A-4147-A177-3AD203B41FA5}">
                      <a16:colId xmlns:a16="http://schemas.microsoft.com/office/drawing/2014/main" val="20001"/>
                    </a:ext>
                  </a:extLst>
                </a:gridCol>
              </a:tblGrid>
              <a:tr h="391363">
                <a:tc>
                  <a:txBody>
                    <a:bodyPr/>
                    <a:lstStyle/>
                    <a:p>
                      <a:r>
                        <a:rPr sz="1600" b="1">
                          <a:solidFill>
                            <a:srgbClr val="FFFFFF"/>
                          </a:solidFill>
                          <a:latin typeface="Inter"/>
                        </a:rPr>
                        <a:t>Concept</a:t>
                      </a:r>
                    </a:p>
                  </a:txBody>
                  <a:tcPr marT="54864" marB="54864" anchor="ctr">
                    <a:solidFill>
                      <a:srgbClr val="13715B"/>
                    </a:solidFill>
                  </a:tcPr>
                </a:tc>
                <a:tc>
                  <a:txBody>
                    <a:bodyPr/>
                    <a:lstStyle/>
                    <a:p>
                      <a:r>
                        <a:rPr sz="1600" b="1">
                          <a:solidFill>
                            <a:srgbClr val="FFFFFF"/>
                          </a:solidFill>
                          <a:latin typeface="Inter"/>
                        </a:rPr>
                        <a:t>One-line summary</a:t>
                      </a:r>
                    </a:p>
                  </a:txBody>
                  <a:tcPr marT="54864" marB="54864" anchor="ctr">
                    <a:solidFill>
                      <a:srgbClr val="13715B"/>
                    </a:solidFill>
                  </a:tcPr>
                </a:tc>
                <a:extLst>
                  <a:ext uri="{0D108BD9-81ED-4DB2-BD59-A6C34878D82A}">
                    <a16:rowId xmlns:a16="http://schemas.microsoft.com/office/drawing/2014/main" val="10000"/>
                  </a:ext>
                </a:extLst>
              </a:tr>
              <a:tr h="391363">
                <a:tc>
                  <a:txBody>
                    <a:bodyPr/>
                    <a:lstStyle/>
                    <a:p>
                      <a:r>
                        <a:rPr sz="1600">
                          <a:solidFill>
                            <a:srgbClr val="1C2130"/>
                          </a:solidFill>
                          <a:latin typeface="Inter"/>
                        </a:rPr>
                        <a:t>Why evals</a:t>
                      </a:r>
                    </a:p>
                  </a:txBody>
                  <a:tcPr marT="54864" marB="54864" anchor="ctr">
                    <a:solidFill>
                      <a:srgbClr val="FFFFFF"/>
                    </a:solidFill>
                  </a:tcPr>
                </a:tc>
                <a:tc>
                  <a:txBody>
                    <a:bodyPr/>
                    <a:lstStyle/>
                    <a:p>
                      <a:r>
                        <a:rPr sz="1600">
                          <a:solidFill>
                            <a:srgbClr val="1C2130"/>
                          </a:solidFill>
                          <a:latin typeface="Inter"/>
                        </a:rPr>
                        <a:t>Without measurement, AI governance is documentation theatre</a:t>
                      </a:r>
                    </a:p>
                  </a:txBody>
                  <a:tcPr marT="54864" marB="54864" anchor="ctr">
                    <a:solidFill>
                      <a:srgbClr val="FFFFFF"/>
                    </a:solidFill>
                  </a:tcPr>
                </a:tc>
                <a:extLst>
                  <a:ext uri="{0D108BD9-81ED-4DB2-BD59-A6C34878D82A}">
                    <a16:rowId xmlns:a16="http://schemas.microsoft.com/office/drawing/2014/main" val="10001"/>
                  </a:ext>
                </a:extLst>
              </a:tr>
              <a:tr h="391363">
                <a:tc>
                  <a:txBody>
                    <a:bodyPr/>
                    <a:lstStyle/>
                    <a:p>
                      <a:r>
                        <a:rPr sz="1600">
                          <a:solidFill>
                            <a:srgbClr val="1C2130"/>
                          </a:solidFill>
                          <a:latin typeface="Inter"/>
                        </a:rPr>
                        <a:t>Taxonomy</a:t>
                      </a:r>
                    </a:p>
                  </a:txBody>
                  <a:tcPr marT="54864" marB="54864" anchor="ctr">
                    <a:solidFill>
                      <a:srgbClr val="FFFFFF"/>
                    </a:solidFill>
                  </a:tcPr>
                </a:tc>
                <a:tc>
                  <a:txBody>
                    <a:bodyPr/>
                    <a:lstStyle/>
                    <a:p>
                      <a:r>
                        <a:rPr sz="1600">
                          <a:solidFill>
                            <a:srgbClr val="1C2130"/>
                          </a:solidFill>
                          <a:latin typeface="Inter"/>
                        </a:rPr>
                        <a:t>Automate 90%, human-review 10%; unit + E2E; benchmarks + slices</a:t>
                      </a:r>
                    </a:p>
                  </a:txBody>
                  <a:tcPr marT="54864" marB="54864" anchor="ctr">
                    <a:solidFill>
                      <a:srgbClr val="FFFFFF"/>
                    </a:solidFill>
                  </a:tcPr>
                </a:tc>
                <a:extLst>
                  <a:ext uri="{0D108BD9-81ED-4DB2-BD59-A6C34878D82A}">
                    <a16:rowId xmlns:a16="http://schemas.microsoft.com/office/drawing/2014/main" val="10002"/>
                  </a:ext>
                </a:extLst>
              </a:tr>
              <a:tr h="391363">
                <a:tc>
                  <a:txBody>
                    <a:bodyPr/>
                    <a:lstStyle/>
                    <a:p>
                      <a:r>
                        <a:rPr sz="1600">
                          <a:solidFill>
                            <a:srgbClr val="1C2130"/>
                          </a:solidFill>
                          <a:latin typeface="Inter"/>
                        </a:rPr>
                        <a:t>Metrics</a:t>
                      </a:r>
                    </a:p>
                  </a:txBody>
                  <a:tcPr marT="54864" marB="54864" anchor="ctr">
                    <a:solidFill>
                      <a:srgbClr val="FFFFFF"/>
                    </a:solidFill>
                  </a:tcPr>
                </a:tc>
                <a:tc>
                  <a:txBody>
                    <a:bodyPr/>
                    <a:lstStyle/>
                    <a:p>
                      <a:r>
                        <a:rPr sz="1600">
                          <a:solidFill>
                            <a:srgbClr val="1C2130"/>
                          </a:solidFill>
                          <a:latin typeface="Inter"/>
                        </a:rPr>
                        <a:t>Start with correctness, completeness, hallucination, answerRelevancy</a:t>
                      </a:r>
                    </a:p>
                  </a:txBody>
                  <a:tcPr marT="54864" marB="54864" anchor="ctr">
                    <a:solidFill>
                      <a:srgbClr val="FFFFFF"/>
                    </a:solidFill>
                  </a:tcPr>
                </a:tc>
                <a:extLst>
                  <a:ext uri="{0D108BD9-81ED-4DB2-BD59-A6C34878D82A}">
                    <a16:rowId xmlns:a16="http://schemas.microsoft.com/office/drawing/2014/main" val="10003"/>
                  </a:ext>
                </a:extLst>
              </a:tr>
              <a:tr h="391363">
                <a:tc>
                  <a:txBody>
                    <a:bodyPr/>
                    <a:lstStyle/>
                    <a:p>
                      <a:r>
                        <a:rPr sz="1600">
                          <a:solidFill>
                            <a:srgbClr val="1C2130"/>
                          </a:solidFill>
                          <a:latin typeface="Inter"/>
                        </a:rPr>
                        <a:t>VerifyWise</a:t>
                      </a:r>
                    </a:p>
                  </a:txBody>
                  <a:tcPr marT="54864" marB="54864" anchor="ctr">
                    <a:solidFill>
                      <a:srgbClr val="FFFFFF"/>
                    </a:solidFill>
                  </a:tcPr>
                </a:tc>
                <a:tc>
                  <a:txBody>
                    <a:bodyPr/>
                    <a:lstStyle/>
                    <a:p>
                      <a:r>
                        <a:rPr sz="1600">
                          <a:solidFill>
                            <a:srgbClr val="1C2130"/>
                          </a:solidFill>
                          <a:latin typeface="Inter"/>
                        </a:rPr>
                        <a:t>EvalServer runs experiments, Arena picks models, SDK gates CI</a:t>
                      </a:r>
                    </a:p>
                  </a:txBody>
                  <a:tcPr marT="54864" marB="54864" anchor="ctr">
                    <a:solidFill>
                      <a:srgbClr val="FFFFFF"/>
                    </a:solidFill>
                  </a:tcPr>
                </a:tc>
                <a:extLst>
                  <a:ext uri="{0D108BD9-81ED-4DB2-BD59-A6C34878D82A}">
                    <a16:rowId xmlns:a16="http://schemas.microsoft.com/office/drawing/2014/main" val="10004"/>
                  </a:ext>
                </a:extLst>
              </a:tr>
              <a:tr h="391363">
                <a:tc>
                  <a:txBody>
                    <a:bodyPr/>
                    <a:lstStyle/>
                    <a:p>
                      <a:r>
                        <a:rPr sz="1600">
                          <a:solidFill>
                            <a:srgbClr val="1C2130"/>
                          </a:solidFill>
                          <a:latin typeface="Inter"/>
                        </a:rPr>
                        <a:t>Compliance</a:t>
                      </a:r>
                    </a:p>
                  </a:txBody>
                  <a:tcPr marT="54864" marB="54864" anchor="ctr">
                    <a:solidFill>
                      <a:srgbClr val="FFFFFF"/>
                    </a:solidFill>
                  </a:tcPr>
                </a:tc>
                <a:tc>
                  <a:txBody>
                    <a:bodyPr/>
                    <a:lstStyle/>
                    <a:p>
                      <a:r>
                        <a:rPr sz="1600">
                          <a:solidFill>
                            <a:srgbClr val="1C2130"/>
                          </a:solidFill>
                          <a:latin typeface="Inter"/>
                        </a:rPr>
                        <a:t>Every experiment result is stored, org-isolated, and audit-ready</a:t>
                      </a:r>
                    </a:p>
                  </a:txBody>
                  <a:tcPr marT="54864" marB="54864" anchor="ctr">
                    <a:solidFill>
                      <a:srgbClr val="FFFFFF"/>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548640" y="3445458"/>
            <a:ext cx="11094415" cy="585216"/>
          </a:xfrm>
          <a:prstGeom prst="roundRect">
            <a:avLst>
              <a:gd name="adj" fmla="val 6000"/>
            </a:avLst>
          </a:prstGeom>
          <a:solidFill>
            <a:srgbClr val="EAF4F0"/>
          </a:solidFill>
          <a:ln w="15875">
            <a:solidFill>
              <a:srgbClr val="1371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3555186"/>
            <a:ext cx="10637215" cy="365760"/>
          </a:xfrm>
          <a:prstGeom prst="rect">
            <a:avLst/>
          </a:prstGeom>
          <a:noFill/>
        </p:spPr>
        <p:txBody>
          <a:bodyPr wrap="square" lIns="45720" tIns="18288" rIns="45720" bIns="18288" anchor="t">
            <a:spAutoFit/>
          </a:bodyPr>
          <a:lstStyle/>
          <a:p>
            <a:pPr algn="l"/>
            <a:r>
              <a:rPr sz="1600">
                <a:solidFill>
                  <a:srgbClr val="1C2130"/>
                </a:solidFill>
                <a:latin typeface="Inter"/>
              </a:rPr>
              <a:t>Define → Measure → Improve. Repeat on every model or prompt change.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0F5A47"/>
            </a:gs>
            <a:gs pos="100000">
              <a:srgbClr val="13715B"/>
            </a:gs>
          </a:gsLst>
          <a:lin ang="2700000" scaled="1"/>
        </a:gra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A4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verifywise-logo-full.png"/>
          <p:cNvPicPr>
            <a:picLocks noChangeAspect="1"/>
          </p:cNvPicPr>
          <p:nvPr/>
        </p:nvPicPr>
        <p:blipFill>
          <a:blip r:embed="rId3"/>
          <a:stretch>
            <a:fillRect/>
          </a:stretch>
        </p:blipFill>
        <p:spPr>
          <a:xfrm>
            <a:off x="4495647" y="822960"/>
            <a:ext cx="3200400" cy="602742"/>
          </a:xfrm>
          <a:noFill/>
        </p:spPr>
      </p:pic>
      <p:sp>
        <p:nvSpPr>
          <p:cNvPr id="4" name="TextBox 3"/>
          <p:cNvSpPr txBox="1"/>
          <p:nvPr/>
        </p:nvSpPr>
        <p:spPr>
          <a:xfrm>
            <a:off x="548640" y="1745742"/>
            <a:ext cx="11094415" cy="1097280"/>
          </a:xfrm>
          <a:prstGeom prst="rect">
            <a:avLst/>
          </a:prstGeom>
          <a:noFill/>
        </p:spPr>
        <p:txBody>
          <a:bodyPr wrap="square" lIns="45720" tIns="18288" rIns="45720" bIns="18288" anchor="t">
            <a:spAutoFit/>
          </a:bodyPr>
          <a:lstStyle/>
          <a:p>
            <a:pPr algn="ctr"/>
            <a:r>
              <a:rPr sz="6000" b="1">
                <a:solidFill>
                  <a:srgbClr val="FFFFFF"/>
                </a:solidFill>
                <a:latin typeface="Inter"/>
              </a:rPr>
              <a:t>Thank you</a:t>
            </a:r>
          </a:p>
        </p:txBody>
      </p:sp>
      <p:sp>
        <p:nvSpPr>
          <p:cNvPr id="5" name="TextBox 4"/>
          <p:cNvSpPr txBox="1"/>
          <p:nvPr/>
        </p:nvSpPr>
        <p:spPr>
          <a:xfrm>
            <a:off x="548640" y="2888742"/>
            <a:ext cx="11094415" cy="640080"/>
          </a:xfrm>
          <a:prstGeom prst="rect">
            <a:avLst/>
          </a:prstGeom>
          <a:noFill/>
        </p:spPr>
        <p:txBody>
          <a:bodyPr wrap="square" lIns="45720" tIns="18288" rIns="45720" bIns="18288" anchor="t">
            <a:spAutoFit/>
          </a:bodyPr>
          <a:lstStyle/>
          <a:p>
            <a:pPr algn="ctr"/>
            <a:endParaRPr/>
          </a:p>
        </p:txBody>
      </p:sp>
      <p:sp>
        <p:nvSpPr>
          <p:cNvPr id="6" name="Rectangle 5"/>
          <p:cNvSpPr/>
          <p:nvPr/>
        </p:nvSpPr>
        <p:spPr>
          <a:xfrm>
            <a:off x="3657600" y="3711702"/>
            <a:ext cx="4876495" cy="228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3912870"/>
            <a:ext cx="11094415" cy="347472"/>
          </a:xfrm>
          <a:prstGeom prst="rect">
            <a:avLst/>
          </a:prstGeom>
          <a:noFill/>
        </p:spPr>
        <p:txBody>
          <a:bodyPr wrap="square" lIns="45720" tIns="18288" rIns="45720" bIns="18288" anchor="t">
            <a:spAutoFit/>
          </a:bodyPr>
          <a:lstStyle/>
          <a:p>
            <a:pPr algn="ctr"/>
            <a:r>
              <a:rPr sz="1700">
                <a:solidFill>
                  <a:srgbClr val="D1F0E8"/>
                </a:solidFill>
                <a:latin typeface="Inter"/>
              </a:rPr>
              <a:t>Questions?</a:t>
            </a:r>
          </a:p>
        </p:txBody>
      </p:sp>
      <p:sp>
        <p:nvSpPr>
          <p:cNvPr id="8" name="TextBox 7"/>
          <p:cNvSpPr txBox="1"/>
          <p:nvPr/>
        </p:nvSpPr>
        <p:spPr>
          <a:xfrm>
            <a:off x="548640" y="4296918"/>
            <a:ext cx="11094415" cy="347472"/>
          </a:xfrm>
          <a:prstGeom prst="rect">
            <a:avLst/>
          </a:prstGeom>
          <a:noFill/>
        </p:spPr>
        <p:txBody>
          <a:bodyPr wrap="square" lIns="45720" tIns="18288" rIns="45720" bIns="18288" anchor="t">
            <a:spAutoFit/>
          </a:bodyPr>
          <a:lstStyle/>
          <a:p>
            <a:pPr algn="ctr"/>
            <a:r>
              <a:rPr sz="1700">
                <a:solidFill>
                  <a:srgbClr val="D1F0E8"/>
                </a:solidFill>
                <a:latin typeface="Inter"/>
              </a:rPr>
              <a:t>app.verifywise.ai</a:t>
            </a:r>
          </a:p>
        </p:txBody>
      </p:sp>
      <p:sp>
        <p:nvSpPr>
          <p:cNvPr id="9" name="TextBox 8"/>
          <p:cNvSpPr txBox="1"/>
          <p:nvPr/>
        </p:nvSpPr>
        <p:spPr>
          <a:xfrm>
            <a:off x="548640" y="4680966"/>
            <a:ext cx="11094415" cy="347472"/>
          </a:xfrm>
          <a:prstGeom prst="rect">
            <a:avLst/>
          </a:prstGeom>
          <a:noFill/>
        </p:spPr>
        <p:txBody>
          <a:bodyPr wrap="square" lIns="45720" tIns="18288" rIns="45720" bIns="18288" anchor="t">
            <a:spAutoFit/>
          </a:bodyPr>
          <a:lstStyle/>
          <a:p>
            <a:pPr algn="ctr"/>
            <a:r>
              <a:rPr sz="1700">
                <a:solidFill>
                  <a:srgbClr val="D1F0E8"/>
                </a:solidFill>
                <a:latin typeface="Inter"/>
              </a:rPr>
              <a:t>verifywise.ai/user-docs</a:t>
            </a:r>
          </a:p>
        </p:txBody>
      </p:sp>
      <p:sp>
        <p:nvSpPr>
          <p:cNvPr id="10" name="TextBox 9"/>
          <p:cNvSpPr txBox="1"/>
          <p:nvPr/>
        </p:nvSpPr>
        <p:spPr>
          <a:xfrm>
            <a:off x="548640" y="5065014"/>
            <a:ext cx="11094415" cy="347472"/>
          </a:xfrm>
          <a:prstGeom prst="rect">
            <a:avLst/>
          </a:prstGeom>
          <a:noFill/>
        </p:spPr>
        <p:txBody>
          <a:bodyPr wrap="square" lIns="45720" tIns="18288" rIns="45720" bIns="18288" anchor="t">
            <a:spAutoFit/>
          </a:bodyPr>
          <a:lstStyle/>
          <a:p>
            <a:pPr algn="ctr"/>
            <a:r>
              <a:rPr sz="1700">
                <a:solidFill>
                  <a:srgbClr val="D1F0E8"/>
                </a:solidFill>
                <a:latin typeface="Inter"/>
              </a:rPr>
              <a:t>Efe Acar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145</TotalTime>
  <Words>3962</Words>
  <Application>Microsoft Macintosh PowerPoint</Application>
  <PresentationFormat>Widescreen</PresentationFormat>
  <Paragraphs>299</Paragraphs>
  <Slides>27</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Inter</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Efe Acar</cp:lastModifiedBy>
  <cp:revision>4</cp:revision>
  <dcterms:created xsi:type="dcterms:W3CDTF">2013-01-27T09:14:16Z</dcterms:created>
  <dcterms:modified xsi:type="dcterms:W3CDTF">2026-04-30T23:37:34Z</dcterms:modified>
  <cp:category/>
</cp:coreProperties>
</file>